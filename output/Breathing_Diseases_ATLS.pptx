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65" r:id="rId16"/>
    <p:sldId id="271" r:id="rId15"/>
    <p:sldId id="266" r:id="rId17"/>
    <p:sldId id="267" r:id="rId21"/>
    <p:sldId id="268" r:id="rId18"/>
    <p:sldId id="269" r:id="rId19"/>
    <p:sldId id="270" r:id="rId20"/>
    <p:sldId id="272" r:id="rId22"/>
  </p:sldIdLst>
  <p:sldSz cx="18288000" cy="10287000"/>
  <p:notesSz cx="6858000" cy="9144000"/>
  <p:embeddedFontLst>
    <p:embeddedFont>
      <p:font typeface="Droid Serif" charset="1" panose="02020600060500020200"/>
      <p:regular r:id="rId28"/>
    </p:embeddedFont>
    <p:embeddedFont>
      <p:font typeface="Droid Serif Bold" charset="1" panose="02020800060500020200"/>
      <p:regular r:id="rId29"/>
    </p:embeddedFont>
    <p:embeddedFont>
      <p:font typeface="DM Sans Bold" charset="1" panose="00000000000000000000"/>
      <p:regular r:id="rId30"/>
    </p:embeddedFont>
    <p:embeddedFont>
      <p:font typeface="DM Sans Italics" charset="1" panose="00000000000000000000"/>
      <p:regular r:id="rId32"/>
    </p:embeddedFont>
    <p:embeddedFont>
      <p:font typeface="DM Sans" charset="1" panose="00000000000000000000"/>
      <p:regular r:id="rId33"/>
    </p:embeddedFont>
    <p:embeddedFont>
      <p:font typeface="Lato" charset="1" panose="020F0502020204030203"/>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5" Type="http://schemas.openxmlformats.org/officeDocument/2006/relationships/slide" Target="slides/slide2.xml"/><Relationship Id="rId16" Type="http://schemas.openxmlformats.org/officeDocument/2006/relationships/slide" Target="slides/slide1.xml"/><Relationship Id="rId17" Type="http://schemas.openxmlformats.org/officeDocument/2006/relationships/slide" Target="slides/slide3.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4.xml"/><Relationship Id="rId22" Type="http://schemas.openxmlformats.org/officeDocument/2006/relationships/slide" Target="slides/slide8.xml"/><Relationship Id="rId25" Type="http://schemas.openxmlformats.org/officeDocument/2006/relationships/notesMaster" Target="notesMasters/notesMaster1.xml"/><Relationship Id="rId26" Type="http://schemas.openxmlformats.org/officeDocument/2006/relationships/theme" Target="theme/theme2.xml"/><Relationship Id="rId27" Type="http://schemas.openxmlformats.org/officeDocument/2006/relationships/notesSlide" Target="notesSlides/notesSlide1.xml"/><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notesSlide" Target="notesSlides/notesSlide2.xml"/><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notesSlide" Target="notesSlides/notesSlide3.xml"/><Relationship Id="rId35" Type="http://schemas.openxmlformats.org/officeDocument/2006/relationships/notesSlide" Target="notesSlides/notesSlide4.xml"/><Relationship Id="rId36" Type="http://schemas.openxmlformats.org/officeDocument/2006/relationships/notesSlide" Target="notesSlides/notesSlide5.xml"/><Relationship Id="rId37" Type="http://schemas.openxmlformats.org/officeDocument/2006/relationships/notesSlide" Target="notesSlides/notesSlide6.xml"/><Relationship Id="rId38" Type="http://schemas.openxmlformats.org/officeDocument/2006/relationships/notesSlide" Target="notesSlides/notesSlide7.xml"/><Relationship Id="rId39" Type="http://schemas.openxmlformats.org/officeDocument/2006/relationships/notesSlide" Target="notesSlides/notesSlide8.xml"/><Relationship Id="rId40" Type="http://schemas.openxmlformats.org/officeDocument/2006/relationships/notesSlide" Target="notesSlides/notesSlide9.xml"/><Relationship Id="rId41" Type="http://schemas.openxmlformats.org/officeDocument/2006/relationships/notesSlide" Target="notesSlides/notesSlide10.xml"/><Relationship Id="rId42" Type="http://schemas.openxmlformats.org/officeDocument/2006/relationships/font" Target="fonts/font42.fntdata"/><Relationship Id="rId43" Type="http://schemas.openxmlformats.org/officeDocument/2006/relationships/notesSlide" Target="notesSlides/notesSlide11.xml"/><Relationship Id="rId44" Type="http://schemas.openxmlformats.org/officeDocument/2006/relationships/notesSlide" Target="notesSlides/notesSlide12.xml"/><Relationship Id="rId45" Type="http://schemas.openxmlformats.org/officeDocument/2006/relationships/notesSlide" Target="notesSlides/notesSlide13.xml"/><Relationship Id="rId46" Type="http://schemas.openxmlformats.org/officeDocument/2006/relationships/notesSlide" Target="notesSlides/notesSlide14.xml"/><Relationship Id="rId47" Type="http://schemas.openxmlformats.org/officeDocument/2006/relationships/notesSlide" Target="notesSlides/notesSlide15.xml"/><Relationship Id="rId48" Type="http://schemas.openxmlformats.org/officeDocument/2006/relationships/notesSlide" Target="notesSlides/notesSlide16.xml"/><Relationship Id="rId49" Type="http://schemas.openxmlformats.org/officeDocument/2006/relationships/notesSlide" Target="notesSlides/notesSlide17.xml"/><Relationship Id="rId50" Type="http://schemas.openxmlformats.org/officeDocument/2006/relationships/notesSlide" Target="notesSlides/not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เปิดหัวข้อ B ต่อจากเพื่อนที่พูด x และ A พูด: "ต่อจาก x กับ A ที่เพื่อนเล่าไป พอเราเปิด airway ได้แล้ว คำถามต่อไปคือผู้ป่วยหายใจได้พอไหม เพราะ airway โล่งไม่ได้แปลว่า ventilation ดี การหายใจต้องอาศัยปอด ผนังอก และกะบังลมทำงานครบ" "หัวข้อของเราคือ B — Breathing and Ventilation Assessment and Management ตาม ATLS 11th edition บทที่ 5" "จะเล่าเป็น 3 ส่วน - ส่วนแรก anatomy ที่ต้องรู้ และ life threat ที่ต้องหาใน B - ส่วนที่สอง วิธีตรวจและ adjunct ที่ใช้ - ส่วนที่สาม แต่ละโรคแบบหน้าเดียวจบ คือมันคืออะไร วินิจฉัยยังไง และรักษาอะไร ใช้ยาหรืออุปกรณ์อะไร" ส่งต่อ: "เริ่มจาก anatomy ที่ใช้จริงตอนทำหัตถการก่อน"</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รู้ landmark 3 จุด แล้วจะเจาะถูกที่และนึกถึงอวัยวะที่บาดเจ็บได้ถูก พูด (ชี้รูปทั้ง 3 มุม Fig 5-1 ด้านหน้า ด้านหลัง ด้านข้าง): "รูปนี้คือ landmark ของทรวงอกจาก 3 มุม จะเห็นว่าขอบล่างของซี่โครงไม่ได้เป็นขอบของช่องอกจริง เพราะตับ ม้าม และไต อยู่ใต้ซี่โครงด้วย" (ชี้ NV bundle) "จุดแรก neurovascular bundle วิ่งอยู่ใต้ขอบล่างของซี่โครงแต่ละซี่ เรียงจากบนลงล่างเป็น vein artery nerve เพราะฉะนั้นเวลาแทงเข็มหรือใส่สาย ให้แทงชิดขอบบนของซี่โครงซี่ล่างเสมอ" (ชี้ IMF) "จุดที่สอง IMF หรือ inframammary fold ตรงกับ ICS 4 ถึง 5 ใช้ได้ดีกว่า nipple line โดยเฉพาะในคนที่มีเต้านม ระดับนี้เป็นจุดที่ปลอดภัยสำหรับ needle หรือ chest tube เพราะต่ำกว่านี้เสี่ยงเข้าช่องท้อง" (ชี้ Diaphragm) "จุดที่สาม กะบังลมขยับได้มาก ตอนหายใจออกลึกๆ ขึ้นไปได้ถึงระดับ nipple หรือ tip of scapula ดังนั้นแผลตั้งแต่ระดับ nipple ลงไปถึง costal margin โดยเฉพาะ left flank ต้องคิดถึง diaphragm และอวัยวะในช่องท้องด้วย" (ชี้รูปด้านข้าง) "flank คือบริเวณระหว่าง anterior กับ posterior axillary line" ส่งต่อ: "อีก landmark ที่สำคัญมากสำหรับแผลทะลุ คือ cardiac box"</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แผลทะลุใน cardiac box ต้องคิดถึงหัวใจ หลอดเลือดใหญ่ และขั้วปอดไว้ก่อน พูด (ชี้กรอบสี่เหลี่ยมในรูป Fig 5-3): "cardiac box คือกรอบสี่เหลี่ยมบนหน้าอก - ขอบบนคือ sternal notch - ขอบล่างคือ costal margin ทั้งสองข้าง - ขอบด้านข้างคือ nipple line ทั้งสองข้างถ้ามองด้านหน้า หรือ tip of scapula ถ้ามองด้านหลัง" (ชี้กล่องน้ำเงิน) "ถ้ามีแผลทะลุอยู่ในกรอบนี้ ให้นึกถึงการบาดเจ็บของหัวใจ หลอดเลือดใหญ่ และโครงสร้างที่ขั้วปอดไว้ก่อน ซึ่งเชื่อมกับเรื่อง cardiac tamponade และ massive hemothorax ที่จะพูดต่อ" ส่งต่อ: "รู้ anatomy แล้ว มาดูว่าใน B เราต้องหาอะไรบ้าง"</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checklist สิ่งที่ต้องตรวจใน B และถ้าผิดปกติให้คิดถึงอะไร พูด (ชี้แถบน้ำเงินมุมขวาบน): "ก่อนเริ่ม เปิดอกและคอให้เห็นทั้งหมด ถ้าใส่ C-collar ให้เปิดด้านหน้า โดยมีคนจับ manual in-line stabilization ไว้" (ชี้การ์ด 1 LOOK) </a:t>
            </a:r>
          </a:p>
          <a:p>
            <a:r>
              <a:rPr lang="en-US"/>
              <a:t>"Look - RR เพิ่ม → hypoxemia หรือปวด เป็นสัญญาณเตือนแรก - หายใจตื้นลงเรื่อยๆ → เริ่มหมดแรง ใกล้ respiratory failure - retraction, nasal flaring → respiratory distress - พูดได้ทีละประโยคสั้นๆ → distress หรือปวดจากผนังอกบาดเจ็บ - เล็บหรือริมฝีปากเขียว → hypoxemia ซึ่งเป็น late sign - กระสับกระส่าย สับสน ซึม → O2 ต่ำหรือ CO2 สูงไว้ก่อน จนกว่าจะพิสูจน์ได้ว่าไม่ใช่ - neck vein โป่ง → tension pneumothorax หรือ cardiac tamponade - neck vein แฟบในคน shock → เสียเลือด เช่น massive hemothorax - trachea เบนออกจากข้างที่บาดเจ็บ → tension (late sign) - แผลมีลมดูดเข้าออก → open pneumothorax - แผลใน cardiac box → หัวใจ หลอดเลือดใหญ่ ขั้วปอด - แผลช่วง nipple ถึง costal margin ซ้าย → diaphragm injury - รอยช้ำ, seat-belt sign → ซี่โครงหัก, pulmonary contusion - อกข้างหนึ่งขยับน้อย → hemothorax หรือ pneumothorax ข้างนั้น - มีส่วนที่ยุบเข้าตอนหายใจเข้า → flail chest" (ชี้การ์ด 2 LISTEN) "Listen ฟังด้านหน้า ICS 2–3 และด้านข้าง ICS 5–6 เทียบซ้ายขวาเสมอ - เสียงลดหรือหาย → hemothorax, pneumothorax, contusion ขนาดใหญ่, diaphragm herniation - เสียงลด + shock + neck vein โป่ง → tension pneumothorax - เสียงลด + shock + neck vein แฟบ → massive hemothorax - rales → pulmonary contusion - เสียงลำไส้ในอก → diaphragm injury - ได้ยินลมผ่านแผล → open pneumothorax - ใส่ท่อแล้วเสียงลดข้างเดียว → ท่อลงหลอดลมข้างเดียว โดยเฉพาะในเด็ก - ใส่ chest tube แล้วลมรั่วต่อเนื่อง → tracheobronchial injury" (ชี้การ์ด 3 FEEL) "Feel - crepitus ที่คอ → ลมใต้ผิวหนัง จาก pneumothorax หรือ tracheobronchial injury - กดเจ็บ → rib, sternal หรือ clavicle fracture - กระดูกกรอบแกรบ → ซี่โครงหัก - ลมใต้ผิวหนังน้อยเฉพาะที่ → pneumothorax - ลมใต้ผิวหนังมากและลามขึ้นคอ → tracheobronchial injury - ผนังอกส่วนที่ไม่มั่นคง → flail chest - คลำให้ครบทั้งด้านหน้า ด้านข้าง และด้านหลัง เพราะแผลด้านหลังพลาดได้ง่าย" ส่งต่อ: "ต่อไปลงรายละเอียดทีละส่วน"</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ใช้ breath sound, trachea, neck vein และ BP แยก chest injury ได้ที่ข้างเตียง พูด: "ตารางนี้มาจาก Table 5-1 ใช้แยกโรคจากการตรวจร่างกาย อยากให้จำ 2 แถวแรกที่ไฮไลต์ไว้" (ชี้แถวแรก) "tension pneumothorax หรือ tension hemothorax เสียงหายใจหายไป trachea เบนออกจากข้างที่บาดเจ็บ neck vein โป่ง ความดันตก นี่คือ clinical diagnosis ต้องทำทันที" (ชี้แถวที่สอง) "massive hemothorax เสียงหายใจลดและความดันตกเหมือนกัน แต่จุดต่างคือ neck vein แฟบ เพราะเสียเลือดจริงและอยู่ใน hemorrhagic shock" (ชี้แถวที่เหลือ) "แถวอื่นๆ - open pneumothorax เห็นแผลที่ผนังอก - simple pneumothorax กับ pulmonary contusion อาการแปรผันตามความรุนแรง และ contusion แย่ลงได้ใน 24–72 ชั่วโมง - flail chest ความรุนแรงของ hypoxia ขึ้นกับ contusion ข้างใต้ - diaphragm injury อาจมีลำไส้ขึ้นมาในอก - tracheobronchial injury ให้นึกถึงเมื่อใส่ chest tube แล้วยังมี air leak ตลอด" (ชี้หมายเหตุใต้ตาราง) "ข้อควรระวัง: neck vein อาจไม่โป่งถ้ามีเสียเลือดร่วม และ trachea อาจเบนได้ถ้ามี tension physiology" ส่งต่อ: "นอกจากตรวจร่างกาย เรามี adjunct ช่วย"</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ติดตาม oxygenation และ ventilation ด้วย SpO2, ETCO2 และ ABG พูด: "Adjunct ตัวแรกคือ pulse oximetry วัด SpO2 ต่อเนื่อง แต่ต้องรู้ข้อจำกัด - ค่าต่ำอาจมาจาก perfusion ที่ปลายนิ้วไม่ดี ไม่ได้แปลว่าปอดเสียเสมอ - ไม่ได้บอก PaO2 หรือ PaCO2 - ใน CO poisoning ค่าจะดูปกติทั้งที่ไม่ปกติ" "ตัวที่สอง ETCO2 วัดได้ทั้งแบบเปลี่ยนสี capnometry หรือ capnography บอก ventilation แต่ก็ขึ้นกับเลือดที่ไปปอดด้วย ถ้า ETCO2 ต่ำลงอาจเป็นสัญญาณของ shock" "ตัวที่สาม ABG แม่นที่สุดในการบอก hypoxemia และ hypercapnia และได้ข้อมูล acid–base ทั้ง pH และ base deficit ด้วย ใช้เทียบว่า ETCO2 สัมพันธ์กับ PaCO2 จริงไหม" ส่งต่อ: "ต่อไปเป็น imaging ตัวแรกที่ใช้บ่อยที่สุด"</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Portable AP CXR ดูอะไรบ้าง และ film ท่านอนหลอกเราได้ยังไง พูด: "CXR แบบ AP portable ทำได้ในห้อง resuscitation เลย สิ่งที่ต้องไล่ดู - ปอดขยายเต็มไหม มีน้ำหรือเลือดไหม - mediastinum กว้างหรือขอบ aorta หายไปไหม - ลมใต้ผิวหนังหรือลมใน mediastinum - trachea shift - ลมกระเพาะอยู่ในอกซ้ายไหม ซึ่งบอก diaphragm injury - ถ้าซี่โครงซี่ 1 หรือ 2 หัก หรือหักหลายซี่ แปลว่าแรงกระแทกสูงมาก ต้องหา injury อวัยวะข้างใต้" เน้น (ชี้กล่องขวา): "ข้อควรระวังของ film ท่านอน - hemothorax เลือดไปกองด้านหลัง จึงเห็นแค่ฝ้าๆ ทั้งข้าง ไม่ได้เห็นเป็นระดับน้ำ - pneumothorax ลมลอยไปด้านหน้า อาจเห็นแค่บริเวณที่ดำกว่าปกติหรือไม่เห็นเลย - ถ้าเห็นลมใน mediastinum ให้คิดถึง airway หรือ esophagus injury" ส่งต่อ: "ข้อจำกัดของ CXR ทำให้เราต้องมี ultrasound กับ CT"</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ประเด็นหลัก: adjunct ช่วยยืนยัน แต่ไม่แทน clinical exam (ราว 1.5 นาที)</a:t>
            </a:r>
          </a:p>
          <a:p>
            <a:r>
              <a:t>1) Monitoring: SpO₂ ดูต่อเนื่อง แต่ค่าต่ำอาจมาจาก perfusion ไม่ดี / ETCO₂ บอก ventilation และลดลงได้ถ้า perfusion ไปปอดลด (shock) / ABG แม่นที่สุด บอก hypoxemia, hypercapnia และ acid–base</a:t>
            </a:r>
          </a:p>
          <a:p>
            <a:r>
              <a:t>2) Portable AP CXR: ไล่ดู lung expansion, เลือด/น้ำ, ลมใต้ผิวหนัง/ใน mediastinum, trachea shift, mediastinum กว้าง, ลมกระเพาะหรือ NGT ในอกซ้าย (diaphragm injury), ซี่โครง 1–2 หักหรือหักหลายซี่ = แรงกระแทกสูง</a:t>
            </a:r>
          </a:p>
          <a:p>
            <a:r>
              <a:t>   ระวัง film ท่านอน: hemothorax เห็นแค่ฝ้าทั้งข้าง, pneumothorax ลมลอยไปด้านหน้าอาจมองไม่เห็น</a:t>
            </a:r>
          </a:p>
          <a:p>
            <a:r>
              <a:t>3) eFAST: ข้างเตียง ทำซ้ำได้ ไม่มีรังสี หา PTX, HTX, hemopericardium (operator dependent) / CT: ไวที่สุด เห็น occult PTX, rib fx, contusion แต่ทำเฉพาะผู้ป่วย stable</a:t>
            </a:r>
          </a:p>
          <a:p>
            <a:r>
              <a:t>เน้นแถบล่าง: ผู้ป่วยไม่ stable ให้รักษาตาม clinical เลย ไม่ต้องรอ imaging เช่น tension PTX</a:t>
            </a:r>
          </a:p>
          <a:p>
            <a:r>
              <a:t>ส่งต่อ: "ต่อไปดูทีละโรค เริ่มจาก pneumothorax แบบ simple ก่อน แล้วไปดูว่ามันกลายเป็น tension ได้ยังไง"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Pneumothorax เปลี่ยนจาก simple เป็น tension ได้อย่างไร พูด (ชี้ flow จากซ้ายไปขวา): "เริ่มจากอากาศเข้า pleural space ผ่านรูที่ปอดหรือผนังอก ปอดข้างนั้นจึงแฟบ ตรงนี้เรียก simple pneumothorax" "ถ้ารูนั้นทำงานแบบ one-way valve คืออากาศเข้าได้แต่ออกไม่ได้ ลมจะสะสมเรื่อยๆ ดัน mediastinum ไปอีกข้าง กด vena cava venous return ลด cardiac output ลด สุดท้ายความดันตก นี่คือ tension pneumothorax" "สาเหตุที่พบใน trauma - barotrauma จาก airway pressure สูง - แผลแทงหรือกระสุน - ซี่โครงหักทิ่มปอด - iatrogenic เช่นใส่ central line" เน้น (ชี้กล่องน้ำเงิน): "จุดอันตรายคือ positive-pressure ventilation ทั้งการ bag และการต่อ ventilator ทำให้ simple กลายเป็น tension ได้เร็วมาก และในผู้ป่วยที่ตายจาก blunt trauma พบ pneumothorax ได้ถึง 19 เปอร์เซ็นต์" ส่งต่อ: "เริ่มจากภาวะที่อันตรายที่สุดก่อน tension pneumothorax"</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[~1.5 นาที] Tension pneumothorax</a:t>
            </a:r>
          </a:p>
          <a:p>
            <a:r>
              <a:t>คืออะไร: ลมรั่วแบบ one-way valve สะสมใน pleura → mediastinum ถูกดัน → venous return ลด → obstructive shock</a:t>
            </a:r>
          </a:p>
          <a:p>
            <a:r>
              <a:t>วินิจฉัย: เป็น clinical diagnosis ห้ามรอ CXR — mechanism เข้าได้ + breath sound หายข้างเดียว + ความดันตก; neck vein โป่ง (อาจแฟบถ้าเสียเลือดร่วม), trachea เบี่ยงเป็น late sign</a:t>
            </a:r>
          </a:p>
          <a:p>
            <a:r>
              <a:t>นึกถึงด้วยเมื่อใส่ท่อแล้วทรุดทันทีหลังเริ่ม bag/ventilator</a:t>
            </a:r>
          </a:p>
          <a:p>
            <a:r>
              <a:t>รักษา: O2 + decompress ทันที — needle ≥ 14G ที่ ICS 5 AAL–MAL (ระดับ IMF) หรือ ICS 2 MCL แทงชิดขอบบนซี่โครง; ผนังอกหนา/เข็มไม่ถึง → finger thoracostomy; ตามด้วย chest tube 14 Fr เสมอเพราะ tension กลับมาได้</a:t>
            </a:r>
          </a:p>
          <a:p>
            <a:r>
              <a:t>(คนท้องเลื่อนขึ้น 1–2 ICS, เด็กที่ IMF หรือสูงกว่าเล็กน้อย)</a:t>
            </a:r>
          </a:p>
          <a:p>
            <a:r>
              <a:t>ส่งต่อ: "ภาวะที่กระทบทั้ง B และ C อีกโรคคือ massive hemothorax"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Open pneumothorax</a:t>
            </a:r>
          </a:p>
          <a:p>
            <a:r>
              <a:t>คืออะไร: แผลผนังอกเปิด ขนาด ≥ 2/3 ของ trachea → ลมเข้าทางแผลง่ายกว่าทางเดินหายใจ ปอดขยายไม่ได้</a:t>
            </a:r>
          </a:p>
          <a:p>
            <a:r>
              <a:t>วินิจฉัย: clinical — ได้ยินเสียงดูดลมที่แผล (sucking chest wound), breath sound ลด, หอบ</a:t>
            </a:r>
          </a:p>
          <a:p>
            <a:r>
              <a:t>รักษา: O2 → ปิดแผลด้วย occlusive dressing ติดเทป 3 ด้าน ทำหน้าที่เป็น flutter valve กัน tension (หรือ vented chest seal) → ใส่ chest tube โดยกรีดแผลใหม่ ห้ามผ่านแผลเดิม → ผ่าตัดปิดแผลเป็น definitive</a:t>
            </a:r>
          </a:p>
          <a:p>
            <a:r>
              <a:t>ถ้าปิดแผลแล้วแย่ลง ให้เปิดขอบ dressing หรือ decompress</a:t>
            </a:r>
          </a:p>
          <a:p>
            <a:r>
              <a:t>ส่งต่อ: "ถ้าลมเข้าแล้วออกไม่ได้ จะกลายเป็น tension pneumothorax"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Massive hemothorax</a:t>
            </a:r>
          </a:p>
          <a:p>
            <a:r>
              <a:t>คืออะไร: เลือดสะสมเร็วใน pleural space → ทั้ง hemorrhagic shock และกดปอด</a:t>
            </a:r>
          </a:p>
          <a:p>
            <a:r>
              <a:t>วินิจฉัย: breath sound ลด + shock; neck vein มักแฟบ (ต่างจาก tension); ยืนยันด้วย CXR, eFAST หรือเลือดที่ออกจาก chest tube</a:t>
            </a:r>
          </a:p>
          <a:p>
            <a:r>
              <a:t>รักษา: O2 + ให้เลือดเร็ว (resuscitate คู่กับการ drain) → chest tube ขนาดใหญ่ ≥ 24 Fr; hemothorax ใดๆ &gt; 300 mL ควร drain ออก</a:t>
            </a:r>
          </a:p>
          <a:p>
            <a:r>
              <a:t>ตัดสินใจผ่าตัดจาก physiology คือยัง shock / เลือดยังออกต่อ ไม่ใช่ดูแค่ปริมาณเลือดใน chest tube</a:t>
            </a:r>
          </a:p>
          <a:p>
            <a:r>
              <a:t>ส่งต่อ: "กลับมาที่ pneumothorax แบบที่ยังไม่อันตรายทันที คือ simple pneumothorax"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Flail chest</a:t>
            </a:r>
          </a:p>
          <a:p>
            <a:r>
              <a:t>คืออะไร: ซี่โครงหัก ≥ 2 ซี่ ซี่ละ ≥ 2 ตำแหน่ง ชิ้นที่หลุดเคลื่อนสวนทาง (paradoxical movement) — อาจไม่เห็นถ้าใส่ ventilator</a:t>
            </a:r>
          </a:p>
          <a:p>
            <a:r>
              <a:t>ปัญหาหลักคือ hypoxemia จากปอดช้ำด้านใต้ และปวดจนหายใจตื้น ไอไม่ได้ → pneumonia</a:t>
            </a:r>
          </a:p>
          <a:p>
            <a:r>
              <a:t>รักษา: ระงับปวดคือการรักษาหลัก ใช้ multimodal opioid-sparing — paracetamol, NSAIDs, ketamine, lidocaine, regional block; O2, กายภาพปอด; ใส่ท่อถ้า respiratory failure; บางรายทำ SSRF</a:t>
            </a:r>
          </a:p>
          <a:p>
            <a:r>
              <a:t>ส่งต่อ: "ซึ่งพาไปสู่สิ่งที่อยู่ใต้ flail คือ pulmonary contusion"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Pulmonary contusion</a:t>
            </a:r>
          </a:p>
          <a:p>
            <a:r>
              <a:t>คืออะไร: ปอดช้ำ เลือดและน้ำเข้า alveoli → V/Q mismatch เป็น intrathoracic injury ที่พบบ่อยที่สุด</a:t>
            </a:r>
          </a:p>
          <a:p>
            <a:r>
              <a:t>วินิจฉัย: แรกรับอาจปกติ แล้วแย่ลงใน 24–72 ชม.; CXR เห็นช้า (~6–48 ชม.), CT เห็นได้ทันที; เด็กเกิดได้แม้ไม่มีซี่โครงหัก</a:t>
            </a:r>
          </a:p>
          <a:p>
            <a:r>
              <a:t>รักษา: O2 ± ventilator ให้ SpO2 พอ, ให้สารน้ำพอดี ไม่ overload, คุมปวดและดูแลเสมหะ (~20% เป็น pneumonia)</a:t>
            </a:r>
          </a:p>
          <a:p>
            <a:r>
              <a:t>ส่งต่อ: "ถ้าบาดเจ็บที่ทางเดินหายใจใหญ่ คือ tracheobronchial injury"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Tracheobronchial injury</a:t>
            </a:r>
          </a:p>
          <a:p>
            <a:r>
              <a:t>คืออะไร: หลอดลมใหญ่ฉีกขาด ส่วนใหญ่อยู่ภายใน 1 นิ้วจาก carina พบน้อยแต่ตายสูง</a:t>
            </a:r>
          </a:p>
          <a:p>
            <a:r>
              <a:t>วินิจฉัย: ไอเป็นเลือด ลมใต้ผิวหนังมาก อาจมา tension; จุดสังเกตสำคัญ คือใส่ chest tube แล้วยังมี air leak มากต่อเนื่องและปอดไม่ขยาย; ยืนยันด้วย bronchoscopy</a:t>
            </a:r>
          </a:p>
          <a:p>
            <a:r>
              <a:t>รักษา: จัดการ airway — ใช้ fiberoptic ใส่ท่อผ่านรอยฉีกหรือเข้าหลอดลมข้างดี; chest tube อาจต้องมากกว่า 1 เส้น; consult ศัลยแพทย์ทันที</a:t>
            </a:r>
          </a:p>
          <a:p>
            <a:r>
              <a:t>ส่งต่อ: "โรคสุดท้ายคือ diaphragm injury"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Simple &amp; occult pneumothorax</a:t>
            </a:r>
          </a:p>
          <a:p>
            <a:r>
              <a:t>คืออะไร: ลมใน pleural space ทำให้ปอดแฟบ แต่ยังไม่มี mediastinal shift หรือ hypotension</a:t>
            </a:r>
          </a:p>
          <a:p>
            <a:r>
              <a:t>วินิจฉัย: เหนื่อย breath sound ลด อาจมี subcutaneous emphysema; CXR ท่านอนอาจไม่เห็น pneumothorax ด้านหน้า ถ้าเห็นใน CT อย่างเดียวเรียก occult</a:t>
            </a:r>
          </a:p>
          <a:p>
            <a:r>
              <a:t>รักษา: มีอาการหรือเห็นใน CXR → chest tube 14 Fr (ได้ผลเท่าสายใหญ่); occult ไม่มีอาการ &lt; 3.5 cm และไม่มี PPV/hemothorax → observe ได้</a:t>
            </a:r>
          </a:p>
          <a:p>
            <a:r>
              <a:t>Key: PPV (bag/ventilator) เปลี่ยน simple เป็น tension ได้เร็ว จึงควรใส่ chest tube ก่อนใส่ PPV หรือส่งต่อทางอากาศ</a:t>
            </a:r>
          </a:p>
          <a:p>
            <a:r>
              <a:t>ส่งต่อ: "ต่อไปเป็นการบาดเจ็บของผนังอก คือ flail chest"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 นาที] Diaphragm injury</a:t>
            </a:r>
          </a:p>
          <a:p>
            <a:r>
              <a:t>คืออะไร: กะบังลมฉีก blunt มักเป็นรอยใหญ่ข้างซ้าย, penetrating เป็นรูเล็ก &lt; 2 cm แต่พลาดได้ง่าย</a:t>
            </a:r>
          </a:p>
          <a:p>
            <a:r>
              <a:t>วินิจฉัย: ต้องสงสัยไว้ก่อน โดยเฉพาะแผลแทงอกซ้ายล่าง/flank ใต้ระดับ nipple; CXR เห็น NG tube ขดในอก หรือ hemidiaphragm สูง; CT ~80%, ยืนยันด้วย laparoscopy/laparotomy</a:t>
            </a:r>
          </a:p>
          <a:p>
            <a:r>
              <a:t>รักษา: ใส่ chest tube อย่างระวังเพราะอาจมีลำไส้ขึ้นมาในอก; ผ่าตัดซ่อม (transabdominal) — ถ้ามี herniation ทำทันที</a:t>
            </a:r>
          </a:p>
          <a:p>
            <a:r>
              <a:t>สรุปปิด: ทุกโรคจบที่ reassess look–listen–feel หลังทุกหัตถการ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ประเด็นหลัก: ประเมินซ้ำหลังทุกหัตถการ และส่งต่อผู้ป่วยอย่างปลอดภัย พูด — Reassessment: "หลังทำหัตถการทุกครั้ง ให้กลับไป look listen feel ใหม่ ดูว่า chest tube ทำงานดีไหม มีเลือดหรือลมออกตามที่คาดไหม" "ติด SpO2 และ ETCO2 ต่อเนื่อง" "ผู้ป่วยซี่โครงหักต้องประเมินปวด การไอ และการหายใจลึกบ่อยๆ เพราะถ้าคุมปวดไม่ได้จะเกิด pneumonia และ respiratory failure ตามมา" พูด — Transfer: "chest injury ระดับปานกลางถึงรุนแรงควรส่ง trauma center แม้จะไม่ต้องผ่าตัด เพราะได้ทั้ง regional analgesia, physiotherapy และ SSRF" "ใส่ chest tube ก่อนส่งตัว โดยเฉพาะถ้าส่งทางอากาศ หรือทีมที่ส่งตัวไม่สามารถทำ decompression ได้" "ระหว่างส่งตัวให้ต่อ chest tube กับ suction ที่ –20 cmH2O" ส่งต่อ: "มีผู้ป่วยบางกลุ่มที่ต้องปรับวิธีทำ"</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jpeg"/><Relationship Id="rId4" Type="http://schemas.openxmlformats.org/officeDocument/2006/relationships/image" Target="../media/image1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jpeg"/><Relationship Id="rId4" Type="http://schemas.openxmlformats.org/officeDocument/2006/relationships/image" Target="../media/image2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1.jpeg"/><Relationship Id="rId4" Type="http://schemas.openxmlformats.org/officeDocument/2006/relationships/image" Target="../media/image22.jpe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Figures 5-6 and 5-12. p. 69-76.</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Open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Sucking chest wound</a:t>
              </a:r>
              <a:r>
                <a:rPr lang="en-US" sz="2100">
                  <a:solidFill>
                    <a:srgbClr val="E74B2F"/>
                  </a:solidFill>
                  <a:latin typeface="Droid Serif"/>
                  <a:ea typeface="Droid Serif"/>
                  <a:cs typeface="Droid Serif"/>
                  <a:sym typeface="Droid Serif"/>
                </a:rPr>
                <a:t> (defect ≥ 2/3 tracheal diameter) → impaired ventilation</a:t>
              </a:r>
            </a:p>
          </p:txBody>
        </p:sp>
      </p:grpSp>
      <p:grpSp>
        <p:nvGrpSpPr>
          <p:cNvPr name="Group 12" id="12"/>
          <p:cNvGrpSpPr/>
          <p:nvPr/>
        </p:nvGrpSpPr>
        <p:grpSpPr>
          <a:xfrm rot="0">
            <a:off x="2173281" y="1947672"/>
            <a:ext cx="3046362" cy="2551176"/>
            <a:chOff x="0" y="0"/>
            <a:chExt cx="4061816" cy="3401568"/>
          </a:xfrm>
        </p:grpSpPr>
        <p:sp>
          <p:nvSpPr>
            <p:cNvPr name="Freeform 13" id="13"/>
            <p:cNvSpPr/>
            <p:nvPr/>
          </p:nvSpPr>
          <p:spPr>
            <a:xfrm flipH="false" flipV="false" rot="0">
              <a:off x="0" y="0"/>
              <a:ext cx="4061841" cy="3401568"/>
            </a:xfrm>
            <a:custGeom>
              <a:avLst/>
              <a:gdLst/>
              <a:ahLst/>
              <a:cxnLst/>
              <a:rect r="r" b="b" t="t" l="l"/>
              <a:pathLst>
                <a:path h="3401568" w="4061841">
                  <a:moveTo>
                    <a:pt x="0" y="266827"/>
                  </a:moveTo>
                  <a:cubicBezTo>
                    <a:pt x="0" y="119507"/>
                    <a:pt x="119507" y="0"/>
                    <a:pt x="266827" y="0"/>
                  </a:cubicBezTo>
                  <a:lnTo>
                    <a:pt x="3795014" y="0"/>
                  </a:lnTo>
                  <a:cubicBezTo>
                    <a:pt x="3942334" y="0"/>
                    <a:pt x="4061841" y="119507"/>
                    <a:pt x="4061841" y="266827"/>
                  </a:cubicBezTo>
                  <a:lnTo>
                    <a:pt x="4061841" y="3134741"/>
                  </a:lnTo>
                  <a:cubicBezTo>
                    <a:pt x="4061841" y="3282061"/>
                    <a:pt x="3942334" y="3401568"/>
                    <a:pt x="3795014"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2241861" y="2016252"/>
            <a:ext cx="2909202" cy="2414016"/>
            <a:chOff x="0" y="0"/>
            <a:chExt cx="3878936" cy="3218688"/>
          </a:xfrm>
        </p:grpSpPr>
        <p:sp>
          <p:nvSpPr>
            <p:cNvPr name="Freeform 15" id="15" descr="Diagram of an open pneumothorax with air entering through a chest wall wound and the lung collapsed"/>
            <p:cNvSpPr/>
            <p:nvPr/>
          </p:nvSpPr>
          <p:spPr>
            <a:xfrm flipH="false" flipV="false" rot="0">
              <a:off x="0" y="0"/>
              <a:ext cx="3878961" cy="3218688"/>
            </a:xfrm>
            <a:custGeom>
              <a:avLst/>
              <a:gdLst/>
              <a:ahLst/>
              <a:cxnLst/>
              <a:rect r="r" b="b" t="t" l="l"/>
              <a:pathLst>
                <a:path h="3218688" w="3878961">
                  <a:moveTo>
                    <a:pt x="0" y="0"/>
                  </a:moveTo>
                  <a:lnTo>
                    <a:pt x="3878961" y="0"/>
                  </a:lnTo>
                  <a:lnTo>
                    <a:pt x="3878961"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Air enters through the wound (Fig 5-6)</a:t>
            </a:r>
          </a:p>
        </p:txBody>
      </p:sp>
      <p:grpSp>
        <p:nvGrpSpPr>
          <p:cNvPr name="Group 17" id="17"/>
          <p:cNvGrpSpPr/>
          <p:nvPr/>
        </p:nvGrpSpPr>
        <p:grpSpPr>
          <a:xfrm rot="0">
            <a:off x="1886798" y="5033772"/>
            <a:ext cx="3619329" cy="2414016"/>
            <a:chOff x="0" y="0"/>
            <a:chExt cx="4825771" cy="3218688"/>
          </a:xfrm>
        </p:grpSpPr>
        <p:sp>
          <p:nvSpPr>
            <p:cNvPr name="Freeform 18" id="18" descr="Occlusive dressing taped on three sides over a chest wound"/>
            <p:cNvSpPr/>
            <p:nvPr/>
          </p:nvSpPr>
          <p:spPr>
            <a:xfrm flipH="false" flipV="false" rot="0">
              <a:off x="0" y="0"/>
              <a:ext cx="4825746" cy="3218688"/>
            </a:xfrm>
            <a:custGeom>
              <a:avLst/>
              <a:gdLst/>
              <a:ahLst/>
              <a:cxnLst/>
              <a:rect r="r" b="b" t="t" l="l"/>
              <a:pathLst>
                <a:path h="3218688" w="4825746">
                  <a:moveTo>
                    <a:pt x="0" y="0"/>
                  </a:moveTo>
                  <a:lnTo>
                    <a:pt x="4825746" y="0"/>
                  </a:lnTo>
                  <a:lnTo>
                    <a:pt x="4825746" y="3218688"/>
                  </a:lnTo>
                  <a:lnTo>
                    <a:pt x="0" y="3218688"/>
                  </a:lnTo>
                  <a:lnTo>
                    <a:pt x="0" y="0"/>
                  </a:lnTo>
                  <a:close/>
                </a:path>
              </a:pathLst>
            </a:custGeom>
            <a:blipFill>
              <a:blip r:embed="rId4"/>
              <a:stretch>
                <a:fillRect l="0" t="0" r="0" b="0"/>
              </a:stretch>
            </a:blipFill>
          </p:spPr>
        </p:sp>
      </p:grpSp>
      <p:sp>
        <p:nvSpPr>
          <p:cNvPr name="TextBox 19" id="19"/>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Dressing taped on 3 sides (Fig 5-12A)</a:t>
            </a:r>
          </a:p>
        </p:txBody>
      </p:sp>
      <p:grpSp>
        <p:nvGrpSpPr>
          <p:cNvPr name="Group 20" id="20"/>
          <p:cNvGrpSpPr/>
          <p:nvPr/>
        </p:nvGrpSpPr>
        <p:grpSpPr>
          <a:xfrm rot="0">
            <a:off x="6438900" y="1882083"/>
            <a:ext cx="10629900" cy="2114255"/>
            <a:chOff x="0" y="0"/>
            <a:chExt cx="14173200" cy="2819006"/>
          </a:xfrm>
        </p:grpSpPr>
        <p:sp>
          <p:nvSpPr>
            <p:cNvPr name="Freeform 21" id="21"/>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22" id="22"/>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clinical</a:t>
            </a:r>
          </a:p>
        </p:txBody>
      </p:sp>
      <p:sp>
        <p:nvSpPr>
          <p:cNvPr name="TextBox 23" id="23"/>
          <p:cNvSpPr txBox="true"/>
          <p:nvPr/>
        </p:nvSpPr>
        <p:spPr>
          <a:xfrm rot="0">
            <a:off x="6843141" y="2449716"/>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Sucking sound</a:t>
            </a:r>
            <a:r>
              <a:rPr lang="en-US" sz="1950">
                <a:solidFill>
                  <a:srgbClr val="1F1210"/>
                </a:solidFill>
                <a:latin typeface="DM Sans"/>
                <a:ea typeface="DM Sans"/>
                <a:cs typeface="DM Sans"/>
                <a:sym typeface="DM Sans"/>
              </a:rPr>
              <a:t> at the wound + </a:t>
            </a:r>
            <a:r>
              <a:rPr lang="en-US" sz="1950" b="true">
                <a:solidFill>
                  <a:srgbClr val="1F1210"/>
                </a:solidFill>
                <a:latin typeface="DM Sans Bold"/>
                <a:ea typeface="DM Sans Bold"/>
                <a:cs typeface="DM Sans Bold"/>
                <a:sym typeface="DM Sans Bold"/>
              </a:rPr>
              <a:t>↓ breath sounds</a:t>
            </a:r>
          </a:p>
          <a:p>
            <a:pPr algn="l" marL="352901" indent="-176451" lvl="1">
              <a:lnSpc>
                <a:spcPts val="2632"/>
              </a:lnSpc>
              <a:buFont typeface="Arial"/>
              <a:buChar char="•"/>
            </a:pPr>
            <a:r>
              <a:rPr lang="en-US" sz="1950">
                <a:solidFill>
                  <a:srgbClr val="1F1210"/>
                </a:solidFill>
                <a:latin typeface="DM Sans"/>
                <a:ea typeface="DM Sans"/>
                <a:cs typeface="DM Sans"/>
                <a:sym typeface="DM Sans"/>
              </a:rPr>
              <a:t>Pain, tachypnea, respiratory distress</a:t>
            </a:r>
          </a:p>
        </p:txBody>
      </p:sp>
      <p:grpSp>
        <p:nvGrpSpPr>
          <p:cNvPr name="Group 24" id="24"/>
          <p:cNvGrpSpPr/>
          <p:nvPr/>
        </p:nvGrpSpPr>
        <p:grpSpPr>
          <a:xfrm rot="0">
            <a:off x="6438900" y="4148738"/>
            <a:ext cx="10629900" cy="2782786"/>
            <a:chOff x="0" y="0"/>
            <a:chExt cx="14173200" cy="3710381"/>
          </a:xfrm>
        </p:grpSpPr>
        <p:sp>
          <p:nvSpPr>
            <p:cNvPr name="Freeform 25" id="25"/>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6" id="26"/>
          <p:cNvSpPr txBox="true"/>
          <p:nvPr/>
        </p:nvSpPr>
        <p:spPr>
          <a:xfrm rot="0">
            <a:off x="6705600" y="430113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7" id="27"/>
          <p:cNvSpPr txBox="true"/>
          <p:nvPr/>
        </p:nvSpPr>
        <p:spPr>
          <a:xfrm rot="0">
            <a:off x="6843141" y="4716361"/>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O₂</a:t>
            </a:r>
            <a:r>
              <a:rPr lang="en-US" sz="1950">
                <a:solidFill>
                  <a:srgbClr val="FFFFFF"/>
                </a:solidFill>
                <a:latin typeface="DM Sans"/>
                <a:ea typeface="DM Sans"/>
                <a:cs typeface="DM Sans"/>
                <a:sym typeface="DM Sans"/>
              </a:rPr>
              <a:t> + </a:t>
            </a:r>
            <a:r>
              <a:rPr lang="en-US" sz="1950" b="true">
                <a:solidFill>
                  <a:srgbClr val="FFFFFF"/>
                </a:solidFill>
                <a:latin typeface="DM Sans Bold"/>
                <a:ea typeface="DM Sans Bold"/>
                <a:cs typeface="DM Sans Bold"/>
                <a:sym typeface="DM Sans Bold"/>
              </a:rPr>
              <a:t>3-sided occlusive dressing</a:t>
            </a:r>
            <a:r>
              <a:rPr lang="en-US" sz="1950">
                <a:solidFill>
                  <a:srgbClr val="FFFFFF"/>
                </a:solidFill>
                <a:latin typeface="DM Sans"/>
                <a:ea typeface="DM Sans"/>
                <a:cs typeface="DM Sans"/>
                <a:sym typeface="DM Sans"/>
              </a:rPr>
              <a:t> (flutter valve)</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Chest tube at a separate site</a:t>
            </a:r>
            <a:r>
              <a:rPr lang="en-US" sz="1950">
                <a:solidFill>
                  <a:srgbClr val="FFFFFF"/>
                </a:solidFill>
                <a:latin typeface="DM Sans"/>
                <a:ea typeface="DM Sans"/>
                <a:cs typeface="DM Sans"/>
                <a:sym typeface="DM Sans"/>
              </a:rPr>
              <a:t> — never through the wound</a:t>
            </a:r>
          </a:p>
          <a:p>
            <a:pPr algn="l" marL="352901" indent="-176451" lvl="1">
              <a:lnSpc>
                <a:spcPts val="2632"/>
              </a:lnSpc>
              <a:buFont typeface="Arial"/>
              <a:buChar char="•"/>
            </a:pPr>
            <a:r>
              <a:rPr lang="en-US" sz="1950">
                <a:solidFill>
                  <a:srgbClr val="FFFFFF"/>
                </a:solidFill>
                <a:latin typeface="DM Sans"/>
                <a:ea typeface="DM Sans"/>
                <a:cs typeface="DM Sans"/>
                <a:sym typeface="DM Sans"/>
              </a:rPr>
              <a:t>Definitive: </a:t>
            </a:r>
            <a:r>
              <a:rPr lang="en-US" sz="1950" b="true">
                <a:solidFill>
                  <a:srgbClr val="FFFFFF"/>
                </a:solidFill>
                <a:latin typeface="DM Sans Bold"/>
                <a:ea typeface="DM Sans Bold"/>
                <a:cs typeface="DM Sans Bold"/>
                <a:sym typeface="DM Sans Bold"/>
              </a:rPr>
              <a:t>surgical closure</a:t>
            </a:r>
          </a:p>
        </p:txBody>
      </p:sp>
      <p:grpSp>
        <p:nvGrpSpPr>
          <p:cNvPr name="Group 28" id="28"/>
          <p:cNvGrpSpPr/>
          <p:nvPr/>
        </p:nvGrpSpPr>
        <p:grpSpPr>
          <a:xfrm rot="0">
            <a:off x="0" y="164592"/>
            <a:ext cx="754380" cy="384048"/>
            <a:chOff x="0" y="0"/>
            <a:chExt cx="1005840" cy="512064"/>
          </a:xfrm>
        </p:grpSpPr>
        <p:sp>
          <p:nvSpPr>
            <p:cNvPr name="Freeform 29" id="29"/>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0" id="30"/>
          <p:cNvGrpSpPr/>
          <p:nvPr/>
        </p:nvGrpSpPr>
        <p:grpSpPr>
          <a:xfrm rot="0">
            <a:off x="932688" y="288036"/>
            <a:ext cx="137160" cy="137160"/>
            <a:chOff x="0" y="0"/>
            <a:chExt cx="182880" cy="182880"/>
          </a:xfrm>
        </p:grpSpPr>
        <p:sp>
          <p:nvSpPr>
            <p:cNvPr name="Freeform 31" id="3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2" id="32"/>
          <p:cNvGrpSpPr/>
          <p:nvPr/>
        </p:nvGrpSpPr>
        <p:grpSpPr>
          <a:xfrm rot="0">
            <a:off x="1193292"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453896"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714500"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975104"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2235708"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496312"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Figures 5-5 and 5-11. p. 68-75.</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Tension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One-way valve</a:t>
              </a:r>
              <a:r>
                <a:rPr lang="en-US" sz="2100">
                  <a:solidFill>
                    <a:srgbClr val="E74B2F"/>
                  </a:solidFill>
                  <a:latin typeface="Droid Serif"/>
                  <a:ea typeface="Droid Serif"/>
                  <a:cs typeface="Droid Serif"/>
                  <a:sym typeface="Droid Serif"/>
                </a:rPr>
                <a:t> air trapping → mediastinal shift &amp; </a:t>
              </a:r>
              <a:r>
                <a:rPr lang="en-US" sz="2100" b="true">
                  <a:solidFill>
                    <a:srgbClr val="E74B2F"/>
                  </a:solidFill>
                  <a:latin typeface="Droid Serif Bold"/>
                  <a:ea typeface="Droid Serif Bold"/>
                  <a:cs typeface="Droid Serif Bold"/>
                  <a:sym typeface="Droid Serif Bold"/>
                </a:rPr>
                <a:t>obstructive shock</a:t>
              </a:r>
            </a:p>
          </p:txBody>
        </p:sp>
      </p:grpSp>
      <p:grpSp>
        <p:nvGrpSpPr>
          <p:cNvPr name="Group 12" id="12"/>
          <p:cNvGrpSpPr/>
          <p:nvPr/>
        </p:nvGrpSpPr>
        <p:grpSpPr>
          <a:xfrm rot="0">
            <a:off x="2402700" y="2219325"/>
            <a:ext cx="2587523" cy="2551176"/>
            <a:chOff x="0" y="0"/>
            <a:chExt cx="3450031" cy="3401568"/>
          </a:xfrm>
        </p:grpSpPr>
        <p:sp>
          <p:nvSpPr>
            <p:cNvPr name="Freeform 13" id="13"/>
            <p:cNvSpPr/>
            <p:nvPr/>
          </p:nvSpPr>
          <p:spPr>
            <a:xfrm flipH="false" flipV="false" rot="0">
              <a:off x="0" y="0"/>
              <a:ext cx="3450082" cy="3401568"/>
            </a:xfrm>
            <a:custGeom>
              <a:avLst/>
              <a:gdLst/>
              <a:ahLst/>
              <a:cxnLst/>
              <a:rect r="r" b="b" t="t" l="l"/>
              <a:pathLst>
                <a:path h="3401568" w="3450082">
                  <a:moveTo>
                    <a:pt x="0" y="266827"/>
                  </a:moveTo>
                  <a:cubicBezTo>
                    <a:pt x="0" y="119507"/>
                    <a:pt x="119507" y="0"/>
                    <a:pt x="266827" y="0"/>
                  </a:cubicBezTo>
                  <a:lnTo>
                    <a:pt x="3183255" y="0"/>
                  </a:lnTo>
                  <a:cubicBezTo>
                    <a:pt x="3330575" y="0"/>
                    <a:pt x="3450082" y="119507"/>
                    <a:pt x="3450082" y="266827"/>
                  </a:cubicBezTo>
                  <a:lnTo>
                    <a:pt x="3450082" y="3134741"/>
                  </a:lnTo>
                  <a:cubicBezTo>
                    <a:pt x="3450082" y="3282061"/>
                    <a:pt x="3330575" y="3401568"/>
                    <a:pt x="3183255"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2471280" y="2287905"/>
            <a:ext cx="2450363" cy="2414016"/>
            <a:chOff x="0" y="0"/>
            <a:chExt cx="3267151" cy="3218688"/>
          </a:xfrm>
        </p:grpSpPr>
        <p:sp>
          <p:nvSpPr>
            <p:cNvPr name="Freeform 15" id="15" descr="Chest X-ray of a right tension pneumothorax with the trachea pushed to the left"/>
            <p:cNvSpPr/>
            <p:nvPr/>
          </p:nvSpPr>
          <p:spPr>
            <a:xfrm flipH="false" flipV="false" rot="0">
              <a:off x="0" y="0"/>
              <a:ext cx="3267202" cy="3218688"/>
            </a:xfrm>
            <a:custGeom>
              <a:avLst/>
              <a:gdLst/>
              <a:ahLst/>
              <a:cxnLst/>
              <a:rect r="r" b="b" t="t" l="l"/>
              <a:pathLst>
                <a:path h="3218688" w="3267202">
                  <a:moveTo>
                    <a:pt x="0" y="0"/>
                  </a:moveTo>
                  <a:lnTo>
                    <a:pt x="3267202" y="0"/>
                  </a:lnTo>
                  <a:lnTo>
                    <a:pt x="3267202" y="3218688"/>
                  </a:lnTo>
                  <a:lnTo>
                    <a:pt x="0" y="3218688"/>
                  </a:lnTo>
                  <a:lnTo>
                    <a:pt x="0" y="0"/>
                  </a:lnTo>
                  <a:close/>
                </a:path>
              </a:pathLst>
            </a:custGeom>
            <a:blipFill>
              <a:blip r:embed="rId3"/>
              <a:stretch>
                <a:fillRect l="0" t="0" r="1" b="0"/>
              </a:stretch>
            </a:blipFill>
          </p:spPr>
        </p:sp>
      </p:grpSp>
      <p:sp>
        <p:nvSpPr>
          <p:cNvPr name="TextBox 16" id="16"/>
          <p:cNvSpPr txBox="true"/>
          <p:nvPr/>
        </p:nvSpPr>
        <p:spPr>
          <a:xfrm rot="0">
            <a:off x="1062990" y="4787265"/>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Right tension PTX, trachea → left (Fig 5-5B)</a:t>
            </a:r>
          </a:p>
        </p:txBody>
      </p:sp>
      <p:grpSp>
        <p:nvGrpSpPr>
          <p:cNvPr name="Group 17" id="17"/>
          <p:cNvGrpSpPr/>
          <p:nvPr/>
        </p:nvGrpSpPr>
        <p:grpSpPr>
          <a:xfrm rot="0">
            <a:off x="2170157" y="5236845"/>
            <a:ext cx="3052610" cy="2551176"/>
            <a:chOff x="0" y="0"/>
            <a:chExt cx="4070147" cy="3401568"/>
          </a:xfrm>
        </p:grpSpPr>
        <p:sp>
          <p:nvSpPr>
            <p:cNvPr name="Freeform 18" id="18"/>
            <p:cNvSpPr/>
            <p:nvPr/>
          </p:nvSpPr>
          <p:spPr>
            <a:xfrm flipH="false" flipV="false" rot="0">
              <a:off x="0" y="0"/>
              <a:ext cx="4070223" cy="3401568"/>
            </a:xfrm>
            <a:custGeom>
              <a:avLst/>
              <a:gdLst/>
              <a:ahLst/>
              <a:cxnLst/>
              <a:rect r="r" b="b" t="t" l="l"/>
              <a:pathLst>
                <a:path h="3401568" w="4070223">
                  <a:moveTo>
                    <a:pt x="0" y="266827"/>
                  </a:moveTo>
                  <a:cubicBezTo>
                    <a:pt x="0" y="119507"/>
                    <a:pt x="119507" y="0"/>
                    <a:pt x="266827" y="0"/>
                  </a:cubicBezTo>
                  <a:lnTo>
                    <a:pt x="3803396" y="0"/>
                  </a:lnTo>
                  <a:cubicBezTo>
                    <a:pt x="3950716" y="0"/>
                    <a:pt x="4070223" y="119507"/>
                    <a:pt x="4070223" y="266827"/>
                  </a:cubicBezTo>
                  <a:lnTo>
                    <a:pt x="4070223" y="3134741"/>
                  </a:lnTo>
                  <a:cubicBezTo>
                    <a:pt x="4070223" y="3282061"/>
                    <a:pt x="3950716" y="3401568"/>
                    <a:pt x="3803396"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38737" y="5305425"/>
            <a:ext cx="2915450" cy="2414016"/>
            <a:chOff x="0" y="0"/>
            <a:chExt cx="3887267" cy="3218688"/>
          </a:xfrm>
        </p:grpSpPr>
        <p:sp>
          <p:nvSpPr>
            <p:cNvPr name="Freeform 20" id="20" descr="Two needle decompression sites: 2nd ICS midclavicular line and 5th ICS between anterior and mid-axillary lines"/>
            <p:cNvSpPr/>
            <p:nvPr/>
          </p:nvSpPr>
          <p:spPr>
            <a:xfrm flipH="false" flipV="false" rot="0">
              <a:off x="0" y="0"/>
              <a:ext cx="3887216" cy="3218688"/>
            </a:xfrm>
            <a:custGeom>
              <a:avLst/>
              <a:gdLst/>
              <a:ahLst/>
              <a:cxnLst/>
              <a:rect r="r" b="b" t="t" l="l"/>
              <a:pathLst>
                <a:path h="3218688" w="3887216">
                  <a:moveTo>
                    <a:pt x="0" y="0"/>
                  </a:moveTo>
                  <a:lnTo>
                    <a:pt x="3887216" y="0"/>
                  </a:lnTo>
                  <a:lnTo>
                    <a:pt x="3887216" y="3218688"/>
                  </a:lnTo>
                  <a:lnTo>
                    <a:pt x="0" y="3218688"/>
                  </a:lnTo>
                  <a:lnTo>
                    <a:pt x="0" y="0"/>
                  </a:lnTo>
                  <a:close/>
                </a:path>
              </a:pathLst>
            </a:custGeom>
            <a:blipFill>
              <a:blip r:embed="rId4"/>
              <a:stretch>
                <a:fillRect l="0" t="0" r="-1" b="0"/>
              </a:stretch>
            </a:blipFill>
          </p:spPr>
        </p:sp>
      </p:grpSp>
      <p:sp>
        <p:nvSpPr>
          <p:cNvPr name="TextBox 21" id="21"/>
          <p:cNvSpPr txBox="true"/>
          <p:nvPr/>
        </p:nvSpPr>
        <p:spPr>
          <a:xfrm rot="0">
            <a:off x="1062990" y="7795260"/>
            <a:ext cx="5266944" cy="486537"/>
          </a:xfrm>
          <a:prstGeom prst="rect">
            <a:avLst/>
          </a:prstGeom>
        </p:spPr>
        <p:txBody>
          <a:bodyPr anchor="t" rtlCol="false" tIns="0" lIns="0" bIns="0" rIns="0">
            <a:spAutoFit/>
          </a:bodyPr>
          <a:lstStyle/>
          <a:p>
            <a:pPr algn="ctr">
              <a:lnSpc>
                <a:spcPts val="2520"/>
              </a:lnSpc>
            </a:pPr>
            <a:r>
              <a:rPr lang="en-US" sz="1800">
                <a:solidFill>
                  <a:srgbClr val="6E3B33"/>
                </a:solidFill>
                <a:latin typeface="Lato"/>
                <a:ea typeface="Lato"/>
                <a:cs typeface="Lato"/>
                <a:sym typeface="Lato"/>
              </a:rPr>
              <a:t>★ Needle decompression sites (Fig 5-11)</a:t>
            </a:r>
          </a:p>
        </p:txBody>
      </p:sp>
      <p:grpSp>
        <p:nvGrpSpPr>
          <p:cNvPr name="Group 22" id="22"/>
          <p:cNvGrpSpPr/>
          <p:nvPr/>
        </p:nvGrpSpPr>
        <p:grpSpPr>
          <a:xfrm rot="0">
            <a:off x="6438900" y="2219325"/>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371725"/>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clinical, do not wait for CXR or US</a:t>
            </a:r>
          </a:p>
        </p:txBody>
      </p:sp>
      <p:sp>
        <p:nvSpPr>
          <p:cNvPr name="TextBox 25" id="25"/>
          <p:cNvSpPr txBox="true"/>
          <p:nvPr/>
        </p:nvSpPr>
        <p:spPr>
          <a:xfrm rot="0">
            <a:off x="6843141" y="2786958"/>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Mechanism + </a:t>
            </a:r>
            <a:r>
              <a:rPr lang="en-US" sz="1950" b="true">
                <a:solidFill>
                  <a:srgbClr val="1F1210"/>
                </a:solidFill>
                <a:latin typeface="DM Sans Bold"/>
                <a:ea typeface="DM Sans Bold"/>
                <a:cs typeface="DM Sans Bold"/>
                <a:sym typeface="DM Sans Bold"/>
              </a:rPr>
              <a:t>absent breath sounds</a:t>
            </a:r>
            <a:r>
              <a:rPr lang="en-US" sz="1950">
                <a:solidFill>
                  <a:srgbClr val="1F1210"/>
                </a:solidFill>
                <a:latin typeface="DM Sans"/>
                <a:ea typeface="DM Sans"/>
                <a:cs typeface="DM Sans"/>
                <a:sym typeface="DM Sans"/>
              </a:rPr>
              <a:t> + </a:t>
            </a:r>
            <a:r>
              <a:rPr lang="en-US" sz="1950" b="true">
                <a:solidFill>
                  <a:srgbClr val="1F1210"/>
                </a:solidFill>
                <a:latin typeface="DM Sans Bold"/>
                <a:ea typeface="DM Sans Bold"/>
                <a:cs typeface="DM Sans Bold"/>
                <a:sym typeface="DM Sans Bold"/>
              </a:rPr>
              <a:t>hypotension</a:t>
            </a:r>
          </a:p>
          <a:p>
            <a:pPr algn="l" marL="352901" indent="-176451" lvl="1">
              <a:lnSpc>
                <a:spcPts val="2632"/>
              </a:lnSpc>
              <a:buFont typeface="Arial"/>
              <a:buChar char="•"/>
            </a:pPr>
            <a:r>
              <a:rPr lang="en-US" sz="1950">
                <a:solidFill>
                  <a:srgbClr val="1F1210"/>
                </a:solidFill>
                <a:latin typeface="DM Sans"/>
                <a:ea typeface="DM Sans"/>
                <a:cs typeface="DM Sans"/>
                <a:sym typeface="DM Sans"/>
              </a:rPr>
              <a:t>± </a:t>
            </a:r>
            <a:r>
              <a:rPr lang="en-US" sz="1950" b="true">
                <a:solidFill>
                  <a:srgbClr val="1F1210"/>
                </a:solidFill>
                <a:latin typeface="DM Sans Bold"/>
                <a:ea typeface="DM Sans Bold"/>
                <a:cs typeface="DM Sans Bold"/>
                <a:sym typeface="DM Sans Bold"/>
              </a:rPr>
              <a:t>Distended neck veins</a:t>
            </a:r>
            <a:r>
              <a:rPr lang="en-US" sz="1950">
                <a:solidFill>
                  <a:srgbClr val="1F1210"/>
                </a:solidFill>
                <a:latin typeface="DM Sans"/>
                <a:ea typeface="DM Sans"/>
                <a:cs typeface="DM Sans"/>
                <a:sym typeface="DM Sans"/>
              </a:rPr>
              <a:t>, tracheal shift (late sign)</a:t>
            </a:r>
          </a:p>
        </p:txBody>
      </p:sp>
      <p:grpSp>
        <p:nvGrpSpPr>
          <p:cNvPr name="Group 26" id="26"/>
          <p:cNvGrpSpPr/>
          <p:nvPr/>
        </p:nvGrpSpPr>
        <p:grpSpPr>
          <a:xfrm rot="0">
            <a:off x="6438900" y="4820250"/>
            <a:ext cx="10629900" cy="3299936"/>
            <a:chOff x="0" y="0"/>
            <a:chExt cx="14173200" cy="4156075"/>
          </a:xfrm>
        </p:grpSpPr>
        <p:sp>
          <p:nvSpPr>
            <p:cNvPr name="Freeform 27" id="27"/>
            <p:cNvSpPr/>
            <p:nvPr/>
          </p:nvSpPr>
          <p:spPr>
            <a:xfrm flipH="false" flipV="false" rot="0">
              <a:off x="0" y="0"/>
              <a:ext cx="14173200" cy="4156075"/>
            </a:xfrm>
            <a:custGeom>
              <a:avLst/>
              <a:gdLst/>
              <a:ahLst/>
              <a:cxnLst/>
              <a:rect r="r" b="b" t="t" l="l"/>
              <a:pathLst>
                <a:path h="4156075" w="14173200">
                  <a:moveTo>
                    <a:pt x="0" y="304800"/>
                  </a:moveTo>
                  <a:cubicBezTo>
                    <a:pt x="0" y="136525"/>
                    <a:pt x="136525" y="0"/>
                    <a:pt x="304800" y="0"/>
                  </a:cubicBezTo>
                  <a:lnTo>
                    <a:pt x="13868400" y="0"/>
                  </a:lnTo>
                  <a:cubicBezTo>
                    <a:pt x="14036802" y="0"/>
                    <a:pt x="14173200" y="136525"/>
                    <a:pt x="14173200" y="304800"/>
                  </a:cubicBezTo>
                  <a:lnTo>
                    <a:pt x="14173200" y="3851275"/>
                  </a:lnTo>
                  <a:cubicBezTo>
                    <a:pt x="14173200" y="4019677"/>
                    <a:pt x="14036675" y="4156075"/>
                    <a:pt x="13868400" y="4156075"/>
                  </a:cubicBezTo>
                  <a:lnTo>
                    <a:pt x="304800" y="4156075"/>
                  </a:lnTo>
                  <a:cubicBezTo>
                    <a:pt x="136398" y="4156075"/>
                    <a:pt x="0" y="4019550"/>
                    <a:pt x="0" y="3851275"/>
                  </a:cubicBezTo>
                  <a:close/>
                </a:path>
              </a:pathLst>
            </a:custGeom>
            <a:solidFill>
              <a:srgbClr val="C42D29"/>
            </a:solidFill>
          </p:spPr>
        </p:sp>
      </p:grpSp>
      <p:sp>
        <p:nvSpPr>
          <p:cNvPr name="TextBox 28" id="28"/>
          <p:cNvSpPr txBox="true"/>
          <p:nvPr/>
        </p:nvSpPr>
        <p:spPr>
          <a:xfrm rot="0">
            <a:off x="6705600" y="4972650"/>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decompress now</a:t>
            </a:r>
          </a:p>
        </p:txBody>
      </p:sp>
      <p:sp>
        <p:nvSpPr>
          <p:cNvPr name="TextBox 29" id="29"/>
          <p:cNvSpPr txBox="true"/>
          <p:nvPr/>
        </p:nvSpPr>
        <p:spPr>
          <a:xfrm rot="0">
            <a:off x="6843141" y="5387873"/>
            <a:ext cx="10250424" cy="239702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Decompress now</a:t>
            </a:r>
            <a:r>
              <a:rPr lang="en-US" sz="1950">
                <a:solidFill>
                  <a:srgbClr val="FFFFFF"/>
                </a:solidFill>
                <a:latin typeface="DM Sans"/>
                <a:ea typeface="DM Sans"/>
                <a:cs typeface="DM Sans"/>
                <a:sym typeface="DM Sans"/>
              </a:rPr>
              <a:t>: needle ≥ 14 G at </a:t>
            </a:r>
            <a:r>
              <a:rPr lang="en-US" sz="1950" b="true">
                <a:solidFill>
                  <a:srgbClr val="FFFFFF"/>
                </a:solidFill>
                <a:latin typeface="DM Sans Bold"/>
                <a:ea typeface="DM Sans Bold"/>
                <a:cs typeface="DM Sans Bold"/>
                <a:sym typeface="DM Sans Bold"/>
              </a:rPr>
              <a:t>5th ICS AAL–MAL</a:t>
            </a:r>
            <a:r>
              <a:rPr lang="en-US" sz="1950">
                <a:solidFill>
                  <a:srgbClr val="FFFFFF"/>
                </a:solidFill>
                <a:latin typeface="DM Sans"/>
                <a:ea typeface="DM Sans"/>
                <a:cs typeface="DM Sans"/>
                <a:sym typeface="DM Sans"/>
              </a:rPr>
              <a:t> or </a:t>
            </a:r>
            <a:r>
              <a:rPr lang="en-US" sz="1950" b="true">
                <a:solidFill>
                  <a:srgbClr val="FFFFFF"/>
                </a:solidFill>
                <a:latin typeface="DM Sans Bold"/>
                <a:ea typeface="DM Sans Bold"/>
                <a:cs typeface="DM Sans Bold"/>
                <a:sym typeface="DM Sans Bold"/>
              </a:rPr>
              <a:t>2nd ICS MCL</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Needle fails / thick wall → </a:t>
            </a:r>
            <a:r>
              <a:rPr lang="en-US" sz="1950" b="true">
                <a:solidFill>
                  <a:srgbClr val="FFFFFF"/>
                </a:solidFill>
                <a:latin typeface="DM Sans Bold"/>
                <a:ea typeface="DM Sans Bold"/>
                <a:cs typeface="DM Sans Bold"/>
                <a:sym typeface="DM Sans Bold"/>
              </a:rPr>
              <a:t>finger thoracostomy</a:t>
            </a:r>
          </a:p>
          <a:p>
            <a:pPr algn="l" marL="352901" indent="-176451" lvl="1">
              <a:lnSpc>
                <a:spcPts val="2632"/>
              </a:lnSpc>
              <a:buFont typeface="Arial"/>
              <a:buChar char="•"/>
            </a:pPr>
            <a:r>
              <a:rPr lang="en-US" sz="1950">
                <a:solidFill>
                  <a:srgbClr val="FFFFFF"/>
                </a:solidFill>
                <a:latin typeface="DM Sans"/>
                <a:ea typeface="DM Sans"/>
                <a:cs typeface="DM Sans"/>
                <a:sym typeface="DM Sans"/>
              </a:rPr>
              <a:t>Always follow with </a:t>
            </a:r>
            <a:r>
              <a:rPr lang="en-US" sz="1950" b="true">
                <a:solidFill>
                  <a:srgbClr val="FFFFFF"/>
                </a:solidFill>
                <a:latin typeface="DM Sans Bold"/>
                <a:ea typeface="DM Sans Bold"/>
                <a:cs typeface="DM Sans Bold"/>
                <a:sym typeface="DM Sans Bold"/>
              </a:rPr>
              <a:t>chest tube (14 Fr)</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p. 69-76; Chapter 6 p. 89-93, Figure 6-3.</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Massive Hemothorax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Rapid blood accumulation</a:t>
              </a:r>
              <a:r>
                <a:rPr lang="en-US" sz="2100">
                  <a:solidFill>
                    <a:srgbClr val="E74B2F"/>
                  </a:solidFill>
                  <a:latin typeface="Droid Serif"/>
                  <a:ea typeface="Droid Serif"/>
                  <a:cs typeface="Droid Serif"/>
                  <a:sym typeface="Droid Serif"/>
                </a:rPr>
                <a:t> in pleural space → </a:t>
              </a:r>
              <a:r>
                <a:rPr lang="en-US" sz="2100" b="true">
                  <a:solidFill>
                    <a:srgbClr val="E74B2F"/>
                  </a:solidFill>
                  <a:latin typeface="Droid Serif Bold"/>
                  <a:ea typeface="Droid Serif Bold"/>
                  <a:cs typeface="Droid Serif Bold"/>
                  <a:sym typeface="Droid Serif Bold"/>
                </a:rPr>
                <a:t>hemorrhagic &amp; obstructive shock</a:t>
              </a:r>
            </a:p>
          </p:txBody>
        </p:sp>
      </p:grpSp>
      <p:grpSp>
        <p:nvGrpSpPr>
          <p:cNvPr name="Group 12" id="12"/>
          <p:cNvGrpSpPr/>
          <p:nvPr/>
        </p:nvGrpSpPr>
        <p:grpSpPr>
          <a:xfrm rot="0">
            <a:off x="1248156" y="1947672"/>
            <a:ext cx="4896612" cy="3668582"/>
            <a:chOff x="0" y="0"/>
            <a:chExt cx="6528816" cy="4891443"/>
          </a:xfrm>
        </p:grpSpPr>
        <p:sp>
          <p:nvSpPr>
            <p:cNvPr name="Freeform 13" id="13"/>
            <p:cNvSpPr/>
            <p:nvPr/>
          </p:nvSpPr>
          <p:spPr>
            <a:xfrm flipH="false" flipV="false" rot="0">
              <a:off x="0" y="0"/>
              <a:ext cx="6528816" cy="4891532"/>
            </a:xfrm>
            <a:custGeom>
              <a:avLst/>
              <a:gdLst/>
              <a:ahLst/>
              <a:cxnLst/>
              <a:rect r="r" b="b" t="t" l="l"/>
              <a:pathLst>
                <a:path h="4891532" w="6528816">
                  <a:moveTo>
                    <a:pt x="0" y="222377"/>
                  </a:moveTo>
                  <a:cubicBezTo>
                    <a:pt x="0" y="99568"/>
                    <a:pt x="99568" y="0"/>
                    <a:pt x="222377" y="0"/>
                  </a:cubicBezTo>
                  <a:lnTo>
                    <a:pt x="6306439" y="0"/>
                  </a:lnTo>
                  <a:cubicBezTo>
                    <a:pt x="6429248" y="0"/>
                    <a:pt x="6528816" y="99568"/>
                    <a:pt x="6528816" y="222377"/>
                  </a:cubicBezTo>
                  <a:lnTo>
                    <a:pt x="6528816" y="4669155"/>
                  </a:lnTo>
                  <a:cubicBezTo>
                    <a:pt x="6528816" y="4791964"/>
                    <a:pt x="6429248" y="4891532"/>
                    <a:pt x="6306439" y="4891532"/>
                  </a:cubicBezTo>
                  <a:lnTo>
                    <a:pt x="222377" y="4891532"/>
                  </a:lnTo>
                  <a:cubicBezTo>
                    <a:pt x="99568" y="4891405"/>
                    <a:pt x="0" y="4791964"/>
                    <a:pt x="0" y="4669155"/>
                  </a:cubicBezTo>
                  <a:close/>
                </a:path>
              </a:pathLst>
            </a:custGeom>
            <a:solidFill>
              <a:srgbClr val="FFFFFF"/>
            </a:solidFill>
          </p:spPr>
        </p:sp>
      </p:grpSp>
      <p:grpSp>
        <p:nvGrpSpPr>
          <p:cNvPr name="Group 14" id="14"/>
          <p:cNvGrpSpPr/>
          <p:nvPr/>
        </p:nvGrpSpPr>
        <p:grpSpPr>
          <a:xfrm rot="0">
            <a:off x="1330452" y="2029968"/>
            <a:ext cx="4732020" cy="3503990"/>
            <a:chOff x="0" y="0"/>
            <a:chExt cx="6309360" cy="4671987"/>
          </a:xfrm>
        </p:grpSpPr>
        <p:sp>
          <p:nvSpPr>
            <p:cNvPr name="Freeform 15" id="15" descr="Chest X-ray with a massive left hemothorax opacifying the hemithorax"/>
            <p:cNvSpPr/>
            <p:nvPr/>
          </p:nvSpPr>
          <p:spPr>
            <a:xfrm flipH="false" flipV="false" rot="0">
              <a:off x="0" y="0"/>
              <a:ext cx="6309360" cy="4671949"/>
            </a:xfrm>
            <a:custGeom>
              <a:avLst/>
              <a:gdLst/>
              <a:ahLst/>
              <a:cxnLst/>
              <a:rect r="r" b="b" t="t" l="l"/>
              <a:pathLst>
                <a:path h="4671949" w="6309360">
                  <a:moveTo>
                    <a:pt x="0" y="0"/>
                  </a:moveTo>
                  <a:lnTo>
                    <a:pt x="6309360" y="0"/>
                  </a:lnTo>
                  <a:lnTo>
                    <a:pt x="6309360" y="4671949"/>
                  </a:lnTo>
                  <a:lnTo>
                    <a:pt x="0" y="4671949"/>
                  </a:lnTo>
                  <a:lnTo>
                    <a:pt x="0" y="0"/>
                  </a:lnTo>
                  <a:close/>
                </a:path>
              </a:pathLst>
            </a:custGeom>
            <a:blipFill>
              <a:blip r:embed="rId3"/>
              <a:stretch>
                <a:fillRect l="0" t="0" r="0" b="0"/>
              </a:stretch>
            </a:blipFill>
          </p:spPr>
        </p:sp>
      </p:grpSp>
      <p:sp>
        <p:nvSpPr>
          <p:cNvPr name="TextBox 16" id="16"/>
          <p:cNvSpPr txBox="true"/>
          <p:nvPr/>
        </p:nvSpPr>
        <p:spPr>
          <a:xfrm rot="0">
            <a:off x="1062990" y="5660450"/>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CXR with massive hemothorax (Fig 6-3)</a:t>
            </a:r>
          </a:p>
        </p:txBody>
      </p:sp>
      <p:grpSp>
        <p:nvGrpSpPr>
          <p:cNvPr name="Group 17" id="17"/>
          <p:cNvGrpSpPr/>
          <p:nvPr/>
        </p:nvGrpSpPr>
        <p:grpSpPr>
          <a:xfrm rot="0">
            <a:off x="6438900" y="1882083"/>
            <a:ext cx="10629900" cy="2114255"/>
            <a:chOff x="0" y="0"/>
            <a:chExt cx="14173200" cy="2819006"/>
          </a:xfrm>
        </p:grpSpPr>
        <p:sp>
          <p:nvSpPr>
            <p:cNvPr name="Freeform 18" id="18"/>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19" id="19"/>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0" id="20"/>
          <p:cNvSpPr txBox="true"/>
          <p:nvPr/>
        </p:nvSpPr>
        <p:spPr>
          <a:xfrm rot="0">
            <a:off x="6843141" y="2449716"/>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 Breath sounds + hemorrhagic shock</a:t>
            </a:r>
            <a:r>
              <a:rPr lang="en-US" sz="1950">
                <a:solidFill>
                  <a:srgbClr val="1F1210"/>
                </a:solidFill>
                <a:latin typeface="DM Sans"/>
                <a:ea typeface="DM Sans"/>
                <a:cs typeface="DM Sans"/>
                <a:sym typeface="DM Sans"/>
              </a:rPr>
              <a:t>, flat neck veins</a:t>
            </a:r>
          </a:p>
          <a:p>
            <a:pPr algn="l" marL="352901" indent="-176451" lvl="1">
              <a:lnSpc>
                <a:spcPts val="2632"/>
              </a:lnSpc>
              <a:buFont typeface="Arial"/>
              <a:buChar char="•"/>
            </a:pPr>
            <a:r>
              <a:rPr lang="en-US" sz="1950">
                <a:solidFill>
                  <a:srgbClr val="1F1210"/>
                </a:solidFill>
                <a:latin typeface="DM Sans"/>
                <a:ea typeface="DM Sans"/>
                <a:cs typeface="DM Sans"/>
                <a:sym typeface="DM Sans"/>
              </a:rPr>
              <a:t>Confirm with </a:t>
            </a:r>
            <a:r>
              <a:rPr lang="en-US" sz="1950" b="true">
                <a:solidFill>
                  <a:srgbClr val="1F1210"/>
                </a:solidFill>
                <a:latin typeface="DM Sans Bold"/>
                <a:ea typeface="DM Sans Bold"/>
                <a:cs typeface="DM Sans Bold"/>
                <a:sym typeface="DM Sans Bold"/>
              </a:rPr>
              <a:t>CXR / eFAST</a:t>
            </a:r>
            <a:r>
              <a:rPr lang="en-US" sz="1950">
                <a:solidFill>
                  <a:srgbClr val="1F1210"/>
                </a:solidFill>
                <a:latin typeface="DM Sans"/>
                <a:ea typeface="DM Sans"/>
                <a:cs typeface="DM Sans"/>
                <a:sym typeface="DM Sans"/>
              </a:rPr>
              <a:t> or chest tube drainage</a:t>
            </a:r>
          </a:p>
        </p:txBody>
      </p:sp>
      <p:grpSp>
        <p:nvGrpSpPr>
          <p:cNvPr name="Group 21" id="21"/>
          <p:cNvGrpSpPr/>
          <p:nvPr/>
        </p:nvGrpSpPr>
        <p:grpSpPr>
          <a:xfrm rot="0">
            <a:off x="6438900" y="4148738"/>
            <a:ext cx="10629900" cy="2782786"/>
            <a:chOff x="0" y="0"/>
            <a:chExt cx="14173200" cy="3710381"/>
          </a:xfrm>
        </p:grpSpPr>
        <p:sp>
          <p:nvSpPr>
            <p:cNvPr name="Freeform 22" id="22"/>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3" id="23"/>
          <p:cNvSpPr txBox="true"/>
          <p:nvPr/>
        </p:nvSpPr>
        <p:spPr>
          <a:xfrm rot="0">
            <a:off x="6705600" y="430113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drain + replace blood</a:t>
            </a:r>
          </a:p>
        </p:txBody>
      </p:sp>
      <p:sp>
        <p:nvSpPr>
          <p:cNvPr name="TextBox 24" id="24"/>
          <p:cNvSpPr txBox="true"/>
          <p:nvPr/>
        </p:nvSpPr>
        <p:spPr>
          <a:xfrm rot="0">
            <a:off x="6843141" y="4716361"/>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O₂ + emergency blood transfusion</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Drain: </a:t>
            </a:r>
            <a:r>
              <a:rPr lang="en-US" sz="1950" b="true">
                <a:solidFill>
                  <a:srgbClr val="FFFFFF"/>
                </a:solidFill>
                <a:latin typeface="DM Sans Bold"/>
                <a:ea typeface="DM Sans Bold"/>
                <a:cs typeface="DM Sans Bold"/>
                <a:sym typeface="DM Sans Bold"/>
              </a:rPr>
              <a:t>chest tube ≥ 24 Fr</a:t>
            </a:r>
          </a:p>
          <a:p>
            <a:pPr algn="l" marL="352901" indent="-176451" lvl="1">
              <a:lnSpc>
                <a:spcPts val="2632"/>
              </a:lnSpc>
              <a:buFont typeface="Arial"/>
              <a:buChar char="•"/>
            </a:pPr>
            <a:r>
              <a:rPr lang="en-US" sz="1950">
                <a:solidFill>
                  <a:srgbClr val="FFFFFF"/>
                </a:solidFill>
                <a:latin typeface="DM Sans"/>
                <a:ea typeface="DM Sans"/>
                <a:cs typeface="DM Sans"/>
                <a:sym typeface="DM Sans"/>
              </a:rPr>
              <a:t>Surgery guided by </a:t>
            </a:r>
            <a:r>
              <a:rPr lang="en-US" sz="1950" b="true">
                <a:solidFill>
                  <a:srgbClr val="FFFFFF"/>
                </a:solidFill>
                <a:latin typeface="DM Sans Bold"/>
                <a:ea typeface="DM Sans Bold"/>
                <a:cs typeface="DM Sans Bold"/>
                <a:sym typeface="DM Sans Bold"/>
              </a:rPr>
              <a:t>physiology</a:t>
            </a:r>
            <a:r>
              <a:rPr lang="en-US" sz="1950">
                <a:solidFill>
                  <a:srgbClr val="FFFFFF"/>
                </a:solidFill>
                <a:latin typeface="DM Sans"/>
                <a:ea typeface="DM Sans"/>
                <a:cs typeface="DM Sans"/>
                <a:sym typeface="DM Sans"/>
              </a:rPr>
              <a:t> (ongoing bleeding / shock), not tube output alone</a:t>
            </a:r>
          </a:p>
        </p:txBody>
      </p:sp>
      <p:grpSp>
        <p:nvGrpSpPr>
          <p:cNvPr name="Group 25" id="25"/>
          <p:cNvGrpSpPr/>
          <p:nvPr/>
        </p:nvGrpSpPr>
        <p:grpSpPr>
          <a:xfrm rot="0">
            <a:off x="0" y="164592"/>
            <a:ext cx="754380" cy="384048"/>
            <a:chOff x="0" y="0"/>
            <a:chExt cx="1005840" cy="512064"/>
          </a:xfrm>
        </p:grpSpPr>
        <p:sp>
          <p:nvSpPr>
            <p:cNvPr name="Freeform 26" id="26"/>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7" id="27"/>
          <p:cNvGrpSpPr/>
          <p:nvPr/>
        </p:nvGrpSpPr>
        <p:grpSpPr>
          <a:xfrm rot="0">
            <a:off x="932688"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193292"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453896"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714500"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1975104"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235708"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9" id="39"/>
          <p:cNvGrpSpPr/>
          <p:nvPr/>
        </p:nvGrpSpPr>
        <p:grpSpPr>
          <a:xfrm rot="0">
            <a:off x="2496312" y="288036"/>
            <a:ext cx="137160" cy="137160"/>
            <a:chOff x="0" y="0"/>
            <a:chExt cx="182880" cy="182880"/>
          </a:xfrm>
        </p:grpSpPr>
        <p:sp>
          <p:nvSpPr>
            <p:cNvPr name="Freeform 40" id="4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5-4. p. 68-77.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Simple &amp; Occult Pneumothorax</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Pleural air</a:t>
              </a:r>
              <a:r>
                <a:rPr lang="en-US" sz="2100">
                  <a:solidFill>
                    <a:srgbClr val="E74B2F"/>
                  </a:solidFill>
                  <a:latin typeface="Droid Serif"/>
                  <a:ea typeface="Droid Serif"/>
                  <a:cs typeface="Droid Serif"/>
                  <a:sym typeface="Droid Serif"/>
                </a:rPr>
                <a:t> collapsing lung </a:t>
              </a:r>
              <a:r>
                <a:rPr lang="en-US" sz="2100" b="true">
                  <a:solidFill>
                    <a:srgbClr val="E74B2F"/>
                  </a:solidFill>
                  <a:latin typeface="Droid Serif Bold"/>
                  <a:ea typeface="Droid Serif Bold"/>
                  <a:cs typeface="Droid Serif Bold"/>
                  <a:sym typeface="Droid Serif Bold"/>
                </a:rPr>
                <a:t>without</a:t>
              </a:r>
              <a:r>
                <a:rPr lang="en-US" sz="2100">
                  <a:solidFill>
                    <a:srgbClr val="E74B2F"/>
                  </a:solidFill>
                  <a:latin typeface="Droid Serif"/>
                  <a:ea typeface="Droid Serif"/>
                  <a:cs typeface="Droid Serif"/>
                  <a:sym typeface="Droid Serif"/>
                </a:rPr>
                <a:t> mediastinal shift or hypotension</a:t>
              </a:r>
            </a:p>
          </p:txBody>
        </p:sp>
      </p:grpSp>
      <p:grpSp>
        <p:nvGrpSpPr>
          <p:cNvPr name="Group 12" id="12"/>
          <p:cNvGrpSpPr/>
          <p:nvPr/>
        </p:nvGrpSpPr>
        <p:grpSpPr>
          <a:xfrm rot="0">
            <a:off x="1591056" y="2270522"/>
            <a:ext cx="4210812" cy="2551176"/>
            <a:chOff x="0" y="0"/>
            <a:chExt cx="5614416" cy="3401568"/>
          </a:xfrm>
        </p:grpSpPr>
        <p:sp>
          <p:nvSpPr>
            <p:cNvPr name="Freeform 13" id="13"/>
            <p:cNvSpPr/>
            <p:nvPr/>
          </p:nvSpPr>
          <p:spPr>
            <a:xfrm flipH="false" flipV="false" rot="0">
              <a:off x="0" y="0"/>
              <a:ext cx="5614416" cy="3401568"/>
            </a:xfrm>
            <a:custGeom>
              <a:avLst/>
              <a:gdLst/>
              <a:ahLst/>
              <a:cxnLst/>
              <a:rect r="r" b="b" t="t" l="l"/>
              <a:pathLst>
                <a:path h="3401568" w="5614416">
                  <a:moveTo>
                    <a:pt x="0" y="266827"/>
                  </a:moveTo>
                  <a:cubicBezTo>
                    <a:pt x="0" y="119507"/>
                    <a:pt x="119507" y="0"/>
                    <a:pt x="266827" y="0"/>
                  </a:cubicBezTo>
                  <a:lnTo>
                    <a:pt x="5347589" y="0"/>
                  </a:lnTo>
                  <a:cubicBezTo>
                    <a:pt x="5494909" y="0"/>
                    <a:pt x="5614416" y="119507"/>
                    <a:pt x="5614416" y="266827"/>
                  </a:cubicBezTo>
                  <a:lnTo>
                    <a:pt x="5614416" y="3134741"/>
                  </a:lnTo>
                  <a:cubicBezTo>
                    <a:pt x="5614416" y="3282061"/>
                    <a:pt x="5494909" y="3401568"/>
                    <a:pt x="5347589"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659636" y="2339102"/>
            <a:ext cx="4073652" cy="2414016"/>
            <a:chOff x="0" y="0"/>
            <a:chExt cx="5431536" cy="3218688"/>
          </a:xfrm>
        </p:grpSpPr>
        <p:sp>
          <p:nvSpPr>
            <p:cNvPr name="Freeform 15" id="15" descr="Diagram of a simple pneumothorax: air between visceral and parietal pleura with a collapsed lung"/>
            <p:cNvSpPr/>
            <p:nvPr/>
          </p:nvSpPr>
          <p:spPr>
            <a:xfrm flipH="false" flipV="false" rot="0">
              <a:off x="0" y="0"/>
              <a:ext cx="5431536" cy="3218688"/>
            </a:xfrm>
            <a:custGeom>
              <a:avLst/>
              <a:gdLst/>
              <a:ahLst/>
              <a:cxnLst/>
              <a:rect r="r" b="b" t="t" l="l"/>
              <a:pathLst>
                <a:path h="3218688" w="5431536">
                  <a:moveTo>
                    <a:pt x="0" y="0"/>
                  </a:moveTo>
                  <a:lnTo>
                    <a:pt x="5431536" y="0"/>
                  </a:lnTo>
                  <a:lnTo>
                    <a:pt x="5431536"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83846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Air between the pleurae (Fig 5-4A)</a:t>
            </a:r>
          </a:p>
        </p:txBody>
      </p:sp>
      <p:grpSp>
        <p:nvGrpSpPr>
          <p:cNvPr name="Group 17" id="17"/>
          <p:cNvGrpSpPr/>
          <p:nvPr/>
        </p:nvGrpSpPr>
        <p:grpSpPr>
          <a:xfrm rot="0">
            <a:off x="2133171" y="5288042"/>
            <a:ext cx="3126572" cy="2551176"/>
            <a:chOff x="0" y="0"/>
            <a:chExt cx="4168762" cy="3401568"/>
          </a:xfrm>
        </p:grpSpPr>
        <p:sp>
          <p:nvSpPr>
            <p:cNvPr name="Freeform 18" id="18"/>
            <p:cNvSpPr/>
            <p:nvPr/>
          </p:nvSpPr>
          <p:spPr>
            <a:xfrm flipH="false" flipV="false" rot="0">
              <a:off x="0" y="0"/>
              <a:ext cx="4168775" cy="3401568"/>
            </a:xfrm>
            <a:custGeom>
              <a:avLst/>
              <a:gdLst/>
              <a:ahLst/>
              <a:cxnLst/>
              <a:rect r="r" b="b" t="t" l="l"/>
              <a:pathLst>
                <a:path h="3401568" w="4168775">
                  <a:moveTo>
                    <a:pt x="0" y="266827"/>
                  </a:moveTo>
                  <a:cubicBezTo>
                    <a:pt x="0" y="119507"/>
                    <a:pt x="119507" y="0"/>
                    <a:pt x="266827" y="0"/>
                  </a:cubicBezTo>
                  <a:lnTo>
                    <a:pt x="3901948" y="0"/>
                  </a:lnTo>
                  <a:cubicBezTo>
                    <a:pt x="4049268" y="0"/>
                    <a:pt x="4168775" y="119507"/>
                    <a:pt x="4168775" y="266827"/>
                  </a:cubicBezTo>
                  <a:lnTo>
                    <a:pt x="4168775" y="3134741"/>
                  </a:lnTo>
                  <a:cubicBezTo>
                    <a:pt x="4168775" y="3282061"/>
                    <a:pt x="4049268" y="3401568"/>
                    <a:pt x="3901948"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01751" y="5356622"/>
            <a:ext cx="2989412" cy="2414016"/>
            <a:chOff x="0" y="0"/>
            <a:chExt cx="3985882" cy="3218688"/>
          </a:xfrm>
        </p:grpSpPr>
        <p:sp>
          <p:nvSpPr>
            <p:cNvPr name="Freeform 20" id="20" descr="Chest X-ray of a near-complete right pneumothorax with an arrow at the lung edge"/>
            <p:cNvSpPr/>
            <p:nvPr/>
          </p:nvSpPr>
          <p:spPr>
            <a:xfrm flipH="false" flipV="false" rot="0">
              <a:off x="0" y="0"/>
              <a:ext cx="3985895" cy="3218688"/>
            </a:xfrm>
            <a:custGeom>
              <a:avLst/>
              <a:gdLst/>
              <a:ahLst/>
              <a:cxnLst/>
              <a:rect r="r" b="b" t="t" l="l"/>
              <a:pathLst>
                <a:path h="3218688" w="3985895">
                  <a:moveTo>
                    <a:pt x="0" y="0"/>
                  </a:moveTo>
                  <a:lnTo>
                    <a:pt x="3985895" y="0"/>
                  </a:lnTo>
                  <a:lnTo>
                    <a:pt x="3985895"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85598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Near-complete right PTX, arrow = lung edge</a:t>
            </a:r>
          </a:p>
        </p:txBody>
      </p:sp>
      <p:grpSp>
        <p:nvGrpSpPr>
          <p:cNvPr name="Group 22" id="22"/>
          <p:cNvGrpSpPr/>
          <p:nvPr/>
        </p:nvGrpSpPr>
        <p:grpSpPr>
          <a:xfrm rot="0">
            <a:off x="6438900" y="2270522"/>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422922"/>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5" id="25"/>
          <p:cNvSpPr txBox="true"/>
          <p:nvPr/>
        </p:nvSpPr>
        <p:spPr>
          <a:xfrm rot="0">
            <a:off x="6843141" y="2838155"/>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 Breath sounds</a:t>
            </a:r>
            <a:r>
              <a:rPr lang="en-US" sz="1950">
                <a:solidFill>
                  <a:srgbClr val="1F1210"/>
                </a:solidFill>
                <a:latin typeface="DM Sans"/>
                <a:ea typeface="DM Sans"/>
                <a:cs typeface="DM Sans"/>
                <a:sym typeface="DM Sans"/>
              </a:rPr>
              <a:t>, dyspnea, subcutaneous air</a:t>
            </a:r>
          </a:p>
          <a:p>
            <a:pPr algn="l" marL="352901" indent="-176451" lvl="1">
              <a:lnSpc>
                <a:spcPts val="2632"/>
              </a:lnSpc>
              <a:buFont typeface="Arial"/>
              <a:buChar char="•"/>
            </a:pPr>
            <a:r>
              <a:rPr lang="en-US" sz="1950">
                <a:solidFill>
                  <a:srgbClr val="1F1210"/>
                </a:solidFill>
                <a:latin typeface="DM Sans"/>
                <a:ea typeface="DM Sans"/>
                <a:cs typeface="DM Sans"/>
                <a:sym typeface="DM Sans"/>
              </a:rPr>
              <a:t>Supine CXR may miss it — </a:t>
            </a:r>
            <a:r>
              <a:rPr lang="en-US" sz="1950" b="true">
                <a:solidFill>
                  <a:srgbClr val="1F1210"/>
                </a:solidFill>
                <a:latin typeface="DM Sans Bold"/>
                <a:ea typeface="DM Sans Bold"/>
                <a:cs typeface="DM Sans Bold"/>
                <a:sym typeface="DM Sans Bold"/>
              </a:rPr>
              <a:t>occult PTX = seen on CT only</a:t>
            </a:r>
          </a:p>
        </p:txBody>
      </p:sp>
      <p:grpSp>
        <p:nvGrpSpPr>
          <p:cNvPr name="Group 26" id="26"/>
          <p:cNvGrpSpPr/>
          <p:nvPr/>
        </p:nvGrpSpPr>
        <p:grpSpPr>
          <a:xfrm rot="0">
            <a:off x="6438900" y="4871437"/>
            <a:ext cx="10629900" cy="2114255"/>
            <a:chOff x="0" y="0"/>
            <a:chExt cx="14173200" cy="2819006"/>
          </a:xfrm>
        </p:grpSpPr>
        <p:sp>
          <p:nvSpPr>
            <p:cNvPr name="Freeform 27" id="27"/>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8" id="28"/>
          <p:cNvSpPr txBox="true"/>
          <p:nvPr/>
        </p:nvSpPr>
        <p:spPr>
          <a:xfrm rot="0">
            <a:off x="6705600" y="5023837"/>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9" id="29"/>
          <p:cNvSpPr txBox="true"/>
          <p:nvPr/>
        </p:nvSpPr>
        <p:spPr>
          <a:xfrm rot="0">
            <a:off x="6843141" y="5439070"/>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Symptomatic / CXR-visible → </a:t>
            </a:r>
            <a:r>
              <a:rPr lang="en-US" sz="1950" b="true">
                <a:solidFill>
                  <a:srgbClr val="FFFFFF"/>
                </a:solidFill>
                <a:latin typeface="DM Sans Bold"/>
                <a:ea typeface="DM Sans Bold"/>
                <a:cs typeface="DM Sans Bold"/>
                <a:sym typeface="DM Sans Bold"/>
              </a:rPr>
              <a:t>14 Fr chest tube</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Small occult (&lt; 3.5 cm on CT) → may </a:t>
            </a:r>
            <a:r>
              <a:rPr lang="en-US" sz="1950" b="true">
                <a:solidFill>
                  <a:srgbClr val="FFFFFF"/>
                </a:solidFill>
                <a:latin typeface="DM Sans Bold"/>
                <a:ea typeface="DM Sans Bold"/>
                <a:cs typeface="DM Sans Bold"/>
                <a:sym typeface="DM Sans Bold"/>
              </a:rPr>
              <a:t>observe</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Chest tube before PPV or air transfer</a:t>
            </a:r>
          </a:p>
        </p:txBody>
      </p:sp>
      <p:sp>
        <p:nvSpPr>
          <p:cNvPr id="917" name="Card 917"/>
          <p:cNvSpPr/>
          <p:nvPr/>
        </p:nvSpPr>
        <p:spPr>
          <a:xfrm>
            <a:off x="6437376" y="7178040"/>
            <a:ext cx="10625328" cy="1417320"/>
          </a:xfrm>
          <a:prstGeom prst="roundRect">
            <a:avLst>
              <a:gd name="adj" fmla="val 12000"/>
            </a:avLst>
          </a:prstGeom>
          <a:solidFill>
            <a:srgbClr val="FFE0D9"/>
          </a:solidFill>
          <a:ln>
            <a:noFill/>
          </a:ln>
        </p:spPr>
        <p:txBody>
          <a:bodyPr/>
          <a:lstStyle/>
          <a:p>
            <a:endParaRPr lang="en-US"/>
          </a:p>
        </p:txBody>
      </p:sp>
      <p:sp>
        <p:nvSpPr>
          <p:cNvPr id="918" name="TextBox 918"/>
          <p:cNvSpPr txBox="1"/>
          <p:nvPr/>
        </p:nvSpPr>
        <p:spPr>
          <a:xfrm>
            <a:off x="6437376" y="7178040"/>
            <a:ext cx="10625328" cy="1417320"/>
          </a:xfrm>
          <a:prstGeom prst="rect">
            <a:avLst/>
          </a:prstGeom>
          <a:noFill/>
        </p:spPr>
        <p:txBody>
          <a:bodyPr wrap="square" lIns="228600" tIns="228600" rIns="228600" bIns="228600" anchor="ctr"/>
          <a:lstStyle/>
          <a:p>
            <a:pPr algn="l">
              <a:lnSpc>
                <a:spcPct val="100000"/>
              </a:lnSpc>
              <a:spcAft>
                <a:spcPts val="200"/>
              </a:spcAft>
              <a:buNone/>
            </a:pPr>
            <a:r>
              <a:rPr lang="en-US" sz="2000" b="1">
                <a:solidFill>
                  <a:srgbClr val="C42D29"/>
                </a:solidFill>
                <a:latin typeface="DM Sans Bold"/>
                <a:ea typeface="DM Sans Bold"/>
                <a:cs typeface="DM Sans Bold"/>
                <a:sym typeface="DM Sans Bold"/>
              </a:rPr>
              <a:t xml:space="preserve">⚠ Positive-pressure ventilation</a:t>
            </a:r>
            <a:r>
              <a:rPr lang="en-US" sz="2000">
                <a:solidFill>
                  <a:srgbClr val="C42D29"/>
                </a:solidFill>
                <a:latin typeface="DM Sans"/>
                <a:ea typeface="DM Sans"/>
                <a:cs typeface="DM Sans"/>
                <a:sym typeface="DM Sans"/>
              </a:rPr>
              <a:t xml:space="preserve"> (bagging / ventilator) can rapidly convert </a:t>
            </a:r>
            <a:r>
              <a:rPr lang="en-US" sz="2000" b="1">
                <a:solidFill>
                  <a:srgbClr val="C42D29"/>
                </a:solidFill>
                <a:latin typeface="DM Sans Bold"/>
                <a:ea typeface="DM Sans Bold"/>
                <a:cs typeface="DM Sans Bold"/>
                <a:sym typeface="DM Sans Bold"/>
              </a:rPr>
              <a:t xml:space="preserve">simple → tension PTX</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5-7. p. 70-76.</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Flail Chest &amp; Rib Fractures</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txBody>
            <a:bodyPr/>
            <a:p/>
          </p:txBody>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Radiographic</a:t>
              </a:r>
              <a:r>
                <a:rPr lang="en-US" sz="2100">
                  <a:solidFill>
                    <a:srgbClr val="E74B2F"/>
                  </a:solidFill>
                  <a:latin typeface="Droid Serif"/>
                  <a:ea typeface="Droid Serif"/>
                  <a:cs typeface="Droid Serif"/>
                  <a:sym typeface="Droid Serif"/>
                </a:rPr>
                <a:t>: ≥ 2 ribs broken in ≥ 2 places · </a:t>
              </a:r>
              <a:r>
                <a:rPr lang="en-US" sz="2100" b="true">
                  <a:solidFill>
                    <a:srgbClr val="E74B2F"/>
                  </a:solidFill>
                  <a:latin typeface="Droid Serif Bold"/>
                  <a:ea typeface="Droid Serif Bold"/>
                  <a:cs typeface="Droid Serif Bold"/>
                  <a:sym typeface="Droid Serif Bold"/>
                </a:rPr>
                <a:t>Clinical</a:t>
              </a:r>
              <a:r>
                <a:rPr lang="en-US" sz="2100">
                  <a:solidFill>
                    <a:srgbClr val="E74B2F"/>
                  </a:solidFill>
                  <a:latin typeface="Droid Serif"/>
                  <a:ea typeface="Droid Serif"/>
                  <a:cs typeface="Droid Serif"/>
                  <a:sym typeface="Droid Serif"/>
                </a:rPr>
                <a:t>: paradoxical movement</a:t>
              </a:r>
            </a:p>
          </p:txBody>
        </p:sp>
      </p:grpSp>
      <p:grpSp>
        <p:nvGrpSpPr>
          <p:cNvPr name="Group 12" id="12"/>
          <p:cNvGrpSpPr/>
          <p:nvPr/>
        </p:nvGrpSpPr>
        <p:grpSpPr>
          <a:xfrm rot="0">
            <a:off x="1346473" y="1947672"/>
            <a:ext cx="4699978" cy="2551176"/>
            <a:chOff x="0" y="0"/>
            <a:chExt cx="6266637" cy="3401568"/>
          </a:xfrm>
        </p:grpSpPr>
        <p:sp>
          <p:nvSpPr>
            <p:cNvPr name="Freeform 13" id="13"/>
            <p:cNvSpPr/>
            <p:nvPr/>
          </p:nvSpPr>
          <p:spPr>
            <a:xfrm flipH="false" flipV="false" rot="0">
              <a:off x="0" y="0"/>
              <a:ext cx="6266688" cy="3401568"/>
            </a:xfrm>
            <a:custGeom>
              <a:avLst/>
              <a:gdLst/>
              <a:ahLst/>
              <a:cxnLst/>
              <a:rect r="r" b="b" t="t" l="l"/>
              <a:pathLst>
                <a:path h="3401568" w="6266688">
                  <a:moveTo>
                    <a:pt x="0" y="266827"/>
                  </a:moveTo>
                  <a:cubicBezTo>
                    <a:pt x="0" y="119507"/>
                    <a:pt x="119507" y="0"/>
                    <a:pt x="266827" y="0"/>
                  </a:cubicBezTo>
                  <a:lnTo>
                    <a:pt x="5999861" y="0"/>
                  </a:lnTo>
                  <a:cubicBezTo>
                    <a:pt x="6147181" y="0"/>
                    <a:pt x="6266688" y="119507"/>
                    <a:pt x="6266688" y="266827"/>
                  </a:cubicBezTo>
                  <a:lnTo>
                    <a:pt x="6266688" y="3134741"/>
                  </a:lnTo>
                  <a:cubicBezTo>
                    <a:pt x="6266688" y="3282061"/>
                    <a:pt x="6147181" y="3401568"/>
                    <a:pt x="5999861"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415053" y="2016252"/>
            <a:ext cx="4562818" cy="2414016"/>
            <a:chOff x="0" y="0"/>
            <a:chExt cx="6083757" cy="3218688"/>
          </a:xfrm>
        </p:grpSpPr>
        <p:sp>
          <p:nvSpPr>
            <p:cNvPr name="Freeform 15" id="15" descr="Flail segment moving inward on inspiration and outward on expiration"/>
            <p:cNvSpPr/>
            <p:nvPr/>
          </p:nvSpPr>
          <p:spPr>
            <a:xfrm flipH="false" flipV="false" rot="0">
              <a:off x="0" y="0"/>
              <a:ext cx="6083808" cy="3218688"/>
            </a:xfrm>
            <a:custGeom>
              <a:avLst/>
              <a:gdLst/>
              <a:ahLst/>
              <a:cxnLst/>
              <a:rect r="r" b="b" t="t" l="l"/>
              <a:pathLst>
                <a:path h="3218688" w="6083808">
                  <a:moveTo>
                    <a:pt x="0" y="0"/>
                  </a:moveTo>
                  <a:lnTo>
                    <a:pt x="6083808" y="0"/>
                  </a:lnTo>
                  <a:lnTo>
                    <a:pt x="6083808" y="3218688"/>
                  </a:lnTo>
                  <a:lnTo>
                    <a:pt x="0" y="3218688"/>
                  </a:lnTo>
                  <a:lnTo>
                    <a:pt x="0" y="0"/>
                  </a:lnTo>
                  <a:close/>
                </a:path>
              </a:pathLst>
            </a:custGeom>
            <a:blipFill>
              <a:blip r:embed="rId3"/>
              <a:stretch>
                <a:fillRect l="0" t="0" r="0"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Paradoxical movement (Fig 5-7A)</a:t>
            </a:r>
          </a:p>
        </p:txBody>
      </p:sp>
      <p:grpSp>
        <p:nvGrpSpPr>
          <p:cNvPr name="Group 17" id="17"/>
          <p:cNvGrpSpPr/>
          <p:nvPr/>
        </p:nvGrpSpPr>
        <p:grpSpPr>
          <a:xfrm rot="0">
            <a:off x="2175139" y="4965192"/>
            <a:ext cx="3042647" cy="2551176"/>
            <a:chOff x="0" y="0"/>
            <a:chExt cx="4056863" cy="3401568"/>
          </a:xfrm>
        </p:grpSpPr>
        <p:sp>
          <p:nvSpPr>
            <p:cNvPr name="Freeform 18" id="18"/>
            <p:cNvSpPr/>
            <p:nvPr/>
          </p:nvSpPr>
          <p:spPr>
            <a:xfrm flipH="false" flipV="false" rot="0">
              <a:off x="0" y="0"/>
              <a:ext cx="4056888" cy="3401568"/>
            </a:xfrm>
            <a:custGeom>
              <a:avLst/>
              <a:gdLst/>
              <a:ahLst/>
              <a:cxnLst/>
              <a:rect r="r" b="b" t="t" l="l"/>
              <a:pathLst>
                <a:path h="3401568" w="4056888">
                  <a:moveTo>
                    <a:pt x="0" y="266827"/>
                  </a:moveTo>
                  <a:cubicBezTo>
                    <a:pt x="0" y="119507"/>
                    <a:pt x="119507" y="0"/>
                    <a:pt x="266827" y="0"/>
                  </a:cubicBezTo>
                  <a:lnTo>
                    <a:pt x="3790061" y="0"/>
                  </a:lnTo>
                  <a:cubicBezTo>
                    <a:pt x="3937381" y="0"/>
                    <a:pt x="4056888" y="119507"/>
                    <a:pt x="4056888" y="266827"/>
                  </a:cubicBezTo>
                  <a:lnTo>
                    <a:pt x="4056888" y="3134741"/>
                  </a:lnTo>
                  <a:cubicBezTo>
                    <a:pt x="4056888" y="3282061"/>
                    <a:pt x="3937381" y="3401568"/>
                    <a:pt x="3790061"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243719" y="5033772"/>
            <a:ext cx="2905487" cy="2414016"/>
            <a:chOff x="0" y="0"/>
            <a:chExt cx="3873983" cy="3218688"/>
          </a:xfrm>
        </p:grpSpPr>
        <p:sp>
          <p:nvSpPr>
            <p:cNvPr name="Freeform 20" id="20" descr="Chest X-ray with multiple rib fractures and pulmonary contusion"/>
            <p:cNvSpPr/>
            <p:nvPr/>
          </p:nvSpPr>
          <p:spPr>
            <a:xfrm flipH="false" flipV="false" rot="0">
              <a:off x="0" y="0"/>
              <a:ext cx="3874008" cy="3218688"/>
            </a:xfrm>
            <a:custGeom>
              <a:avLst/>
              <a:gdLst/>
              <a:ahLst/>
              <a:cxnLst/>
              <a:rect r="r" b="b" t="t" l="l"/>
              <a:pathLst>
                <a:path h="3218688" w="3874008">
                  <a:moveTo>
                    <a:pt x="0" y="0"/>
                  </a:moveTo>
                  <a:lnTo>
                    <a:pt x="3874008" y="0"/>
                  </a:lnTo>
                  <a:lnTo>
                    <a:pt x="3874008"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Multiple rib fx + contusion (Fig 5-7C)</a:t>
            </a:r>
          </a:p>
        </p:txBody>
      </p:sp>
      <p:grpSp>
        <p:nvGrpSpPr>
          <p:cNvPr name="Group 22" id="22"/>
          <p:cNvGrpSpPr/>
          <p:nvPr/>
        </p:nvGrpSpPr>
        <p:grpSpPr>
          <a:xfrm rot="0">
            <a:off x="6438900" y="1859166"/>
            <a:ext cx="10629900" cy="2114255"/>
            <a:chOff x="0" y="0"/>
            <a:chExt cx="14173200" cy="2819006"/>
          </a:xfrm>
        </p:grpSpPr>
        <p:sp>
          <p:nvSpPr>
            <p:cNvPr name="Freeform 23" id="23"/>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FFF4F1"/>
            </a:solidFill>
          </p:spPr>
        </p:sp>
      </p:grpSp>
      <p:sp>
        <p:nvSpPr>
          <p:cNvPr name="TextBox 24" id="24"/>
          <p:cNvSpPr txBox="true"/>
          <p:nvPr/>
        </p:nvSpPr>
        <p:spPr>
          <a:xfrm rot="0">
            <a:off x="6705600" y="2011566"/>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5" id="25"/>
          <p:cNvSpPr txBox="true"/>
          <p:nvPr/>
        </p:nvSpPr>
        <p:spPr>
          <a:xfrm rot="0">
            <a:off x="6843141" y="2426789"/>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Paradoxical movement</a:t>
            </a:r>
            <a:r>
              <a:rPr lang="en-US" sz="1950">
                <a:solidFill>
                  <a:srgbClr val="1F1210"/>
                </a:solidFill>
                <a:latin typeface="DM Sans"/>
                <a:ea typeface="DM Sans"/>
                <a:cs typeface="DM Sans"/>
                <a:sym typeface="DM Sans"/>
              </a:rPr>
              <a:t> (≥ 2 ribs, ≥ 2 places each)</a:t>
            </a:r>
          </a:p>
          <a:p>
            <a:pPr algn="l" marL="352901" indent="-176451" lvl="1">
              <a:lnSpc>
                <a:spcPts val="2632"/>
              </a:lnSpc>
              <a:buFont typeface="Arial"/>
              <a:buChar char="•"/>
            </a:pPr>
            <a:r>
              <a:rPr lang="en-US" sz="1950">
                <a:solidFill>
                  <a:srgbClr val="1F1210"/>
                </a:solidFill>
                <a:latin typeface="DM Sans"/>
                <a:ea typeface="DM Sans"/>
                <a:cs typeface="DM Sans"/>
                <a:sym typeface="DM Sans"/>
              </a:rPr>
              <a:t>Hypoxemia is from the </a:t>
            </a:r>
            <a:r>
              <a:rPr lang="en-US" sz="1950" b="true">
                <a:solidFill>
                  <a:srgbClr val="1F1210"/>
                </a:solidFill>
                <a:latin typeface="DM Sans Bold"/>
                <a:ea typeface="DM Sans Bold"/>
                <a:cs typeface="DM Sans Bold"/>
                <a:sym typeface="DM Sans Bold"/>
              </a:rPr>
              <a:t>underlying contusion</a:t>
            </a:r>
          </a:p>
        </p:txBody>
      </p:sp>
      <p:grpSp>
        <p:nvGrpSpPr>
          <p:cNvPr name="Group 26" id="26"/>
          <p:cNvGrpSpPr/>
          <p:nvPr/>
        </p:nvGrpSpPr>
        <p:grpSpPr>
          <a:xfrm rot="0">
            <a:off x="6438900" y="4125811"/>
            <a:ext cx="10629900" cy="2782786"/>
            <a:chOff x="0" y="0"/>
            <a:chExt cx="14173200" cy="3710381"/>
          </a:xfrm>
        </p:grpSpPr>
        <p:sp>
          <p:nvSpPr>
            <p:cNvPr name="Freeform 27" id="27"/>
            <p:cNvSpPr/>
            <p:nvPr/>
          </p:nvSpPr>
          <p:spPr>
            <a:xfrm flipH="false" flipV="false" rot="0">
              <a:off x="0" y="0"/>
              <a:ext cx="14173200" cy="3710432"/>
            </a:xfrm>
            <a:custGeom>
              <a:avLst/>
              <a:gdLst/>
              <a:ahLst/>
              <a:cxnLst/>
              <a:rect r="r" b="b" t="t" l="l"/>
              <a:pathLst>
                <a:path h="3710432" w="14173200">
                  <a:moveTo>
                    <a:pt x="0" y="304800"/>
                  </a:moveTo>
                  <a:cubicBezTo>
                    <a:pt x="0" y="136525"/>
                    <a:pt x="136525" y="0"/>
                    <a:pt x="304800" y="0"/>
                  </a:cubicBezTo>
                  <a:lnTo>
                    <a:pt x="13868400" y="0"/>
                  </a:lnTo>
                  <a:cubicBezTo>
                    <a:pt x="14036802" y="0"/>
                    <a:pt x="14173200" y="136525"/>
                    <a:pt x="14173200" y="304800"/>
                  </a:cubicBezTo>
                  <a:lnTo>
                    <a:pt x="14173200" y="3405632"/>
                  </a:lnTo>
                  <a:cubicBezTo>
                    <a:pt x="14173200" y="3574034"/>
                    <a:pt x="14036675" y="3710432"/>
                    <a:pt x="13868400" y="3710432"/>
                  </a:cubicBezTo>
                  <a:lnTo>
                    <a:pt x="304800" y="3710432"/>
                  </a:lnTo>
                  <a:cubicBezTo>
                    <a:pt x="136398" y="3710432"/>
                    <a:pt x="0" y="3573907"/>
                    <a:pt x="0" y="3405632"/>
                  </a:cubicBezTo>
                  <a:close/>
                </a:path>
              </a:pathLst>
            </a:custGeom>
            <a:solidFill>
              <a:srgbClr val="C42D29"/>
            </a:solidFill>
          </p:spPr>
        </p:sp>
      </p:grpSp>
      <p:sp>
        <p:nvSpPr>
          <p:cNvPr name="TextBox 28" id="28"/>
          <p:cNvSpPr txBox="true"/>
          <p:nvPr/>
        </p:nvSpPr>
        <p:spPr>
          <a:xfrm rot="0">
            <a:off x="6705600" y="4278211"/>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 — analgesia is the treatment</a:t>
            </a:r>
          </a:p>
        </p:txBody>
      </p:sp>
      <p:sp>
        <p:nvSpPr>
          <p:cNvPr name="TextBox 29" id="29"/>
          <p:cNvSpPr txBox="true"/>
          <p:nvPr/>
        </p:nvSpPr>
        <p:spPr>
          <a:xfrm rot="0">
            <a:off x="6843141" y="4693444"/>
            <a:ext cx="10250424" cy="2062763"/>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Multimodal, opioid-sparing</a:t>
            </a:r>
            <a:r>
              <a:rPr lang="en-US" sz="1950">
                <a:solidFill>
                  <a:srgbClr val="FFFFFF"/>
                </a:solidFill>
                <a:latin typeface="DM Sans"/>
                <a:ea typeface="DM Sans"/>
                <a:cs typeface="DM Sans"/>
                <a:sym typeface="DM Sans"/>
              </a:rPr>
              <a:t> analgesia + </a:t>
            </a:r>
            <a:r>
              <a:rPr lang="en-US" sz="1950" b="true">
                <a:solidFill>
                  <a:srgbClr val="FFFFFF"/>
                </a:solidFill>
                <a:latin typeface="DM Sans Bold"/>
                <a:ea typeface="DM Sans Bold"/>
                <a:cs typeface="DM Sans Bold"/>
                <a:sym typeface="DM Sans Bold"/>
              </a:rPr>
              <a:t>regional blocks</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O₂ + pulmonary hygiene; </a:t>
            </a:r>
            <a:r>
              <a:rPr lang="en-US" sz="1950" b="true">
                <a:solidFill>
                  <a:srgbClr val="FFFFFF"/>
                </a:solidFill>
                <a:latin typeface="DM Sans Bold"/>
                <a:ea typeface="DM Sans Bold"/>
                <a:cs typeface="DM Sans Bold"/>
                <a:sym typeface="DM Sans Bold"/>
              </a:rPr>
              <a:t>intubate</a:t>
            </a:r>
            <a:r>
              <a:rPr lang="en-US" sz="1950">
                <a:solidFill>
                  <a:srgbClr val="FFFFFF"/>
                </a:solidFill>
                <a:latin typeface="DM Sans"/>
                <a:ea typeface="DM Sans"/>
                <a:cs typeface="DM Sans"/>
                <a:sym typeface="DM Sans"/>
              </a:rPr>
              <a:t> if respiratory failure</a:t>
            </a:r>
          </a:p>
          <a:p>
            <a:pPr algn="l" marL="352901" indent="-176451" lvl="1">
              <a:lnSpc>
                <a:spcPts val="2632"/>
              </a:lnSpc>
              <a:buFont typeface="Arial"/>
              <a:buChar char="•"/>
            </a:pPr>
            <a:r>
              <a:rPr lang="en-US" sz="1950">
                <a:solidFill>
                  <a:srgbClr val="FFFFFF"/>
                </a:solidFill>
                <a:latin typeface="DM Sans"/>
                <a:ea typeface="DM Sans"/>
                <a:cs typeface="DM Sans"/>
                <a:sym typeface="DM Sans"/>
              </a:rPr>
              <a:t>Surgical rib fixation (SSRF) in selected cases</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5903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4 p. 60; Chapter 5, Figure 5-9. p. 68-75.</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Pulmonary Contusion</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txBody>
            <a:bodyPr/>
            <a:p/>
          </p:txBody>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Alveolar bleeding &amp; edema</a:t>
              </a:r>
              <a:r>
                <a:rPr lang="en-US" sz="2100">
                  <a:solidFill>
                    <a:srgbClr val="E74B2F"/>
                  </a:solidFill>
                  <a:latin typeface="Droid Serif"/>
                  <a:ea typeface="Droid Serif"/>
                  <a:cs typeface="Droid Serif"/>
                  <a:sym typeface="Droid Serif"/>
                </a:rPr>
                <a:t> — </a:t>
              </a:r>
              <a:r>
                <a:rPr lang="en-US" sz="2100" b="true">
                  <a:solidFill>
                    <a:srgbClr val="E74B2F"/>
                  </a:solidFill>
                  <a:latin typeface="Droid Serif Bold"/>
                  <a:ea typeface="Droid Serif Bold"/>
                  <a:cs typeface="Droid Serif Bold"/>
                  <a:sym typeface="Droid Serif Bold"/>
                </a:rPr>
                <a:t>most common intrathoracic injury</a:t>
              </a:r>
            </a:p>
          </p:txBody>
        </p:sp>
      </p:grpSp>
      <p:grpSp>
        <p:nvGrpSpPr>
          <p:cNvPr name="Group 12" id="12"/>
          <p:cNvGrpSpPr/>
          <p:nvPr/>
        </p:nvGrpSpPr>
        <p:grpSpPr>
          <a:xfrm rot="0">
            <a:off x="1330452" y="2434076"/>
            <a:ext cx="4732020" cy="3640274"/>
            <a:chOff x="0" y="0"/>
            <a:chExt cx="6309360" cy="4853699"/>
          </a:xfrm>
        </p:grpSpPr>
        <p:sp>
          <p:nvSpPr>
            <p:cNvPr name="Freeform 13" id="13" descr="Chest X-ray showing pulmonary contusion, subcutaneous emphysema and a chest tube"/>
            <p:cNvSpPr/>
            <p:nvPr/>
          </p:nvSpPr>
          <p:spPr>
            <a:xfrm flipH="false" flipV="false" rot="0">
              <a:off x="0" y="0"/>
              <a:ext cx="6309360" cy="4853686"/>
            </a:xfrm>
            <a:custGeom>
              <a:avLst/>
              <a:gdLst/>
              <a:ahLst/>
              <a:cxnLst/>
              <a:rect r="r" b="b" t="t" l="l"/>
              <a:pathLst>
                <a:path h="4853686" w="6309360">
                  <a:moveTo>
                    <a:pt x="0" y="0"/>
                  </a:moveTo>
                  <a:lnTo>
                    <a:pt x="6309360" y="0"/>
                  </a:lnTo>
                  <a:lnTo>
                    <a:pt x="6309360" y="4853686"/>
                  </a:lnTo>
                  <a:lnTo>
                    <a:pt x="0" y="4853686"/>
                  </a:lnTo>
                  <a:lnTo>
                    <a:pt x="0" y="0"/>
                  </a:lnTo>
                  <a:close/>
                </a:path>
              </a:pathLst>
            </a:custGeom>
            <a:blipFill>
              <a:blip r:embed="rId3"/>
              <a:stretch>
                <a:fillRect l="0" t="0" r="0" b="0"/>
              </a:stretch>
            </a:blipFill>
          </p:spPr>
        </p:sp>
      </p:grpSp>
      <p:sp>
        <p:nvSpPr>
          <p:cNvPr name="TextBox 14" id="14"/>
          <p:cNvSpPr txBox="true"/>
          <p:nvPr/>
        </p:nvSpPr>
        <p:spPr>
          <a:xfrm rot="0">
            <a:off x="1062990" y="620084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CXR: contusion, subcut. air (Fig 5-9A)</a:t>
            </a:r>
          </a:p>
        </p:txBody>
      </p:sp>
      <p:grpSp>
        <p:nvGrpSpPr>
          <p:cNvPr name="Group 15" id="15"/>
          <p:cNvGrpSpPr/>
          <p:nvPr/>
        </p:nvGrpSpPr>
        <p:grpSpPr>
          <a:xfrm rot="0">
            <a:off x="6438900" y="2351780"/>
            <a:ext cx="10629900" cy="2860005"/>
            <a:chOff x="0" y="0"/>
            <a:chExt cx="14173200" cy="3264700"/>
          </a:xfrm>
        </p:grpSpPr>
        <p:sp>
          <p:nvSpPr>
            <p:cNvPr name="Freeform 16" id="16"/>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17" id="17"/>
          <p:cNvSpPr txBox="true"/>
          <p:nvPr/>
        </p:nvSpPr>
        <p:spPr>
          <a:xfrm rot="0">
            <a:off x="6705600" y="2504180"/>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18" id="18"/>
          <p:cNvSpPr txBox="true"/>
          <p:nvPr/>
        </p:nvSpPr>
        <p:spPr>
          <a:xfrm rot="0">
            <a:off x="6843141" y="2919412"/>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a:solidFill>
                  <a:srgbClr val="1F1210"/>
                </a:solidFill>
                <a:latin typeface="DM Sans"/>
                <a:ea typeface="DM Sans"/>
                <a:cs typeface="DM Sans"/>
                <a:sym typeface="DM Sans"/>
              </a:rPr>
              <a:t>Often normal at first → </a:t>
            </a:r>
            <a:r>
              <a:rPr lang="en-US" sz="1950" b="true">
                <a:solidFill>
                  <a:srgbClr val="1F1210"/>
                </a:solidFill>
                <a:latin typeface="DM Sans Bold"/>
                <a:ea typeface="DM Sans Bold"/>
                <a:cs typeface="DM Sans Bold"/>
                <a:sym typeface="DM Sans Bold"/>
              </a:rPr>
              <a:t>worsens over 24–72 h</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CT</a:t>
            </a:r>
            <a:r>
              <a:rPr lang="en-US" sz="1950">
                <a:solidFill>
                  <a:srgbClr val="1F1210"/>
                </a:solidFill>
                <a:latin typeface="DM Sans"/>
                <a:ea typeface="DM Sans"/>
                <a:cs typeface="DM Sans"/>
                <a:sym typeface="DM Sans"/>
              </a:rPr>
              <a:t> detects early; CXR changes are delayed</a:t>
            </a:r>
          </a:p>
        </p:txBody>
      </p:sp>
      <p:grpSp>
        <p:nvGrpSpPr>
          <p:cNvPr name="Group 19" id="19"/>
          <p:cNvGrpSpPr/>
          <p:nvPr/>
        </p:nvGrpSpPr>
        <p:grpSpPr>
          <a:xfrm rot="0">
            <a:off x="6438900" y="5364185"/>
            <a:ext cx="10629900" cy="2114255"/>
            <a:chOff x="0" y="0"/>
            <a:chExt cx="14173200" cy="2819006"/>
          </a:xfrm>
        </p:grpSpPr>
        <p:sp>
          <p:nvSpPr>
            <p:cNvPr name="Freeform 20" id="20"/>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1" id="21"/>
          <p:cNvSpPr txBox="true"/>
          <p:nvPr/>
        </p:nvSpPr>
        <p:spPr>
          <a:xfrm rot="0">
            <a:off x="6705600" y="5516585"/>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2" id="22"/>
          <p:cNvSpPr txBox="true"/>
          <p:nvPr/>
        </p:nvSpPr>
        <p:spPr>
          <a:xfrm rot="0">
            <a:off x="6843141" y="5931818"/>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O₂ ± ventilation</a:t>
            </a:r>
            <a:r>
              <a:rPr lang="en-US" sz="1950">
                <a:solidFill>
                  <a:srgbClr val="FFFFFF"/>
                </a:solidFill>
                <a:latin typeface="DM Sans"/>
                <a:ea typeface="DM Sans"/>
                <a:cs typeface="DM Sans"/>
                <a:sym typeface="DM Sans"/>
              </a:rPr>
              <a:t> to keep SpO₂</a:t>
            </a:r>
          </a:p>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Avoid fluid overload</a:t>
            </a:r>
          </a:p>
          <a:p>
            <a:pPr algn="l" marL="352901" indent="-176451" lvl="1">
              <a:lnSpc>
                <a:spcPts val="2632"/>
              </a:lnSpc>
              <a:buFont typeface="Arial"/>
              <a:buChar char="•"/>
            </a:pPr>
            <a:r>
              <a:rPr lang="en-US" sz="1950">
                <a:solidFill>
                  <a:srgbClr val="FFFFFF"/>
                </a:solidFill>
                <a:latin typeface="DM Sans"/>
                <a:ea typeface="DM Sans"/>
                <a:cs typeface="DM Sans"/>
                <a:sym typeface="DM Sans"/>
              </a:rPr>
              <a:t>Pain control &amp; pulmonary hygiene</a:t>
            </a:r>
          </a:p>
        </p:txBody>
      </p:sp>
      <p:grpSp>
        <p:nvGrpSpPr>
          <p:cNvPr name="Group 23" id="23"/>
          <p:cNvGrpSpPr/>
          <p:nvPr/>
        </p:nvGrpSpPr>
        <p:grpSpPr>
          <a:xfrm rot="0">
            <a:off x="0" y="164592"/>
            <a:ext cx="754380" cy="384048"/>
            <a:chOff x="0" y="0"/>
            <a:chExt cx="1005840" cy="512064"/>
          </a:xfrm>
        </p:grpSpPr>
        <p:sp>
          <p:nvSpPr>
            <p:cNvPr name="Freeform 24" id="24"/>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5" id="25"/>
          <p:cNvGrpSpPr/>
          <p:nvPr/>
        </p:nvGrpSpPr>
        <p:grpSpPr>
          <a:xfrm rot="0">
            <a:off x="932688" y="288036"/>
            <a:ext cx="137160" cy="137160"/>
            <a:chOff x="0" y="0"/>
            <a:chExt cx="182880" cy="182880"/>
          </a:xfrm>
        </p:grpSpPr>
        <p:sp>
          <p:nvSpPr>
            <p:cNvPr name="Freeform 26" id="2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7" id="27"/>
          <p:cNvGrpSpPr/>
          <p:nvPr/>
        </p:nvGrpSpPr>
        <p:grpSpPr>
          <a:xfrm rot="0">
            <a:off x="1193292"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453896"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714500"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975104"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2235708"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496312"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5-10. p. 71-77.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47625"/>
              <a:ext cx="6858000" cy="1364361"/>
            </a:xfrm>
            <a:prstGeom prst="rect">
              <a:avLst/>
            </a:prstGeom>
          </p:spPr>
          <p:txBody>
            <a:bodyPr anchor="ctr" rtlCol="false" tIns="50800" lIns="50800" bIns="50800" rIns="50800"/>
            <a:lstStyle/>
            <a:p>
              <a:pPr algn="ctr">
                <a:lnSpc>
                  <a:spcPts val="3239"/>
                </a:lnSpc>
              </a:pPr>
              <a:r>
                <a:rPr lang="en-US" sz="2475" b="true">
                  <a:solidFill>
                    <a:srgbClr val="FFFFFF"/>
                  </a:solidFill>
                  <a:latin typeface="Droid Serif Bold"/>
                  <a:ea typeface="Droid Serif Bold"/>
                  <a:cs typeface="Droid Serif Bold"/>
                  <a:sym typeface="Droid Serif Bold"/>
                </a:rPr>
                <a:t>Tracheobronchial Injury</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a:solidFill>
                    <a:srgbClr val="E74B2F"/>
                  </a:solidFill>
                  <a:latin typeface="Droid Serif"/>
                  <a:ea typeface="Droid Serif"/>
                  <a:cs typeface="Droid Serif"/>
                  <a:sym typeface="Droid Serif"/>
                </a:rPr>
                <a:t>Tear of </a:t>
              </a:r>
              <a:r>
                <a:rPr lang="en-US" sz="2100" b="true">
                  <a:solidFill>
                    <a:srgbClr val="E74B2F"/>
                  </a:solidFill>
                  <a:latin typeface="Droid Serif Bold"/>
                  <a:ea typeface="Droid Serif Bold"/>
                  <a:cs typeface="Droid Serif Bold"/>
                  <a:sym typeface="Droid Serif Bold"/>
                </a:rPr>
                <a:t>trachea or main bronchus</a:t>
              </a:r>
              <a:r>
                <a:rPr lang="en-US" sz="2100">
                  <a:solidFill>
                    <a:srgbClr val="E74B2F"/>
                  </a:solidFill>
                  <a:latin typeface="Droid Serif"/>
                  <a:ea typeface="Droid Serif"/>
                  <a:cs typeface="Droid Serif"/>
                  <a:sym typeface="Droid Serif"/>
                </a:rPr>
                <a:t> (most within </a:t>
              </a:r>
              <a:r>
                <a:rPr lang="en-US" sz="2100" b="true">
                  <a:solidFill>
                    <a:srgbClr val="E74B2F"/>
                  </a:solidFill>
                  <a:latin typeface="Droid Serif Bold"/>
                  <a:ea typeface="Droid Serif Bold"/>
                  <a:cs typeface="Droid Serif Bold"/>
                  <a:sym typeface="Droid Serif Bold"/>
                </a:rPr>
                <a:t>1 inch of carina</a:t>
              </a:r>
              <a:r>
                <a:rPr lang="en-US" sz="2100">
                  <a:solidFill>
                    <a:srgbClr val="E74B2F"/>
                  </a:solidFill>
                  <a:latin typeface="Droid Serif"/>
                  <a:ea typeface="Droid Serif"/>
                  <a:cs typeface="Droid Serif"/>
                  <a:sym typeface="Droid Serif"/>
                </a:rPr>
                <a:t>)</a:t>
              </a:r>
            </a:p>
          </p:txBody>
        </p:sp>
      </p:grpSp>
      <p:grpSp>
        <p:nvGrpSpPr>
          <p:cNvPr name="Group 12" id="12"/>
          <p:cNvGrpSpPr/>
          <p:nvPr/>
        </p:nvGrpSpPr>
        <p:grpSpPr>
          <a:xfrm rot="0">
            <a:off x="1248156" y="1947672"/>
            <a:ext cx="4896612" cy="4062441"/>
            <a:chOff x="0" y="0"/>
            <a:chExt cx="6528816" cy="5416588"/>
          </a:xfrm>
        </p:grpSpPr>
        <p:sp>
          <p:nvSpPr>
            <p:cNvPr name="Freeform 13" id="13"/>
            <p:cNvSpPr/>
            <p:nvPr/>
          </p:nvSpPr>
          <p:spPr>
            <a:xfrm flipH="false" flipV="false" rot="0">
              <a:off x="0" y="0"/>
              <a:ext cx="6528816" cy="5416550"/>
            </a:xfrm>
            <a:custGeom>
              <a:avLst/>
              <a:gdLst/>
              <a:ahLst/>
              <a:cxnLst/>
              <a:rect r="r" b="b" t="t" l="l"/>
              <a:pathLst>
                <a:path h="5416550" w="6528816">
                  <a:moveTo>
                    <a:pt x="0" y="246126"/>
                  </a:moveTo>
                  <a:cubicBezTo>
                    <a:pt x="0" y="110236"/>
                    <a:pt x="110236" y="0"/>
                    <a:pt x="246126" y="0"/>
                  </a:cubicBezTo>
                  <a:lnTo>
                    <a:pt x="6282690" y="0"/>
                  </a:lnTo>
                  <a:cubicBezTo>
                    <a:pt x="6418707" y="0"/>
                    <a:pt x="6528816" y="110236"/>
                    <a:pt x="6528816" y="246126"/>
                  </a:cubicBezTo>
                  <a:lnTo>
                    <a:pt x="6528816" y="5170424"/>
                  </a:lnTo>
                  <a:cubicBezTo>
                    <a:pt x="6528816" y="5306441"/>
                    <a:pt x="6418580" y="5416550"/>
                    <a:pt x="6282690" y="5416550"/>
                  </a:cubicBezTo>
                  <a:lnTo>
                    <a:pt x="246126" y="5416550"/>
                  </a:lnTo>
                  <a:cubicBezTo>
                    <a:pt x="110236" y="5416550"/>
                    <a:pt x="0" y="5306314"/>
                    <a:pt x="0" y="5170424"/>
                  </a:cubicBezTo>
                  <a:close/>
                </a:path>
              </a:pathLst>
            </a:custGeom>
            <a:solidFill>
              <a:srgbClr val="FFFFFF"/>
            </a:solidFill>
          </p:spPr>
        </p:sp>
      </p:grpSp>
      <p:grpSp>
        <p:nvGrpSpPr>
          <p:cNvPr name="Group 14" id="14"/>
          <p:cNvGrpSpPr/>
          <p:nvPr/>
        </p:nvGrpSpPr>
        <p:grpSpPr>
          <a:xfrm rot="0">
            <a:off x="1330452" y="2029968"/>
            <a:ext cx="4732020" cy="3897849"/>
            <a:chOff x="0" y="0"/>
            <a:chExt cx="6309360" cy="5197132"/>
          </a:xfrm>
        </p:grpSpPr>
        <p:sp>
          <p:nvSpPr>
            <p:cNvPr name="Freeform 15" id="15" descr="Chest X-ray with massive subcutaneous emphysema outlining the chest muscles"/>
            <p:cNvSpPr/>
            <p:nvPr/>
          </p:nvSpPr>
          <p:spPr>
            <a:xfrm flipH="false" flipV="false" rot="0">
              <a:off x="0" y="0"/>
              <a:ext cx="6309360" cy="5197094"/>
            </a:xfrm>
            <a:custGeom>
              <a:avLst/>
              <a:gdLst/>
              <a:ahLst/>
              <a:cxnLst/>
              <a:rect r="r" b="b" t="t" l="l"/>
              <a:pathLst>
                <a:path h="5197094" w="6309360">
                  <a:moveTo>
                    <a:pt x="0" y="0"/>
                  </a:moveTo>
                  <a:lnTo>
                    <a:pt x="6309360" y="0"/>
                  </a:lnTo>
                  <a:lnTo>
                    <a:pt x="6309360" y="5197094"/>
                  </a:lnTo>
                  <a:lnTo>
                    <a:pt x="0" y="5197094"/>
                  </a:lnTo>
                  <a:lnTo>
                    <a:pt x="0" y="0"/>
                  </a:lnTo>
                  <a:close/>
                </a:path>
              </a:pathLst>
            </a:custGeom>
            <a:blipFill>
              <a:blip r:embed="rId3"/>
              <a:stretch>
                <a:fillRect l="0" t="0" r="0" b="0"/>
              </a:stretch>
            </a:blipFill>
          </p:spPr>
        </p:sp>
      </p:grpSp>
      <p:sp>
        <p:nvSpPr>
          <p:cNvPr name="TextBox 16" id="16"/>
          <p:cNvSpPr txBox="true"/>
          <p:nvPr/>
        </p:nvSpPr>
        <p:spPr>
          <a:xfrm rot="0">
            <a:off x="1062990" y="6054309"/>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Massive subcutaneous emphysema (Fig 5-10)</a:t>
            </a:r>
          </a:p>
        </p:txBody>
      </p:sp>
      <p:grpSp>
        <p:nvGrpSpPr>
          <p:cNvPr name="Group 17" id="17"/>
          <p:cNvGrpSpPr/>
          <p:nvPr/>
        </p:nvGrpSpPr>
        <p:grpSpPr>
          <a:xfrm rot="0">
            <a:off x="6438900" y="1859166"/>
            <a:ext cx="10629900" cy="2448525"/>
            <a:chOff x="0" y="0"/>
            <a:chExt cx="14173200" cy="3264700"/>
          </a:xfrm>
        </p:grpSpPr>
        <p:sp>
          <p:nvSpPr>
            <p:cNvPr name="Freeform 18" id="18"/>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19" id="19"/>
          <p:cNvSpPr txBox="true"/>
          <p:nvPr/>
        </p:nvSpPr>
        <p:spPr>
          <a:xfrm rot="0">
            <a:off x="6705600" y="2011566"/>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a:t>
            </a:r>
          </a:p>
        </p:txBody>
      </p:sp>
      <p:sp>
        <p:nvSpPr>
          <p:cNvPr name="TextBox 20" id="20"/>
          <p:cNvSpPr txBox="true"/>
          <p:nvPr/>
        </p:nvSpPr>
        <p:spPr>
          <a:xfrm rot="0">
            <a:off x="6843141" y="2426789"/>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Hemoptysis, subcutaneous emphysema</a:t>
            </a:r>
            <a:r>
              <a:rPr lang="en-US" sz="1950">
                <a:solidFill>
                  <a:srgbClr val="1F1210"/>
                </a:solidFill>
                <a:latin typeface="DM Sans"/>
                <a:ea typeface="DM Sans"/>
                <a:cs typeface="DM Sans"/>
                <a:sym typeface="DM Sans"/>
              </a:rPr>
              <a:t>, ± tension PTX</a:t>
            </a:r>
          </a:p>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Persistent air leak / lung not re-expanding</a:t>
            </a:r>
            <a:r>
              <a:rPr lang="en-US" sz="1950">
                <a:solidFill>
                  <a:srgbClr val="1F1210"/>
                </a:solidFill>
                <a:latin typeface="DM Sans"/>
                <a:ea typeface="DM Sans"/>
                <a:cs typeface="DM Sans"/>
                <a:sym typeface="DM Sans"/>
              </a:rPr>
              <a:t> after chest tube</a:t>
            </a:r>
          </a:p>
          <a:p>
            <a:pPr algn="l" marL="352901" indent="-176451" lvl="1">
              <a:lnSpc>
                <a:spcPts val="2632"/>
              </a:lnSpc>
              <a:buFont typeface="Arial"/>
              <a:buChar char="•"/>
            </a:pPr>
            <a:r>
              <a:rPr lang="en-US" sz="1950" b="true">
                <a:solidFill>
                  <a:srgbClr val="1F1210"/>
                </a:solidFill>
                <a:latin typeface="DM Sans Bold"/>
                <a:ea typeface="DM Sans Bold"/>
                <a:cs typeface="DM Sans Bold"/>
                <a:sym typeface="DM Sans Bold"/>
              </a:rPr>
              <a:t>Bronchoscopy</a:t>
            </a:r>
            <a:r>
              <a:rPr lang="en-US" sz="1950">
                <a:solidFill>
                  <a:srgbClr val="1F1210"/>
                </a:solidFill>
                <a:latin typeface="DM Sans"/>
                <a:ea typeface="DM Sans"/>
                <a:cs typeface="DM Sans"/>
                <a:sym typeface="DM Sans"/>
              </a:rPr>
              <a:t> confirms</a:t>
            </a:r>
          </a:p>
        </p:txBody>
      </p:sp>
      <p:grpSp>
        <p:nvGrpSpPr>
          <p:cNvPr name="Group 21" id="21"/>
          <p:cNvGrpSpPr/>
          <p:nvPr/>
        </p:nvGrpSpPr>
        <p:grpSpPr>
          <a:xfrm rot="0">
            <a:off x="6438900" y="4460081"/>
            <a:ext cx="10629900" cy="2114255"/>
            <a:chOff x="0" y="0"/>
            <a:chExt cx="14173200" cy="2819006"/>
          </a:xfrm>
        </p:grpSpPr>
        <p:sp>
          <p:nvSpPr>
            <p:cNvPr name="Freeform 22" id="22"/>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3" id="23"/>
          <p:cNvSpPr txBox="true"/>
          <p:nvPr/>
        </p:nvSpPr>
        <p:spPr>
          <a:xfrm rot="0">
            <a:off x="6705600" y="4612481"/>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4" id="24"/>
          <p:cNvSpPr txBox="true"/>
          <p:nvPr/>
        </p:nvSpPr>
        <p:spPr>
          <a:xfrm rot="0">
            <a:off x="6843141" y="5027714"/>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Secure airway</a:t>
            </a:r>
            <a:r>
              <a:rPr lang="en-US" sz="1950">
                <a:solidFill>
                  <a:srgbClr val="FFFFFF"/>
                </a:solidFill>
                <a:latin typeface="DM Sans"/>
                <a:ea typeface="DM Sans"/>
                <a:cs typeface="DM Sans"/>
                <a:sym typeface="DM Sans"/>
              </a:rPr>
              <a:t> — fiberoptic past the tear / into intact bronchus</a:t>
            </a:r>
          </a:p>
          <a:p>
            <a:pPr algn="l" marL="352901" indent="-176451" lvl="1">
              <a:lnSpc>
                <a:spcPts val="2632"/>
              </a:lnSpc>
              <a:spcAft>
                <a:spcPts val="600"/>
              </a:spcAft>
              <a:buFont typeface="Arial"/>
              <a:buChar char="•"/>
            </a:pPr>
            <a:r>
              <a:rPr lang="en-US" sz="1950">
                <a:solidFill>
                  <a:srgbClr val="FFFFFF"/>
                </a:solidFill>
                <a:latin typeface="DM Sans"/>
                <a:ea typeface="DM Sans"/>
                <a:cs typeface="DM Sans"/>
                <a:sym typeface="DM Sans"/>
              </a:rPr>
              <a:t>Chest tube (may need </a:t>
            </a:r>
            <a:r>
              <a:rPr lang="en-US" sz="1950" b="true">
                <a:solidFill>
                  <a:srgbClr val="FFFFFF"/>
                </a:solidFill>
                <a:latin typeface="DM Sans Bold"/>
                <a:ea typeface="DM Sans Bold"/>
                <a:cs typeface="DM Sans Bold"/>
                <a:sym typeface="DM Sans Bold"/>
              </a:rPr>
              <a:t>more than one</a:t>
            </a:r>
            <a:r>
              <a:rPr lang="en-US" sz="1950">
                <a:solidFill>
                  <a:srgbClr val="FFFFFF"/>
                </a:solidFill>
                <a:latin typeface="DM Sans"/>
                <a:ea typeface="DM Sans"/>
                <a:cs typeface="DM Sans"/>
                <a:sym typeface="DM Sans"/>
              </a:rPr>
              <a:t>)</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Immediate surgical consult</a:t>
            </a:r>
          </a:p>
        </p:txBody>
      </p:sp>
      <p:grpSp>
        <p:nvGrpSpPr>
          <p:cNvPr name="Group 25" id="25"/>
          <p:cNvGrpSpPr/>
          <p:nvPr/>
        </p:nvGrpSpPr>
        <p:grpSpPr>
          <a:xfrm rot="0">
            <a:off x="0" y="164592"/>
            <a:ext cx="754380" cy="384048"/>
            <a:chOff x="0" y="0"/>
            <a:chExt cx="1005840" cy="512064"/>
          </a:xfrm>
        </p:grpSpPr>
        <p:sp>
          <p:nvSpPr>
            <p:cNvPr name="Freeform 26" id="26"/>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27" id="27"/>
          <p:cNvGrpSpPr/>
          <p:nvPr/>
        </p:nvGrpSpPr>
        <p:grpSpPr>
          <a:xfrm rot="0">
            <a:off x="932688" y="288036"/>
            <a:ext cx="137160" cy="137160"/>
            <a:chOff x="0" y="0"/>
            <a:chExt cx="182880" cy="182880"/>
          </a:xfrm>
        </p:grpSpPr>
        <p:sp>
          <p:nvSpPr>
            <p:cNvPr name="Freeform 28" id="2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29" id="29"/>
          <p:cNvGrpSpPr/>
          <p:nvPr/>
        </p:nvGrpSpPr>
        <p:grpSpPr>
          <a:xfrm rot="0">
            <a:off x="1193292" y="288036"/>
            <a:ext cx="137160" cy="137160"/>
            <a:chOff x="0" y="0"/>
            <a:chExt cx="182880" cy="182880"/>
          </a:xfrm>
        </p:grpSpPr>
        <p:sp>
          <p:nvSpPr>
            <p:cNvPr name="Freeform 30" id="3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1" id="31"/>
          <p:cNvGrpSpPr/>
          <p:nvPr/>
        </p:nvGrpSpPr>
        <p:grpSpPr>
          <a:xfrm rot="0">
            <a:off x="1453896" y="288036"/>
            <a:ext cx="137160" cy="137160"/>
            <a:chOff x="0" y="0"/>
            <a:chExt cx="182880" cy="182880"/>
          </a:xfrm>
        </p:grpSpPr>
        <p:sp>
          <p:nvSpPr>
            <p:cNvPr name="Freeform 32" id="32"/>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3" id="33"/>
          <p:cNvGrpSpPr/>
          <p:nvPr/>
        </p:nvGrpSpPr>
        <p:grpSpPr>
          <a:xfrm rot="0">
            <a:off x="1714500" y="288036"/>
            <a:ext cx="137160" cy="137160"/>
            <a:chOff x="0" y="0"/>
            <a:chExt cx="182880" cy="182880"/>
          </a:xfrm>
        </p:grpSpPr>
        <p:sp>
          <p:nvSpPr>
            <p:cNvPr name="Freeform 34" id="34"/>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5" id="35"/>
          <p:cNvGrpSpPr/>
          <p:nvPr/>
        </p:nvGrpSpPr>
        <p:grpSpPr>
          <a:xfrm rot="0">
            <a:off x="1975104" y="288036"/>
            <a:ext cx="137160" cy="137160"/>
            <a:chOff x="0" y="0"/>
            <a:chExt cx="182880" cy="182880"/>
          </a:xfrm>
        </p:grpSpPr>
        <p:sp>
          <p:nvSpPr>
            <p:cNvPr name="Freeform 36" id="36"/>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7" id="37"/>
          <p:cNvGrpSpPr/>
          <p:nvPr/>
        </p:nvGrpSpPr>
        <p:grpSpPr>
          <a:xfrm rot="0">
            <a:off x="2235708" y="288036"/>
            <a:ext cx="137160" cy="137160"/>
            <a:chOff x="0" y="0"/>
            <a:chExt cx="182880" cy="182880"/>
          </a:xfrm>
        </p:grpSpPr>
        <p:sp>
          <p:nvSpPr>
            <p:cNvPr name="Freeform 38" id="38"/>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9" id="39"/>
          <p:cNvGrpSpPr/>
          <p:nvPr/>
        </p:nvGrpSpPr>
        <p:grpSpPr>
          <a:xfrm rot="0">
            <a:off x="2496312" y="288036"/>
            <a:ext cx="137160" cy="137160"/>
            <a:chOff x="0" y="0"/>
            <a:chExt cx="182880" cy="182880"/>
          </a:xfrm>
        </p:grpSpPr>
        <p:sp>
          <p:nvSpPr>
            <p:cNvPr name="Freeform 40" id="40"/>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8E3"/>
        </a:solidFill>
      </p:bgPr>
    </p:bg>
    <p:spTree>
      <p:nvGrpSpPr>
        <p:cNvPr id="1" name=""/>
        <p:cNvGrpSpPr/>
        <p:nvPr/>
      </p:nvGrpSpPr>
      <p:grpSpPr>
        <a:xfrm>
          <a:off x="0" y="0"/>
          <a:ext cx="0" cy="0"/>
          <a:chOff x="0" y="0"/>
          <a:chExt cx="0" cy="0"/>
        </a:xfrm>
      </p:grpSpPr>
      <p:grpSp>
        <p:nvGrpSpPr>
          <p:cNvPr name="Group 2" id="2"/>
          <p:cNvGrpSpPr/>
          <p:nvPr/>
        </p:nvGrpSpPr>
        <p:grpSpPr>
          <a:xfrm rot="0">
            <a:off x="0" y="9144000"/>
            <a:ext cx="18288000" cy="1143000"/>
            <a:chOff x="0" y="0"/>
            <a:chExt cx="24384000" cy="1524000"/>
          </a:xfrm>
        </p:grpSpPr>
        <p:sp>
          <p:nvSpPr>
            <p:cNvPr name="Freeform 3" id="3"/>
            <p:cNvSpPr/>
            <p:nvPr/>
          </p:nvSpPr>
          <p:spPr>
            <a:xfrm flipH="false" flipV="false" rot="0">
              <a:off x="0" y="0"/>
              <a:ext cx="24384000" cy="1524000"/>
            </a:xfrm>
            <a:custGeom>
              <a:avLst/>
              <a:gdLst/>
              <a:ahLst/>
              <a:cxnLst/>
              <a:rect r="r" b="b" t="t" l="l"/>
              <a:pathLst>
                <a:path h="1524000" w="24384000">
                  <a:moveTo>
                    <a:pt x="0" y="0"/>
                  </a:moveTo>
                  <a:lnTo>
                    <a:pt x="24384000" y="0"/>
                  </a:lnTo>
                  <a:lnTo>
                    <a:pt x="24384000" y="1524000"/>
                  </a:lnTo>
                  <a:lnTo>
                    <a:pt x="0" y="1524000"/>
                  </a:lnTo>
                  <a:close/>
                </a:path>
              </a:pathLst>
            </a:custGeom>
            <a:solidFill>
              <a:srgbClr val="E74B2F"/>
            </a:solidFill>
          </p:spPr>
        </p:sp>
      </p:grpSp>
      <p:sp>
        <p:nvSpPr>
          <p:cNvPr name="TextBox 4" id="4"/>
          <p:cNvSpPr txBox="true"/>
          <p:nvPr/>
        </p:nvSpPr>
        <p:spPr>
          <a:xfrm rot="0">
            <a:off x="609600" y="9486900"/>
            <a:ext cx="2943225" cy="468516"/>
          </a:xfrm>
          <a:prstGeom prst="rect">
            <a:avLst/>
          </a:prstGeom>
        </p:spPr>
        <p:txBody>
          <a:bodyPr anchor="t" rtlCol="false" tIns="0" lIns="0" bIns="0" rIns="0">
            <a:spAutoFit/>
          </a:bodyPr>
          <a:lstStyle/>
          <a:p>
            <a:pPr algn="l">
              <a:lnSpc>
                <a:spcPts val="2940"/>
              </a:lnSpc>
            </a:pPr>
            <a:r>
              <a:rPr lang="en-US" sz="2100">
                <a:solidFill>
                  <a:srgbClr val="FFFFFF"/>
                </a:solidFill>
                <a:latin typeface="Droid Serif"/>
                <a:ea typeface="Droid Serif"/>
                <a:cs typeface="Droid Serif"/>
                <a:sym typeface="Droid Serif"/>
              </a:rPr>
              <a:t>Breathing</a:t>
            </a:r>
          </a:p>
        </p:txBody>
      </p:sp>
      <p:sp>
        <p:nvSpPr>
          <p:cNvPr name="TextBox 5" id="5"/>
          <p:cNvSpPr txBox="true"/>
          <p:nvPr/>
        </p:nvSpPr>
        <p:spPr>
          <a:xfrm rot="0">
            <a:off x="4963668" y="9277350"/>
            <a:ext cx="12714732" cy="716166"/>
          </a:xfrm>
          <a:prstGeom prst="rect">
            <a:avLst/>
          </a:prstGeom>
        </p:spPr>
        <p:txBody>
          <a:bodyPr anchor="t" rtlCol="false" tIns="0" lIns="0" bIns="0" rIns="0">
            <a:spAutoFit/>
          </a:bodyPr>
          <a:lstStyle/>
          <a:p>
            <a:pPr algn="r">
              <a:lnSpc>
                <a:spcPts val="2520"/>
              </a:lnSpc>
            </a:pPr>
            <a:r>
              <a:rPr lang="en-US" sz="1800" i="true">
                <a:solidFill>
                  <a:srgbClr val="FFFFFF"/>
                </a:solidFill>
                <a:latin typeface="DM Sans Italics"/>
                <a:ea typeface="DM Sans Italics"/>
                <a:cs typeface="DM Sans Italics"/>
                <a:sym typeface="DM Sans Italics"/>
              </a:rPr>
              <a:t>American College of Surgeons. Advanced trauma life support (ATLS) student course manual. 11th ed. Chicago (IL): ACS; 2025. Chapter 5, Figure 5-8. p. 70-77.</a:t>
            </a:r>
          </a:p>
        </p:txBody>
      </p:sp>
      <p:grpSp>
        <p:nvGrpSpPr>
          <p:cNvPr name="Group 6" id="6"/>
          <p:cNvGrpSpPr/>
          <p:nvPr/>
        </p:nvGrpSpPr>
        <p:grpSpPr>
          <a:xfrm rot="0">
            <a:off x="1220724" y="713232"/>
            <a:ext cx="5143500" cy="987552"/>
            <a:chOff x="0" y="0"/>
            <a:chExt cx="6858000" cy="1316736"/>
          </a:xfrm>
        </p:grpSpPr>
        <p:sp>
          <p:nvSpPr>
            <p:cNvPr name="Freeform 7" id="7"/>
            <p:cNvSpPr/>
            <p:nvPr/>
          </p:nvSpPr>
          <p:spPr>
            <a:xfrm flipH="false" flipV="false" rot="0">
              <a:off x="0" y="0"/>
              <a:ext cx="6858000" cy="1316736"/>
            </a:xfrm>
            <a:custGeom>
              <a:avLst/>
              <a:gdLst/>
              <a:ahLst/>
              <a:cxnLst/>
              <a:rect r="r" b="b" t="t" l="l"/>
              <a:pathLst>
                <a:path h="1316736" w="6858000">
                  <a:moveTo>
                    <a:pt x="0" y="197485"/>
                  </a:moveTo>
                  <a:cubicBezTo>
                    <a:pt x="0" y="88392"/>
                    <a:pt x="88392" y="0"/>
                    <a:pt x="197485" y="0"/>
                  </a:cubicBezTo>
                  <a:lnTo>
                    <a:pt x="6660515" y="0"/>
                  </a:lnTo>
                  <a:cubicBezTo>
                    <a:pt x="6769608" y="0"/>
                    <a:pt x="6858000" y="88392"/>
                    <a:pt x="6858000" y="197485"/>
                  </a:cubicBezTo>
                  <a:lnTo>
                    <a:pt x="6858000" y="1119251"/>
                  </a:lnTo>
                  <a:cubicBezTo>
                    <a:pt x="6858000" y="1228344"/>
                    <a:pt x="6769608" y="1316736"/>
                    <a:pt x="6660515" y="1316736"/>
                  </a:cubicBezTo>
                  <a:lnTo>
                    <a:pt x="197485" y="1316736"/>
                  </a:lnTo>
                  <a:cubicBezTo>
                    <a:pt x="88392" y="1316736"/>
                    <a:pt x="0" y="1228344"/>
                    <a:pt x="0" y="1119251"/>
                  </a:cubicBezTo>
                  <a:close/>
                </a:path>
              </a:pathLst>
            </a:custGeom>
            <a:solidFill>
              <a:srgbClr val="E74B2F"/>
            </a:solidFill>
          </p:spPr>
        </p:sp>
        <p:sp>
          <p:nvSpPr>
            <p:cNvPr name="TextBox 8" id="8"/>
            <p:cNvSpPr txBox="true"/>
            <p:nvPr/>
          </p:nvSpPr>
          <p:spPr>
            <a:xfrm>
              <a:off x="0" y="-28575"/>
              <a:ext cx="6858000" cy="1345311"/>
            </a:xfrm>
            <a:prstGeom prst="rect">
              <a:avLst/>
            </a:prstGeom>
          </p:spPr>
          <p:txBody>
            <a:bodyPr anchor="ctr" rtlCol="false" tIns="50800" lIns="50800" bIns="50800" rIns="50800"/>
            <a:lstStyle/>
            <a:p>
              <a:pPr algn="ctr">
                <a:lnSpc>
                  <a:spcPts val="3420"/>
                </a:lnSpc>
              </a:pPr>
              <a:r>
                <a:rPr lang="en-US" sz="2700" b="true">
                  <a:solidFill>
                    <a:srgbClr val="FFFFFF"/>
                  </a:solidFill>
                  <a:latin typeface="Droid Serif Bold"/>
                  <a:ea typeface="Droid Serif Bold"/>
                  <a:cs typeface="Droid Serif Bold"/>
                  <a:sym typeface="Droid Serif Bold"/>
                </a:rPr>
                <a:t>Diaphragm Injury</a:t>
              </a:r>
            </a:p>
          </p:txBody>
        </p:sp>
      </p:grpSp>
      <p:grpSp>
        <p:nvGrpSpPr>
          <p:cNvPr name="Group 9" id="9"/>
          <p:cNvGrpSpPr/>
          <p:nvPr/>
        </p:nvGrpSpPr>
        <p:grpSpPr>
          <a:xfrm rot="0">
            <a:off x="6432804" y="713232"/>
            <a:ext cx="10629900" cy="987552"/>
            <a:chOff x="0" y="0"/>
            <a:chExt cx="14173200" cy="1316736"/>
          </a:xfrm>
        </p:grpSpPr>
        <p:sp>
          <p:nvSpPr>
            <p:cNvPr name="Freeform 10" id="10"/>
            <p:cNvSpPr/>
            <p:nvPr/>
          </p:nvSpPr>
          <p:spPr>
            <a:xfrm flipH="false" flipV="false" rot="0">
              <a:off x="0" y="0"/>
              <a:ext cx="14173200" cy="1316736"/>
            </a:xfrm>
            <a:custGeom>
              <a:avLst/>
              <a:gdLst/>
              <a:ahLst/>
              <a:cxnLst/>
              <a:rect r="r" b="b" t="t" l="l"/>
              <a:pathLst>
                <a:path h="1316736" w="14173200">
                  <a:moveTo>
                    <a:pt x="0" y="197485"/>
                  </a:moveTo>
                  <a:cubicBezTo>
                    <a:pt x="0" y="88392"/>
                    <a:pt x="88392" y="0"/>
                    <a:pt x="197485" y="0"/>
                  </a:cubicBezTo>
                  <a:lnTo>
                    <a:pt x="13975716" y="0"/>
                  </a:lnTo>
                  <a:cubicBezTo>
                    <a:pt x="14084808" y="0"/>
                    <a:pt x="14173200" y="88392"/>
                    <a:pt x="14173200" y="197485"/>
                  </a:cubicBezTo>
                  <a:lnTo>
                    <a:pt x="14173200" y="1119251"/>
                  </a:lnTo>
                  <a:cubicBezTo>
                    <a:pt x="14173200" y="1228344"/>
                    <a:pt x="14084808" y="1316736"/>
                    <a:pt x="13975716" y="1316736"/>
                  </a:cubicBezTo>
                  <a:lnTo>
                    <a:pt x="197485" y="1316736"/>
                  </a:lnTo>
                  <a:cubicBezTo>
                    <a:pt x="88392" y="1316736"/>
                    <a:pt x="0" y="1228344"/>
                    <a:pt x="0" y="1119251"/>
                  </a:cubicBezTo>
                  <a:close/>
                </a:path>
              </a:pathLst>
            </a:custGeom>
            <a:solidFill>
              <a:srgbClr val="FFDAD1"/>
            </a:solidFill>
          </p:spPr>
        </p:sp>
        <p:sp>
          <p:nvSpPr>
            <p:cNvPr name="TextBox 11" id="11"/>
            <p:cNvSpPr txBox="true"/>
            <p:nvPr/>
          </p:nvSpPr>
          <p:spPr>
            <a:xfrm>
              <a:off x="0" y="-66675"/>
              <a:ext cx="14173200" cy="1383411"/>
            </a:xfrm>
            <a:prstGeom prst="rect">
              <a:avLst/>
            </a:prstGeom>
          </p:spPr>
          <p:txBody>
            <a:bodyPr anchor="ctr" rtlCol="false" tIns="50800" lIns="228600" bIns="50800" rIns="228600"/>
            <a:lstStyle/>
            <a:p>
              <a:pPr algn="l">
                <a:lnSpc>
                  <a:spcPts val="3037"/>
                </a:lnSpc>
              </a:pPr>
              <a:r>
                <a:rPr lang="en-US" sz="2100" b="true">
                  <a:solidFill>
                    <a:srgbClr val="E74B2F"/>
                  </a:solidFill>
                  <a:latin typeface="Droid Serif Bold"/>
                  <a:ea typeface="Droid Serif Bold"/>
                  <a:cs typeface="Droid Serif Bold"/>
                  <a:sym typeface="Droid Serif Bold"/>
                </a:rPr>
                <a:t>Blunt</a:t>
              </a:r>
              <a:r>
                <a:rPr lang="en-US" sz="2100">
                  <a:solidFill>
                    <a:srgbClr val="E74B2F"/>
                  </a:solidFill>
                  <a:latin typeface="Droid Serif"/>
                  <a:ea typeface="Droid Serif"/>
                  <a:cs typeface="Droid Serif"/>
                  <a:sym typeface="Droid Serif"/>
                </a:rPr>
                <a:t> (large radial tear, </a:t>
              </a:r>
              <a:r>
                <a:rPr lang="en-US" sz="2100" b="true">
                  <a:solidFill>
                    <a:srgbClr val="E74B2F"/>
                  </a:solidFill>
                  <a:latin typeface="Droid Serif Bold"/>
                  <a:ea typeface="Droid Serif Bold"/>
                  <a:cs typeface="Droid Serif Bold"/>
                  <a:sym typeface="Droid Serif Bold"/>
                </a:rPr>
                <a:t>left &gt; right</a:t>
              </a:r>
              <a:r>
                <a:rPr lang="en-US" sz="2100">
                  <a:solidFill>
                    <a:srgbClr val="E74B2F"/>
                  </a:solidFill>
                  <a:latin typeface="Droid Serif"/>
                  <a:ea typeface="Droid Serif"/>
                  <a:cs typeface="Droid Serif"/>
                  <a:sym typeface="Droid Serif"/>
                </a:rPr>
                <a:t>) or </a:t>
              </a:r>
              <a:r>
                <a:rPr lang="en-US" sz="2100" b="true">
                  <a:solidFill>
                    <a:srgbClr val="E74B2F"/>
                  </a:solidFill>
                  <a:latin typeface="Droid Serif Bold"/>
                  <a:ea typeface="Droid Serif Bold"/>
                  <a:cs typeface="Droid Serif Bold"/>
                  <a:sym typeface="Droid Serif Bold"/>
                </a:rPr>
                <a:t>penetrating</a:t>
              </a:r>
              <a:r>
                <a:rPr lang="en-US" sz="2100">
                  <a:solidFill>
                    <a:srgbClr val="E74B2F"/>
                  </a:solidFill>
                  <a:latin typeface="Droid Serif"/>
                  <a:ea typeface="Droid Serif"/>
                  <a:cs typeface="Droid Serif"/>
                  <a:sym typeface="Droid Serif"/>
                </a:rPr>
                <a:t> (&lt; 2 cm perforation)</a:t>
              </a:r>
            </a:p>
          </p:txBody>
        </p:sp>
      </p:grpSp>
      <p:grpSp>
        <p:nvGrpSpPr>
          <p:cNvPr name="Group 12" id="12"/>
          <p:cNvGrpSpPr/>
          <p:nvPr/>
        </p:nvGrpSpPr>
        <p:grpSpPr>
          <a:xfrm rot="0">
            <a:off x="1843497" y="1947672"/>
            <a:ext cx="3705930" cy="2551176"/>
            <a:chOff x="0" y="0"/>
            <a:chExt cx="4941240" cy="3401568"/>
          </a:xfrm>
        </p:grpSpPr>
        <p:sp>
          <p:nvSpPr>
            <p:cNvPr name="Freeform 13" id="13"/>
            <p:cNvSpPr/>
            <p:nvPr/>
          </p:nvSpPr>
          <p:spPr>
            <a:xfrm flipH="false" flipV="false" rot="0">
              <a:off x="0" y="0"/>
              <a:ext cx="4941316" cy="3401568"/>
            </a:xfrm>
            <a:custGeom>
              <a:avLst/>
              <a:gdLst/>
              <a:ahLst/>
              <a:cxnLst/>
              <a:rect r="r" b="b" t="t" l="l"/>
              <a:pathLst>
                <a:path h="3401568" w="4941316">
                  <a:moveTo>
                    <a:pt x="0" y="266827"/>
                  </a:moveTo>
                  <a:cubicBezTo>
                    <a:pt x="0" y="119507"/>
                    <a:pt x="119507" y="0"/>
                    <a:pt x="266827" y="0"/>
                  </a:cubicBezTo>
                  <a:lnTo>
                    <a:pt x="4674489" y="0"/>
                  </a:lnTo>
                  <a:cubicBezTo>
                    <a:pt x="4821809" y="0"/>
                    <a:pt x="4941316" y="119507"/>
                    <a:pt x="4941316" y="266827"/>
                  </a:cubicBezTo>
                  <a:lnTo>
                    <a:pt x="4941316" y="3134741"/>
                  </a:lnTo>
                  <a:cubicBezTo>
                    <a:pt x="4941316" y="3282061"/>
                    <a:pt x="4821809" y="3401568"/>
                    <a:pt x="4674489" y="3401568"/>
                  </a:cubicBezTo>
                  <a:lnTo>
                    <a:pt x="266827" y="3401568"/>
                  </a:lnTo>
                  <a:cubicBezTo>
                    <a:pt x="119507" y="3401568"/>
                    <a:pt x="0" y="3282061"/>
                    <a:pt x="0" y="3134741"/>
                  </a:cubicBezTo>
                  <a:close/>
                </a:path>
              </a:pathLst>
            </a:custGeom>
            <a:solidFill>
              <a:srgbClr val="FFFFFF"/>
            </a:solidFill>
          </p:spPr>
        </p:sp>
      </p:grpSp>
      <p:grpSp>
        <p:nvGrpSpPr>
          <p:cNvPr name="Group 14" id="14"/>
          <p:cNvGrpSpPr/>
          <p:nvPr/>
        </p:nvGrpSpPr>
        <p:grpSpPr>
          <a:xfrm rot="0">
            <a:off x="1912077" y="2016252"/>
            <a:ext cx="3568770" cy="2414016"/>
            <a:chOff x="0" y="0"/>
            <a:chExt cx="4758360" cy="3218688"/>
          </a:xfrm>
        </p:grpSpPr>
        <p:sp>
          <p:nvSpPr>
            <p:cNvPr name="Freeform 15" id="15" descr="Diagram of a blunt diaphragm tear with abdominal contents herniating into the chest and displacing the mediastinum"/>
            <p:cNvSpPr/>
            <p:nvPr/>
          </p:nvSpPr>
          <p:spPr>
            <a:xfrm flipH="false" flipV="false" rot="0">
              <a:off x="0" y="0"/>
              <a:ext cx="4758309" cy="3218688"/>
            </a:xfrm>
            <a:custGeom>
              <a:avLst/>
              <a:gdLst/>
              <a:ahLst/>
              <a:cxnLst/>
              <a:rect r="r" b="b" t="t" l="l"/>
              <a:pathLst>
                <a:path h="3218688" w="4758309">
                  <a:moveTo>
                    <a:pt x="0" y="0"/>
                  </a:moveTo>
                  <a:lnTo>
                    <a:pt x="4758309" y="0"/>
                  </a:lnTo>
                  <a:lnTo>
                    <a:pt x="4758309" y="3218688"/>
                  </a:lnTo>
                  <a:lnTo>
                    <a:pt x="0" y="3218688"/>
                  </a:lnTo>
                  <a:lnTo>
                    <a:pt x="0" y="0"/>
                  </a:lnTo>
                  <a:close/>
                </a:path>
              </a:pathLst>
            </a:custGeom>
            <a:blipFill>
              <a:blip r:embed="rId3"/>
              <a:stretch>
                <a:fillRect l="0" t="0" r="-1" b="0"/>
              </a:stretch>
            </a:blipFill>
          </p:spPr>
        </p:sp>
      </p:grpSp>
      <p:sp>
        <p:nvSpPr>
          <p:cNvPr name="TextBox 16" id="16"/>
          <p:cNvSpPr txBox="true"/>
          <p:nvPr/>
        </p:nvSpPr>
        <p:spPr>
          <a:xfrm rot="0">
            <a:off x="1062990" y="451561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Herniation through a radial tear (Fig 5-8A)</a:t>
            </a:r>
          </a:p>
        </p:txBody>
      </p:sp>
      <p:grpSp>
        <p:nvGrpSpPr>
          <p:cNvPr name="Group 17" id="17"/>
          <p:cNvGrpSpPr/>
          <p:nvPr/>
        </p:nvGrpSpPr>
        <p:grpSpPr>
          <a:xfrm rot="0">
            <a:off x="2392956" y="4965192"/>
            <a:ext cx="2607002" cy="2551176"/>
            <a:chOff x="0" y="0"/>
            <a:chExt cx="3476003" cy="3401568"/>
          </a:xfrm>
        </p:grpSpPr>
        <p:sp>
          <p:nvSpPr>
            <p:cNvPr name="Freeform 18" id="18"/>
            <p:cNvSpPr/>
            <p:nvPr/>
          </p:nvSpPr>
          <p:spPr>
            <a:xfrm flipH="false" flipV="false" rot="0">
              <a:off x="0" y="0"/>
              <a:ext cx="3475990" cy="3401568"/>
            </a:xfrm>
            <a:custGeom>
              <a:avLst/>
              <a:gdLst/>
              <a:ahLst/>
              <a:cxnLst/>
              <a:rect r="r" b="b" t="t" l="l"/>
              <a:pathLst>
                <a:path h="3401568" w="3475990">
                  <a:moveTo>
                    <a:pt x="0" y="266827"/>
                  </a:moveTo>
                  <a:cubicBezTo>
                    <a:pt x="0" y="119507"/>
                    <a:pt x="119507" y="0"/>
                    <a:pt x="266827" y="0"/>
                  </a:cubicBezTo>
                  <a:lnTo>
                    <a:pt x="3209163" y="0"/>
                  </a:lnTo>
                  <a:cubicBezTo>
                    <a:pt x="3356483" y="0"/>
                    <a:pt x="3475990" y="119507"/>
                    <a:pt x="3475990" y="266827"/>
                  </a:cubicBezTo>
                  <a:lnTo>
                    <a:pt x="3475990" y="3134741"/>
                  </a:lnTo>
                  <a:cubicBezTo>
                    <a:pt x="3475990" y="3282061"/>
                    <a:pt x="3356483" y="3401568"/>
                    <a:pt x="3209163" y="3401568"/>
                  </a:cubicBezTo>
                  <a:lnTo>
                    <a:pt x="266827" y="3401568"/>
                  </a:lnTo>
                  <a:cubicBezTo>
                    <a:pt x="119507" y="3401568"/>
                    <a:pt x="0" y="3282061"/>
                    <a:pt x="0" y="3134741"/>
                  </a:cubicBezTo>
                  <a:close/>
                </a:path>
              </a:pathLst>
            </a:custGeom>
            <a:solidFill>
              <a:srgbClr val="FFFFFF"/>
            </a:solidFill>
          </p:spPr>
        </p:sp>
      </p:grpSp>
      <p:grpSp>
        <p:nvGrpSpPr>
          <p:cNvPr name="Group 19" id="19"/>
          <p:cNvGrpSpPr/>
          <p:nvPr/>
        </p:nvGrpSpPr>
        <p:grpSpPr>
          <a:xfrm rot="0">
            <a:off x="2461536" y="5033772"/>
            <a:ext cx="2469842" cy="2414016"/>
            <a:chOff x="0" y="0"/>
            <a:chExt cx="3293123" cy="3218688"/>
          </a:xfrm>
        </p:grpSpPr>
        <p:sp>
          <p:nvSpPr>
            <p:cNvPr name="Freeform 20" id="20" descr="Chest X-ray with the nasogastric tube coiled above the left diaphragm"/>
            <p:cNvSpPr/>
            <p:nvPr/>
          </p:nvSpPr>
          <p:spPr>
            <a:xfrm flipH="false" flipV="false" rot="0">
              <a:off x="0" y="0"/>
              <a:ext cx="3293110" cy="3218688"/>
            </a:xfrm>
            <a:custGeom>
              <a:avLst/>
              <a:gdLst/>
              <a:ahLst/>
              <a:cxnLst/>
              <a:rect r="r" b="b" t="t" l="l"/>
              <a:pathLst>
                <a:path h="3218688" w="3293110">
                  <a:moveTo>
                    <a:pt x="0" y="0"/>
                  </a:moveTo>
                  <a:lnTo>
                    <a:pt x="3293110" y="0"/>
                  </a:lnTo>
                  <a:lnTo>
                    <a:pt x="3293110" y="3218688"/>
                  </a:lnTo>
                  <a:lnTo>
                    <a:pt x="0" y="3218688"/>
                  </a:lnTo>
                  <a:lnTo>
                    <a:pt x="0" y="0"/>
                  </a:lnTo>
                  <a:close/>
                </a:path>
              </a:pathLst>
            </a:custGeom>
            <a:blipFill>
              <a:blip r:embed="rId4"/>
              <a:stretch>
                <a:fillRect l="0" t="0" r="0" b="0"/>
              </a:stretch>
            </a:blipFill>
          </p:spPr>
        </p:sp>
      </p:grpSp>
      <p:sp>
        <p:nvSpPr>
          <p:cNvPr name="TextBox 21" id="21"/>
          <p:cNvSpPr txBox="true"/>
          <p:nvPr/>
        </p:nvSpPr>
        <p:spPr>
          <a:xfrm rot="0">
            <a:off x="1062990" y="7533132"/>
            <a:ext cx="5266944" cy="477012"/>
          </a:xfrm>
          <a:prstGeom prst="rect">
            <a:avLst/>
          </a:prstGeom>
        </p:spPr>
        <p:txBody>
          <a:bodyPr anchor="t" rtlCol="false" tIns="0" lIns="0" bIns="0" rIns="0">
            <a:spAutoFit/>
          </a:bodyPr>
          <a:lstStyle/>
          <a:p>
            <a:pPr algn="ctr">
              <a:lnSpc>
                <a:spcPts val="2520"/>
              </a:lnSpc>
            </a:pPr>
            <a:r>
              <a:rPr lang="en-US" sz="1800">
                <a:solidFill>
                  <a:srgbClr val="6E3B33"/>
                </a:solidFill>
                <a:latin typeface="DM Sans"/>
                <a:ea typeface="DM Sans"/>
                <a:cs typeface="DM Sans"/>
                <a:sym typeface="DM Sans"/>
              </a:rPr>
              <a:t>NG tube above the diaphragm (Fig 5-8B)</a:t>
            </a:r>
          </a:p>
        </p:txBody>
      </p:sp>
      <p:grpSp>
        <p:nvGrpSpPr>
          <p:cNvPr name="Group 22" id="22"/>
          <p:cNvGrpSpPr/>
          <p:nvPr/>
        </p:nvGrpSpPr>
        <p:grpSpPr>
          <a:xfrm rot="0">
            <a:off x="6438900" y="1882083"/>
            <a:ext cx="10629900" cy="2448525"/>
            <a:chOff x="0" y="0"/>
            <a:chExt cx="14173200" cy="3264700"/>
          </a:xfrm>
        </p:grpSpPr>
        <p:sp>
          <p:nvSpPr>
            <p:cNvPr name="Freeform 23" id="23"/>
            <p:cNvSpPr/>
            <p:nvPr/>
          </p:nvSpPr>
          <p:spPr>
            <a:xfrm flipH="false" flipV="false" rot="0">
              <a:off x="0" y="0"/>
              <a:ext cx="14173200" cy="3264662"/>
            </a:xfrm>
            <a:custGeom>
              <a:avLst/>
              <a:gdLst/>
              <a:ahLst/>
              <a:cxnLst/>
              <a:rect r="r" b="b" t="t" l="l"/>
              <a:pathLst>
                <a:path h="3264662" w="14173200">
                  <a:moveTo>
                    <a:pt x="0" y="304800"/>
                  </a:moveTo>
                  <a:cubicBezTo>
                    <a:pt x="0" y="136398"/>
                    <a:pt x="136398" y="0"/>
                    <a:pt x="304800" y="0"/>
                  </a:cubicBezTo>
                  <a:lnTo>
                    <a:pt x="13868400" y="0"/>
                  </a:lnTo>
                  <a:cubicBezTo>
                    <a:pt x="14036675" y="0"/>
                    <a:pt x="14173200" y="136398"/>
                    <a:pt x="14173200" y="304800"/>
                  </a:cubicBezTo>
                  <a:lnTo>
                    <a:pt x="14173200" y="2959862"/>
                  </a:lnTo>
                  <a:cubicBezTo>
                    <a:pt x="14173200" y="3128137"/>
                    <a:pt x="14036802" y="3264662"/>
                    <a:pt x="13868400" y="3264662"/>
                  </a:cubicBezTo>
                  <a:lnTo>
                    <a:pt x="304800" y="3264662"/>
                  </a:lnTo>
                  <a:cubicBezTo>
                    <a:pt x="136525" y="3264662"/>
                    <a:pt x="0" y="3128264"/>
                    <a:pt x="0" y="2959862"/>
                  </a:cubicBezTo>
                  <a:close/>
                </a:path>
              </a:pathLst>
            </a:custGeom>
            <a:solidFill>
              <a:srgbClr val="FFF4F1"/>
            </a:solidFill>
          </p:spPr>
        </p:sp>
      </p:grpSp>
      <p:sp>
        <p:nvSpPr>
          <p:cNvPr name="TextBox 24" id="24"/>
          <p:cNvSpPr txBox="true"/>
          <p:nvPr/>
        </p:nvSpPr>
        <p:spPr>
          <a:xfrm rot="0">
            <a:off x="6705600" y="2034483"/>
            <a:ext cx="10399395" cy="396183"/>
          </a:xfrm>
          <a:prstGeom prst="rect">
            <a:avLst/>
          </a:prstGeom>
        </p:spPr>
        <p:txBody>
          <a:bodyPr anchor="t" rtlCol="false" tIns="0" lIns="0" bIns="0" rIns="0">
            <a:spAutoFit/>
          </a:bodyPr>
          <a:lstStyle/>
          <a:p>
            <a:pPr algn="l">
              <a:lnSpc>
                <a:spcPts val="2520"/>
              </a:lnSpc>
            </a:pPr>
            <a:r>
              <a:rPr lang="en-US" b="true" sz="1800" spc="149">
                <a:solidFill>
                  <a:srgbClr val="E74B2F"/>
                </a:solidFill>
                <a:latin typeface="DM Sans Bold"/>
                <a:ea typeface="DM Sans Bold"/>
                <a:cs typeface="DM Sans Bold"/>
                <a:sym typeface="DM Sans Bold"/>
              </a:rPr>
              <a:t>DIAGNOSIS — high suspicion</a:t>
            </a:r>
          </a:p>
        </p:txBody>
      </p:sp>
      <p:sp>
        <p:nvSpPr>
          <p:cNvPr name="TextBox 25" id="25"/>
          <p:cNvSpPr txBox="true"/>
          <p:nvPr/>
        </p:nvSpPr>
        <p:spPr>
          <a:xfrm rot="0">
            <a:off x="6843141" y="2449716"/>
            <a:ext cx="10250424" cy="172849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1F1210"/>
                </a:solidFill>
                <a:latin typeface="DM Sans Bold"/>
                <a:ea typeface="DM Sans Bold"/>
                <a:cs typeface="DM Sans Bold"/>
                <a:sym typeface="DM Sans Bold"/>
              </a:rPr>
              <a:t>Suspect</a:t>
            </a:r>
            <a:r>
              <a:rPr lang="en-US" sz="1950">
                <a:solidFill>
                  <a:srgbClr val="1F1210"/>
                </a:solidFill>
                <a:latin typeface="DM Sans"/>
                <a:ea typeface="DM Sans"/>
                <a:cs typeface="DM Sans"/>
                <a:sym typeface="DM Sans"/>
              </a:rPr>
              <a:t> in left chest / flank stab below the nipple</a:t>
            </a:r>
          </a:p>
          <a:p>
            <a:pPr algn="l" marL="352901" indent="-176451" lvl="1">
              <a:lnSpc>
                <a:spcPts val="2632"/>
              </a:lnSpc>
              <a:buFont typeface="Arial"/>
              <a:buChar char="•"/>
            </a:pPr>
            <a:r>
              <a:rPr lang="en-US" sz="1950">
                <a:solidFill>
                  <a:srgbClr val="1F1210"/>
                </a:solidFill>
                <a:latin typeface="DM Sans"/>
                <a:ea typeface="DM Sans"/>
                <a:cs typeface="DM Sans"/>
                <a:sym typeface="DM Sans"/>
              </a:rPr>
              <a:t>CXR: </a:t>
            </a:r>
            <a:r>
              <a:rPr lang="en-US" sz="1950" b="true">
                <a:solidFill>
                  <a:srgbClr val="1F1210"/>
                </a:solidFill>
                <a:latin typeface="DM Sans Bold"/>
                <a:ea typeface="DM Sans Bold"/>
                <a:cs typeface="DM Sans Bold"/>
                <a:sym typeface="DM Sans Bold"/>
              </a:rPr>
              <a:t>NG tube above diaphragm</a:t>
            </a:r>
            <a:r>
              <a:rPr lang="en-US" sz="1950">
                <a:solidFill>
                  <a:srgbClr val="1F1210"/>
                </a:solidFill>
                <a:latin typeface="DM Sans"/>
                <a:ea typeface="DM Sans"/>
                <a:cs typeface="DM Sans"/>
                <a:sym typeface="DM Sans"/>
              </a:rPr>
              <a:t> / elevated hemidiaphragm; CT → laparoscopy confirms</a:t>
            </a:r>
          </a:p>
        </p:txBody>
      </p:sp>
      <p:grpSp>
        <p:nvGrpSpPr>
          <p:cNvPr name="Group 26" id="26"/>
          <p:cNvGrpSpPr/>
          <p:nvPr/>
        </p:nvGrpSpPr>
        <p:grpSpPr>
          <a:xfrm rot="0">
            <a:off x="6438900" y="4482998"/>
            <a:ext cx="10629900" cy="2114255"/>
            <a:chOff x="0" y="0"/>
            <a:chExt cx="14173200" cy="2819006"/>
          </a:xfrm>
        </p:grpSpPr>
        <p:sp>
          <p:nvSpPr>
            <p:cNvPr name="Freeform 27" id="27"/>
            <p:cNvSpPr/>
            <p:nvPr/>
          </p:nvSpPr>
          <p:spPr>
            <a:xfrm flipH="false" flipV="false" rot="0">
              <a:off x="0" y="0"/>
              <a:ext cx="14173200" cy="2819019"/>
            </a:xfrm>
            <a:custGeom>
              <a:avLst/>
              <a:gdLst/>
              <a:ahLst/>
              <a:cxnLst/>
              <a:rect r="r" b="b" t="t" l="l"/>
              <a:pathLst>
                <a:path h="2819019" w="14173200">
                  <a:moveTo>
                    <a:pt x="0" y="304800"/>
                  </a:moveTo>
                  <a:cubicBezTo>
                    <a:pt x="0" y="136398"/>
                    <a:pt x="136398" y="0"/>
                    <a:pt x="304800" y="0"/>
                  </a:cubicBezTo>
                  <a:lnTo>
                    <a:pt x="13868400" y="0"/>
                  </a:lnTo>
                  <a:cubicBezTo>
                    <a:pt x="14036675" y="0"/>
                    <a:pt x="14173200" y="136398"/>
                    <a:pt x="14173200" y="304800"/>
                  </a:cubicBezTo>
                  <a:lnTo>
                    <a:pt x="14173200" y="2514219"/>
                  </a:lnTo>
                  <a:cubicBezTo>
                    <a:pt x="14173200" y="2682494"/>
                    <a:pt x="14036802" y="2819019"/>
                    <a:pt x="13868400" y="2819019"/>
                  </a:cubicBezTo>
                  <a:lnTo>
                    <a:pt x="304800" y="2819019"/>
                  </a:lnTo>
                  <a:cubicBezTo>
                    <a:pt x="136525" y="2819019"/>
                    <a:pt x="0" y="2682621"/>
                    <a:pt x="0" y="2514219"/>
                  </a:cubicBezTo>
                  <a:close/>
                </a:path>
              </a:pathLst>
            </a:custGeom>
            <a:solidFill>
              <a:srgbClr val="C42D29"/>
            </a:solidFill>
          </p:spPr>
        </p:sp>
      </p:grpSp>
      <p:sp>
        <p:nvSpPr>
          <p:cNvPr name="TextBox 28" id="28"/>
          <p:cNvSpPr txBox="true"/>
          <p:nvPr/>
        </p:nvSpPr>
        <p:spPr>
          <a:xfrm rot="0">
            <a:off x="6705600" y="4635398"/>
            <a:ext cx="10399395" cy="396183"/>
          </a:xfrm>
          <a:prstGeom prst="rect">
            <a:avLst/>
          </a:prstGeom>
        </p:spPr>
        <p:txBody>
          <a:bodyPr anchor="t" rtlCol="false" tIns="0" lIns="0" bIns="0" rIns="0">
            <a:spAutoFit/>
          </a:bodyPr>
          <a:lstStyle/>
          <a:p>
            <a:pPr algn="l">
              <a:lnSpc>
                <a:spcPts val="2520"/>
              </a:lnSpc>
            </a:pPr>
            <a:r>
              <a:rPr lang="en-US" b="true" sz="1800" spc="149">
                <a:solidFill>
                  <a:srgbClr val="FFE47A"/>
                </a:solidFill>
                <a:latin typeface="DM Sans Bold"/>
                <a:ea typeface="DM Sans Bold"/>
                <a:cs typeface="DM Sans Bold"/>
                <a:sym typeface="DM Sans Bold"/>
              </a:rPr>
              <a:t>MANAGEMENT</a:t>
            </a:r>
          </a:p>
        </p:txBody>
      </p:sp>
      <p:sp>
        <p:nvSpPr>
          <p:cNvPr name="TextBox 29" id="29"/>
          <p:cNvSpPr txBox="true"/>
          <p:nvPr/>
        </p:nvSpPr>
        <p:spPr>
          <a:xfrm rot="0">
            <a:off x="6843141" y="5050631"/>
            <a:ext cx="10250424" cy="1394222"/>
          </a:xfrm>
          <a:prstGeom prst="rect">
            <a:avLst/>
          </a:prstGeom>
        </p:spPr>
        <p:txBody>
          <a:bodyPr anchor="t" rtlCol="false" tIns="0" lIns="0" bIns="0" rIns="0">
            <a:spAutoFit/>
          </a:bodyPr>
          <a:lstStyle/>
          <a:p>
            <a:pPr algn="l" marL="352901" indent="-176451" lvl="1">
              <a:lnSpc>
                <a:spcPts val="2632"/>
              </a:lnSpc>
              <a:spcAft>
                <a:spcPts val="600"/>
              </a:spcAft>
              <a:buFont typeface="Arial"/>
              <a:buChar char="•"/>
            </a:pPr>
            <a:r>
              <a:rPr lang="en-US" sz="1950" b="true">
                <a:solidFill>
                  <a:srgbClr val="FFFFFF"/>
                </a:solidFill>
                <a:latin typeface="DM Sans Bold"/>
                <a:ea typeface="DM Sans Bold"/>
                <a:cs typeface="DM Sans Bold"/>
                <a:sym typeface="DM Sans Bold"/>
              </a:rPr>
              <a:t>Careful chest tube</a:t>
            </a:r>
            <a:r>
              <a:rPr lang="en-US" sz="1950">
                <a:solidFill>
                  <a:srgbClr val="FFFFFF"/>
                </a:solidFill>
                <a:latin typeface="DM Sans"/>
                <a:ea typeface="DM Sans"/>
                <a:cs typeface="DM Sans"/>
                <a:sym typeface="DM Sans"/>
              </a:rPr>
              <a:t> — avoid herniated viscera</a:t>
            </a:r>
          </a:p>
          <a:p>
            <a:pPr algn="l" marL="352901" indent="-176451" lvl="1">
              <a:lnSpc>
                <a:spcPts val="2632"/>
              </a:lnSpc>
              <a:buFont typeface="Arial"/>
              <a:buChar char="•"/>
            </a:pPr>
            <a:r>
              <a:rPr lang="en-US" sz="1950" b="true">
                <a:solidFill>
                  <a:srgbClr val="FFFFFF"/>
                </a:solidFill>
                <a:latin typeface="DM Sans Bold"/>
                <a:ea typeface="DM Sans Bold"/>
                <a:cs typeface="DM Sans Bold"/>
                <a:sym typeface="DM Sans Bold"/>
              </a:rPr>
              <a:t>Operative repair</a:t>
            </a:r>
            <a:r>
              <a:rPr lang="en-US" sz="1950">
                <a:solidFill>
                  <a:srgbClr val="FFFFFF"/>
                </a:solidFill>
                <a:latin typeface="DM Sans"/>
                <a:ea typeface="DM Sans"/>
                <a:cs typeface="DM Sans"/>
                <a:sym typeface="DM Sans"/>
              </a:rPr>
              <a:t> (transabdominal approach)</a:t>
            </a:r>
          </a:p>
        </p:txBody>
      </p:sp>
      <p:grpSp>
        <p:nvGrpSpPr>
          <p:cNvPr name="Group 30" id="30"/>
          <p:cNvGrpSpPr/>
          <p:nvPr/>
        </p:nvGrpSpPr>
        <p:grpSpPr>
          <a:xfrm rot="0">
            <a:off x="0" y="164592"/>
            <a:ext cx="754380" cy="384048"/>
            <a:chOff x="0" y="0"/>
            <a:chExt cx="1005840" cy="512064"/>
          </a:xfrm>
        </p:grpSpPr>
        <p:sp>
          <p:nvSpPr>
            <p:cNvPr name="Freeform 31" id="31"/>
            <p:cNvSpPr/>
            <p:nvPr/>
          </p:nvSpPr>
          <p:spPr>
            <a:xfrm flipH="false" flipV="false" rot="0">
              <a:off x="0" y="0"/>
              <a:ext cx="1005840" cy="512064"/>
            </a:xfrm>
            <a:custGeom>
              <a:avLst/>
              <a:gdLst/>
              <a:ahLst/>
              <a:cxnLst/>
              <a:rect r="r" b="b" t="t" l="l"/>
              <a:pathLst>
                <a:path h="512064" w="1005840">
                  <a:moveTo>
                    <a:pt x="0" y="256032"/>
                  </a:moveTo>
                  <a:cubicBezTo>
                    <a:pt x="0" y="114681"/>
                    <a:pt x="114681" y="0"/>
                    <a:pt x="256032" y="0"/>
                  </a:cubicBezTo>
                  <a:lnTo>
                    <a:pt x="749808" y="0"/>
                  </a:lnTo>
                  <a:cubicBezTo>
                    <a:pt x="891159" y="0"/>
                    <a:pt x="1005840" y="114681"/>
                    <a:pt x="1005840" y="256032"/>
                  </a:cubicBezTo>
                  <a:cubicBezTo>
                    <a:pt x="1005840" y="397383"/>
                    <a:pt x="891159" y="512064"/>
                    <a:pt x="749808" y="512064"/>
                  </a:cubicBezTo>
                  <a:lnTo>
                    <a:pt x="256032" y="512064"/>
                  </a:lnTo>
                  <a:cubicBezTo>
                    <a:pt x="114681" y="512064"/>
                    <a:pt x="0" y="397383"/>
                    <a:pt x="0" y="256032"/>
                  </a:cubicBezTo>
                  <a:close/>
                </a:path>
              </a:pathLst>
            </a:custGeom>
            <a:solidFill>
              <a:srgbClr val="E74B2F"/>
            </a:solidFill>
          </p:spPr>
        </p:sp>
      </p:grpSp>
      <p:grpSp>
        <p:nvGrpSpPr>
          <p:cNvPr name="Group 32" id="32"/>
          <p:cNvGrpSpPr/>
          <p:nvPr/>
        </p:nvGrpSpPr>
        <p:grpSpPr>
          <a:xfrm rot="0">
            <a:off x="932688" y="288036"/>
            <a:ext cx="137160" cy="137160"/>
            <a:chOff x="0" y="0"/>
            <a:chExt cx="182880" cy="182880"/>
          </a:xfrm>
        </p:grpSpPr>
        <p:sp>
          <p:nvSpPr>
            <p:cNvPr name="Freeform 33" id="3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4" id="34"/>
          <p:cNvGrpSpPr/>
          <p:nvPr/>
        </p:nvGrpSpPr>
        <p:grpSpPr>
          <a:xfrm rot="0">
            <a:off x="1193292" y="288036"/>
            <a:ext cx="137160" cy="137160"/>
            <a:chOff x="0" y="0"/>
            <a:chExt cx="182880" cy="182880"/>
          </a:xfrm>
        </p:grpSpPr>
        <p:sp>
          <p:nvSpPr>
            <p:cNvPr name="Freeform 35" id="3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6" id="36"/>
          <p:cNvGrpSpPr/>
          <p:nvPr/>
        </p:nvGrpSpPr>
        <p:grpSpPr>
          <a:xfrm rot="0">
            <a:off x="1453896" y="288036"/>
            <a:ext cx="137160" cy="137160"/>
            <a:chOff x="0" y="0"/>
            <a:chExt cx="182880" cy="182880"/>
          </a:xfrm>
        </p:grpSpPr>
        <p:sp>
          <p:nvSpPr>
            <p:cNvPr name="Freeform 37" id="37"/>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38" id="38"/>
          <p:cNvGrpSpPr/>
          <p:nvPr/>
        </p:nvGrpSpPr>
        <p:grpSpPr>
          <a:xfrm rot="0">
            <a:off x="1714500" y="288036"/>
            <a:ext cx="137160" cy="137160"/>
            <a:chOff x="0" y="0"/>
            <a:chExt cx="182880" cy="182880"/>
          </a:xfrm>
        </p:grpSpPr>
        <p:sp>
          <p:nvSpPr>
            <p:cNvPr name="Freeform 39" id="39"/>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0" id="40"/>
          <p:cNvGrpSpPr/>
          <p:nvPr/>
        </p:nvGrpSpPr>
        <p:grpSpPr>
          <a:xfrm rot="0">
            <a:off x="1975104" y="288036"/>
            <a:ext cx="137160" cy="137160"/>
            <a:chOff x="0" y="0"/>
            <a:chExt cx="182880" cy="182880"/>
          </a:xfrm>
        </p:grpSpPr>
        <p:sp>
          <p:nvSpPr>
            <p:cNvPr name="Freeform 41" id="41"/>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2" id="42"/>
          <p:cNvGrpSpPr/>
          <p:nvPr/>
        </p:nvGrpSpPr>
        <p:grpSpPr>
          <a:xfrm rot="0">
            <a:off x="2235708" y="288036"/>
            <a:ext cx="137160" cy="137160"/>
            <a:chOff x="0" y="0"/>
            <a:chExt cx="182880" cy="182880"/>
          </a:xfrm>
        </p:grpSpPr>
        <p:sp>
          <p:nvSpPr>
            <p:cNvPr name="Freeform 43" id="43"/>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grpSp>
        <p:nvGrpSpPr>
          <p:cNvPr name="Group 44" id="44"/>
          <p:cNvGrpSpPr/>
          <p:nvPr/>
        </p:nvGrpSpPr>
        <p:grpSpPr>
          <a:xfrm rot="0">
            <a:off x="2496312" y="288036"/>
            <a:ext cx="137160" cy="137160"/>
            <a:chOff x="0" y="0"/>
            <a:chExt cx="182880" cy="182880"/>
          </a:xfrm>
        </p:grpSpPr>
        <p:sp>
          <p:nvSpPr>
            <p:cNvPr name="Freeform 45" id="45"/>
            <p:cNvSpPr/>
            <p:nvPr/>
          </p:nvSpPr>
          <p:spPr>
            <a:xfrm flipH="false" flipV="false" rot="0">
              <a:off x="0" y="0"/>
              <a:ext cx="182880" cy="182880"/>
            </a:xfrm>
            <a:custGeom>
              <a:avLst/>
              <a:gdLst/>
              <a:ahLst/>
              <a:cxnLst/>
              <a:rect r="r" b="b" t="t" l="l"/>
              <a:pathLst>
                <a:path h="182880" w="182880">
                  <a:moveTo>
                    <a:pt x="0" y="91440"/>
                  </a:moveTo>
                  <a:cubicBezTo>
                    <a:pt x="0" y="40894"/>
                    <a:pt x="40894" y="0"/>
                    <a:pt x="91440" y="0"/>
                  </a:cubicBezTo>
                  <a:cubicBezTo>
                    <a:pt x="141986" y="0"/>
                    <a:pt x="182880" y="40894"/>
                    <a:pt x="182880" y="91440"/>
                  </a:cubicBezTo>
                  <a:cubicBezTo>
                    <a:pt x="182880" y="141986"/>
                    <a:pt x="141986" y="182880"/>
                    <a:pt x="91440" y="182880"/>
                  </a:cubicBezTo>
                  <a:cubicBezTo>
                    <a:pt x="40894" y="182880"/>
                    <a:pt x="0" y="141986"/>
                    <a:pt x="0" y="91440"/>
                  </a:cubicBezTo>
                  <a:close/>
                </a:path>
              </a:pathLst>
            </a:custGeom>
            <a:solidFill>
              <a:srgbClr val="E74B2F"/>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DAHYt87fHMk</dc:identifier>
  <dcterms:modified xsi:type="dcterms:W3CDTF">2011-08-01T06:04:30Z</dcterms:modified>
  <cp:revision>1</cp:revision>
  <dc:title>Red and Pink Illustrated Emergency Preparedness Kit Presentation</dc:title>
</cp:coreProperties>
</file>