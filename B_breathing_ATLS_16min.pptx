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3" r:id="rId13"/>
    <p:sldId id="271" r:id="rId21"/>
    <p:sldId id="265" r:id="rId15"/>
    <p:sldId id="266" r:id="rId16"/>
    <p:sldId id="267" r:id="rId17"/>
    <p:sldId id="268" r:id="rId18"/>
    <p:sldId id="269" r:id="rId19"/>
    <p:sldId id="270" r:id="rId20"/>
    <p:sldId id="272" r:id="rId22"/>
    <p:sldId id="273" r:id="rId23"/>
    <p:sldId id="274" r:id="rId24"/>
  </p:sldIdLst>
  <p:sldSz cx="18288000" cy="10287000"/>
  <p:notesSz cx="6858000" cy="9144000"/>
  <p:embeddedFontLst>
    <p:embeddedFont>
      <p:font typeface="Droid Serif" charset="1" panose="02020600060500020200"/>
      <p:regular r:id="rId28"/>
    </p:embeddedFont>
    <p:embeddedFont>
      <p:font typeface="Droid Serif Bold" charset="1" panose="02020800060500020200"/>
      <p:regular r:id="rId29"/>
    </p:embeddedFont>
    <p:embeddedFont>
      <p:font typeface="DM Sans Bold" charset="1" panose="00000000000000000000"/>
      <p:regular r:id="rId30"/>
    </p:embeddedFont>
    <p:embeddedFont>
      <p:font typeface="DM Sans Italics" charset="1" panose="00000000000000000000"/>
      <p:regular r:id="rId32"/>
    </p:embeddedFont>
    <p:embeddedFont>
      <p:font typeface="DM Sans" charset="1" panose="00000000000000000000"/>
      <p:regular r:id="rId33"/>
    </p:embeddedFont>
    <p:embeddedFont>
      <p:font typeface="Lato" charset="1" panose="020F0502020204030203"/>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3" Type="http://schemas.openxmlformats.org/officeDocument/2006/relationships/slide" Target="slides/slide6.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7.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notesMaster" Target="notesMasters/notesMaster1.xml"/><Relationship Id="rId26" Type="http://schemas.openxmlformats.org/officeDocument/2006/relationships/theme" Target="theme/theme2.xml"/><Relationship Id="rId27" Type="http://schemas.openxmlformats.org/officeDocument/2006/relationships/notesSlide" Target="notesSlides/notesSlide1.xml"/><Relationship Id="rId28" Type="http://schemas.openxmlformats.org/officeDocument/2006/relationships/font" Target="fonts/font28.fntdata"/><Relationship Id="rId29" Type="http://schemas.openxmlformats.org/officeDocument/2006/relationships/font" Target="fonts/font29.fntdata"/><Relationship Id="rId30" Type="http://schemas.openxmlformats.org/officeDocument/2006/relationships/font" Target="fonts/font30.fntdata"/><Relationship Id="rId31" Type="http://schemas.openxmlformats.org/officeDocument/2006/relationships/notesSlide" Target="notesSlides/notesSlide2.xml"/><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notesSlide" Target="notesSlides/notesSlide3.xml"/><Relationship Id="rId35" Type="http://schemas.openxmlformats.org/officeDocument/2006/relationships/notesSlide" Target="notesSlides/notesSlide4.xml"/><Relationship Id="rId36" Type="http://schemas.openxmlformats.org/officeDocument/2006/relationships/notesSlide" Target="notesSlides/notesSlide5.xml"/><Relationship Id="rId37" Type="http://schemas.openxmlformats.org/officeDocument/2006/relationships/notesSlide" Target="notesSlides/notesSlide6.xml"/><Relationship Id="rId38" Type="http://schemas.openxmlformats.org/officeDocument/2006/relationships/notesSlide" Target="notesSlides/notesSlide7.xml"/><Relationship Id="rId39" Type="http://schemas.openxmlformats.org/officeDocument/2006/relationships/notesSlide" Target="notesSlides/notesSlide8.xml"/><Relationship Id="rId40" Type="http://schemas.openxmlformats.org/officeDocument/2006/relationships/notesSlide" Target="notesSlides/notesSlide9.xml"/><Relationship Id="rId41" Type="http://schemas.openxmlformats.org/officeDocument/2006/relationships/notesSlide" Target="notesSlides/notesSlide10.xml"/><Relationship Id="rId42" Type="http://schemas.openxmlformats.org/officeDocument/2006/relationships/font" Target="fonts/font42.fntdata"/><Relationship Id="rId43" Type="http://schemas.openxmlformats.org/officeDocument/2006/relationships/notesSlide" Target="notesSlides/notesSlide11.xml"/><Relationship Id="rId44" Type="http://schemas.openxmlformats.org/officeDocument/2006/relationships/notesSlide" Target="notesSlides/notesSlide12.xml"/><Relationship Id="rId45" Type="http://schemas.openxmlformats.org/officeDocument/2006/relationships/notesSlide" Target="notesSlides/notesSlide13.xml"/><Relationship Id="rId46" Type="http://schemas.openxmlformats.org/officeDocument/2006/relationships/notesSlide" Target="notesSlides/notesSlide14.xml"/><Relationship Id="rId47" Type="http://schemas.openxmlformats.org/officeDocument/2006/relationships/notesSlide" Target="notesSlides/notesSlide15.xml"/><Relationship Id="rId48" Type="http://schemas.openxmlformats.org/officeDocument/2006/relationships/notesSlide" Target="notesSlides/notesSlide16.xml"/><Relationship Id="rId49" Type="http://schemas.openxmlformats.org/officeDocument/2006/relationships/notesSlide" Target="notesSlides/notesSlide17.xml"/><Relationship Id="rId50" Type="http://schemas.openxmlformats.org/officeDocument/2006/relationships/notesSlide" Target="notesSlides/not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เปิดหัวข้อ B ต่อจากเพื่อนที่พูด x และ A พูด: "ต่อจาก x กับ A ที่เพื่อนเล่าไป พอเราเปิด airway ได้แล้ว คำถามต่อไปคือผู้ป่วยหายใจได้พอไหม เพราะ airway โล่งไม่ได้แปลว่า ventilation ดี การหายใจต้องอาศัยปอด ผนังอก และกะบังลมทำงานครบ" "หัวข้อของเราคือ B — Breathing and Ventilation Assessment and Management ตาม ATLS 11th edition บทที่ 5" "จะเล่าเป็น 3 ส่วน - ส่วนแรก anatomy ที่ต้องรู้ และ life threat ที่ต้องหาใน B - ส่วนที่สอง วิธีตรวจและ adjunct ที่ใช้ - ส่วนที่สาม แต่ละโรคแบบหน้าเดียวจบ คือมันคืออะไร วินิจฉัยยังไง และรักษาอะไร ใช้ยาหรืออุปกรณ์อะไร" ส่งต่อ: "เริ่มจาก anatomy ที่ใช้จริงตอนทำหัตถการก่อน"</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รู้ landmark 3 จุด แล้วจะเจาะถูกที่และนึกถึงอวัยวะที่บาดเจ็บได้ถูก พูด (ชี้รูปทั้ง 3 มุม Fig 5-1 ด้านหน้า ด้านหลัง ด้านข้าง): "รูปนี้คือ landmark ของทรวงอกจาก 3 มุม จะเห็นว่าขอบล่างของซี่โครงไม่ได้เป็นขอบของช่องอกจริง เพราะตับ ม้าม และไต อยู่ใต้ซี่โครงด้วย" (ชี้ NV bundle) "จุดแรก neurovascular bundle วิ่งอยู่ใต้ขอบล่างของซี่โครงแต่ละซี่ เรียงจากบนลงล่างเป็น vein artery nerve เพราะฉะนั้นเวลาแทงเข็มหรือใส่สาย ให้แทงชิดขอบบนของซี่โครงซี่ล่างเสมอ" (ชี้ IMF) "จุดที่สอง IMF หรือ inframammary fold ตรงกับ ICS 4 ถึง 5 ใช้ได้ดีกว่า nipple line โดยเฉพาะในคนที่มีเต้านม ระดับนี้เป็นจุดที่ปลอดภัยสำหรับ needle หรือ chest tube เพราะต่ำกว่านี้เสี่ยงเข้าช่องท้อง" (ชี้ Diaphragm) "จุดที่สาม กะบังลมขยับได้มาก ตอนหายใจออกลึกๆ ขึ้นไปได้ถึงระดับ nipple หรือ tip of scapula ดังนั้นแผลตั้งแต่ระดับ nipple ลงไปถึง costal margin โดยเฉพาะ left flank ต้องคิดถึง diaphragm และอวัยวะในช่องท้องด้วย" (ชี้รูปด้านข้าง) "flank คือบริเวณระหว่าง anterior กับ posterior axillary line" ส่งต่อ: "อีก landmark ที่สำคัญมากสำหรับแผลทะลุ คือ cardiac box"</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แผลทะลุใน cardiac box ต้องคิดถึงหัวใจ หลอดเลือดใหญ่ และขั้วปอดไว้ก่อน พูด (ชี้กรอบสี่เหลี่ยมในรูป Fig 5-3): "cardiac box คือกรอบสี่เหลี่ยมบนหน้าอก - ขอบบนคือ sternal notch - ขอบล่างคือ costal margin ทั้งสองข้าง - ขอบด้านข้างคือ nipple line ทั้งสองข้างถ้ามองด้านหน้า หรือ tip of scapula ถ้ามองด้านหลัง" (ชี้กล่องน้ำเงิน) "ถ้ามีแผลทะลุอยู่ในกรอบนี้ ให้นึกถึงการบาดเจ็บของหัวใจ หลอดเลือดใหญ่ และโครงสร้างที่ขั้วปอดไว้ก่อน ซึ่งเชื่อมกับเรื่อง cardiac tamponade และ massive hemothorax ที่จะพูดต่อ" ส่งต่อ: "รู้ anatomy แล้ว มาดูว่าใน B เราต้องหาอะไรบ้าง"</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checklist สิ่งที่ต้องตรวจใน B และถ้าผิดปกติให้คิดถึงอะไร พูด (ชี้แถบน้ำเงินมุมขวาบน): "ก่อนเริ่ม เปิดอกและคอให้เห็นทั้งหมด ถ้าใส่ C-collar ให้เปิดด้านหน้า โดยมีคนจับ manual in-line stabilization ไว้" (ชี้การ์ด 1 LOOK) </a:t>
            </a:r>
          </a:p>
          <a:p>
            <a:r>
              <a:rPr lang="en-US"/>
              <a:t>"Look - RR เพิ่ม → hypoxemia หรือปวด เป็นสัญญาณเตือนแรก - หายใจตื้นลงเรื่อยๆ → เริ่มหมดแรง ใกล้ respiratory failure - retraction, nasal flaring → respiratory distress - พูดได้ทีละประโยคสั้นๆ → distress หรือปวดจากผนังอกบาดเจ็บ - เล็บหรือริมฝีปากเขียว → hypoxemia ซึ่งเป็น late sign - กระสับกระส่าย สับสน ซึม → O2 ต่ำหรือ CO2 สูงไว้ก่อน จนกว่าจะพิสูจน์ได้ว่าไม่ใช่ - neck vein โป่ง → tension pneumothorax หรือ cardiac tamponade - neck vein แฟบในคน shock → เสียเลือด เช่น massive hemothorax - trachea เบนออกจากข้างที่บาดเจ็บ → tension (late sign) - แผลมีลมดูดเข้าออก → open pneumothorax - แผลใน cardiac box → หัวใจ หลอดเลือดใหญ่ ขั้วปอด - แผลช่วง nipple ถึง costal margin ซ้าย → diaphragm injury - รอยช้ำ, seat-belt sign → ซี่โครงหัก, pulmonary contusion - อกข้างหนึ่งขยับน้อย → hemothorax หรือ pneumothorax ข้างนั้น - มีส่วนที่ยุบเข้าตอนหายใจเข้า → flail chest" (ชี้การ์ด 2 LISTEN) "Listen ฟังด้านหน้า ICS 2–3 และด้านข้าง ICS 5–6 เทียบซ้ายขวาเสมอ - เสียงลดหรือหาย → hemothorax, pneumothorax, contusion ขนาดใหญ่, diaphragm herniation - เสียงลด + shock + neck vein โป่ง → tension pneumothorax - เสียงลด + shock + neck vein แฟบ → massive hemothorax - rales → pulmonary contusion - เสียงลำไส้ในอก → diaphragm injury - ได้ยินลมผ่านแผล → open pneumothorax - ใส่ท่อแล้วเสียงลดข้างเดียว → ท่อลงหลอดลมข้างเดียว โดยเฉพาะในเด็ก - ใส่ chest tube แล้วลมรั่วต่อเนื่อง → tracheobronchial injury" (ชี้การ์ด 3 FEEL) "Feel - crepitus ที่คอ → ลมใต้ผิวหนัง จาก pneumothorax หรือ tracheobronchial injury - กดเจ็บ → rib, sternal หรือ clavicle fracture - กระดูกกรอบแกรบ → ซี่โครงหัก - ลมใต้ผิวหนังน้อยเฉพาะที่ → pneumothorax - ลมใต้ผิวหนังมากและลามขึ้นคอ → tracheobronchial injury - ผนังอกส่วนที่ไม่มั่นคง → flail chest - คลำให้ครบทั้งด้านหน้า ด้านข้าง และด้านหลัง เพราะแผลด้านหลังพลาดได้ง่าย" ส่งต่อ: "ต่อไปลงรายละเอียดทีละส่วน"</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ใช้ breath sound, trachea, neck vein และ BP แยก chest injury ได้ที่ข้างเตียง พูด: "ตารางนี้มาจาก Table 5-1 ใช้แยกโรคจากการตรวจร่างกาย อยากให้จำ 2 แถวแรกที่ไฮไลต์ไว้" (ชี้แถวแรก) "tension pneumothorax หรือ tension hemothorax เสียงหายใจหายไป trachea เบนออกจากข้างที่บาดเจ็บ neck vein โป่ง ความดันตก นี่คือ clinical diagnosis ต้องทำทันที" (ชี้แถวที่สอง) "massive hemothorax เสียงหายใจลดและความดันตกเหมือนกัน แต่จุดต่างคือ neck vein แฟบ เพราะเสียเลือดจริงและอยู่ใน hemorrhagic shock" (ชี้แถวที่เหลือ) "แถวอื่นๆ - open pneumothorax เห็นแผลที่ผนังอก - simple pneumothorax กับ pulmonary contusion อาการแปรผันตามความรุนแรง และ contusion แย่ลงได้ใน 24–72 ชั่วโมง - flail chest ความรุนแรงของ hypoxia ขึ้นกับ contusion ข้างใต้ - diaphragm injury อาจมีลำไส้ขึ้นมาในอก - tracheobronchial injury ให้นึกถึงเมื่อใส่ chest tube แล้วยังมี air leak ตลอด" (ชี้หมายเหตุใต้ตาราง) "ข้อควรระวัง: neck vein อาจไม่โป่งถ้ามีเสียเลือดร่วม และ trachea อาจเบนได้ถ้ามี tension physiology" ส่งต่อ: "นอกจากตรวจร่างกาย เรามี adjunct ช่วย"</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ติดตาม oxygenation และ ventilation ด้วย SpO2, ETCO2 และ ABG พูด: "Adjunct ตัวแรกคือ pulse oximetry วัด SpO2 ต่อเนื่อง แต่ต้องรู้ข้อจำกัด - ค่าต่ำอาจมาจาก perfusion ที่ปลายนิ้วไม่ดี ไม่ได้แปลว่าปอดเสียเสมอ - ไม่ได้บอก PaO2 หรือ PaCO2 - ใน CO poisoning ค่าจะดูปกติทั้งที่ไม่ปกติ" "ตัวที่สอง ETCO2 วัดได้ทั้งแบบเปลี่ยนสี capnometry หรือ capnography บอก ventilation แต่ก็ขึ้นกับเลือดที่ไปปอดด้วย ถ้า ETCO2 ต่ำลงอาจเป็นสัญญาณของ shock" "ตัวที่สาม ABG แม่นที่สุดในการบอก hypoxemia และ hypercapnia และได้ข้อมูล acid–base ทั้ง pH และ base deficit ด้วย ใช้เทียบว่า ETCO2 สัมพันธ์กับ PaCO2 จริงไหม" ส่งต่อ: "ต่อไปเป็น imaging ตัวแรกที่ใช้บ่อยที่สุด"</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Portable AP CXR ดูอะไรบ้าง และ film ท่านอนหลอกเราได้ยังไง พูด: "CXR แบบ AP portable ทำได้ในห้อง resuscitation เลย สิ่งที่ต้องไล่ดู - ปอดขยายเต็มไหม มีน้ำหรือเลือดไหม - mediastinum กว้างหรือขอบ aorta หายไปไหม - ลมใต้ผิวหนังหรือลมใน mediastinum - trachea shift - ลมกระเพาะอยู่ในอกซ้ายไหม ซึ่งบอก diaphragm injury - ถ้าซี่โครงซี่ 1 หรือ 2 หัก หรือหักหลายซี่ แปลว่าแรงกระแทกสูงมาก ต้องหา injury อวัยวะข้างใต้" เน้น (ชี้กล่องขวา): "ข้อควรระวังของ film ท่านอน - hemothorax เลือดไปกองด้านหลัง จึงเห็นแค่ฝ้าๆ ทั้งข้าง ไม่ได้เห็นเป็นระดับน้ำ - pneumothorax ลมลอยไปด้านหน้า อาจเห็นแค่บริเวณที่ดำกว่าปกติหรือไม่เห็นเลย - ถ้าเห็นลมใน mediastinum ให้คิดถึง airway หรือ esophagus injury" ส่งต่อ: "ข้อจำกัดของ CXR ทำให้เราต้องมี ultrasound กับ CT"</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ประเด็นหลัก: adjunct ช่วยยืนยัน แต่ไม่แทน clinical exam (ราว 1.5 นาที)</a:t>
            </a:r>
          </a:p>
          <a:p>
            <a:r>
              <a:t>1) Monitoring: SpO₂ ดูต่อเนื่อง แต่ค่าต่ำอาจมาจาก perfusion ไม่ดี / ETCO₂ บอก ventilation และลดลงได้ถ้า perfusion ไปปอดลด (shock) / ABG แม่นที่สุด บอก hypoxemia, hypercapnia และ acid–base</a:t>
            </a:r>
          </a:p>
          <a:p>
            <a:r>
              <a:t>2) Portable AP CXR: ไล่ดู lung expansion, เลือด/น้ำ, ลมใต้ผิวหนัง/ใน mediastinum, trachea shift, mediastinum กว้าง, ลมกระเพาะหรือ NGT ในอกซ้าย (diaphragm injury), ซี่โครง 1–2 หักหรือหักหลายซี่ = แรงกระแทกสูง</a:t>
            </a:r>
          </a:p>
          <a:p>
            <a:r>
              <a:t>   ระวัง film ท่านอน: hemothorax เห็นแค่ฝ้าทั้งข้าง, pneumothorax ลมลอยไปด้านหน้าอาจมองไม่เห็น</a:t>
            </a:r>
          </a:p>
          <a:p>
            <a:r>
              <a:t>3) eFAST: ข้างเตียง ทำซ้ำได้ ไม่มีรังสี หา PTX, HTX, hemopericardium (operator dependent) / CT: ไวที่สุด เห็น occult PTX, rib fx, contusion แต่ทำเฉพาะผู้ป่วย stable</a:t>
            </a:r>
          </a:p>
          <a:p>
            <a:r>
              <a:t>เน้นแถบล่าง: ผู้ป่วยไม่ stable ให้รักษาตาม clinical เลย ไม่ต้องรอ imaging เช่น tension PTX</a:t>
            </a:r>
          </a:p>
          <a:p>
            <a:r>
              <a:t>ส่งต่อ: "ต่อไปดูทีละโรค เริ่มจาก pneumothorax แบบ simple ก่อน แล้วไปดูว่ามันกลายเป็น tension ได้ยังไง"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Pneumothorax เปลี่ยนจาก simple เป็น tension ได้อย่างไร พูด (ชี้ flow จากซ้ายไปขวา): "เริ่มจากอากาศเข้า pleural space ผ่านรูที่ปอดหรือผนังอก ปอดข้างนั้นจึงแฟบ ตรงนี้เรียก simple pneumothorax" "ถ้ารูนั้นทำงานแบบ one-way valve คืออากาศเข้าได้แต่ออกไม่ได้ ลมจะสะสมเรื่อยๆ ดัน mediastinum ไปอีกข้าง กด vena cava venous return ลด cardiac output ลด สุดท้ายความดันตก นี่คือ tension pneumothorax" "สาเหตุที่พบใน trauma - barotrauma จาก airway pressure สูง - แผลแทงหรือกระสุน - ซี่โครงหักทิ่มปอด - iatrogenic เช่นใส่ central line" เน้น (ชี้กล่องน้ำเงิน): "จุดอันตรายคือ positive-pressure ventilation ทั้งการ bag และการต่อ ventilator ทำให้ simple กลายเป็น tension ได้เร็วมาก และในผู้ป่วยที่ตายจาก blunt trauma พบ pneumothorax ได้ถึง 19 เปอร์เซ็นต์" ส่งต่อ: "เริ่มจากภาวะที่อันตรายที่สุดก่อน tension pneumothorax"</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สรุปว่าโรคนี้คืออะไร: ลมรั่วแบบ one-way valve ค้างอยู่ใน pleural space ปอดแฟบ mediastinum ถูกดันไปอีกข้าง กด vena cava ทำให้ venous return และ cardiac output ลด จึงเกิด shock กระทบทั้ง B และ C พูด — Diagnosis: "ประโยคที่ต้องจำ: tension pneumothorax เป็น clinical diagnosis ห้ามรอ CXR หรือ ultrasound" "วินิจฉัยจาก 3 อย่าง คือ mechanism ที่เข้าได้ เสียงหายใจหายไปข้างเดียว และความดันต่ำ" "อาการเสริม คือหอบ ใจสั่น SpO2 ตก เคาะโปร่ง trachea เบนไปฝั่งตรงข้าม ซึ่งมักเห็นยาก ให้ดูที่ sternal notch และ neck vein โป่ง แต่ถ้ามีเสียเลือดร่วม neck vein อาจแฟบ" "(ชี้รูปบน) นี่คือ CXR ของ right tension pneumothorax จะเห็นว่า trachea ถูกดันไปทางซ้าย แต่ในชีวิตจริงเราควรรักษาไปแล้วก่อนได้ film นี้" "อีกสถานการณ์ที่ต้องนึกถึง คือผู้ป่วยใส่ท่อแล้วทรุดลงทันทีหลังเริ่ม bag หรือต่อ ventilator" พูด — Management: "ให้ O2 non-rebreather 15 ลิตรต่อนาที แล้ว decompress ทันที" "(ชี้รูปล่าง) Needle decompression ใช้เข็ม over-the-needle อย่างน้อย 14G มี 2 ตำแหน่ง คือ ICS 5 ระหว่าง anterior กับ mid-axillary line ประมาณระดับ IMF หรือ ICS 2 ที่ midclavicular line แทงชิดขอบบนของซี่โครงเพื่อเลี่ยง NV bundle" "ถ้าผนังอกหนาหรือผู้ป่วยอ้วน เข็มสั้นมักไม่ถึง pleura ให้ใช้ catheter ที่ยาวขึ้น หรือทำ finger thoracostomy คือกรีดผิวที่ ICS 5 AAL–MAL แล้วใช้นิ้วเข้าไปใน pleura" "ไม่ว่าวิธีไหน ต้องตามด้วย chest tube เสมอ เพราะ tension กลับมาได้ สาย 14 Fr ได้ผลเท่าสายใหญ่สำหรับ pneumothorax" "ของที่ต้องเตรียม: น้ำยาฆ่าเชื้อ, 1% lidocaine สำหรับฉีดชา, มีด, curved clamp, สาย chest tube และระบบ drain" ถ้าโดนถาม: "ทำไม ICS 5 — เพราะผนังอกบางกว่า แทงถึง pleura ได้มากกว่าในผู้ใหญ่ส่วนใหญ่ แต่ ATLS 11th ให้เลือกได้ทั้ง 2 ตำแหน่งตามตัวผู้ป่วย เช่นคนท้องอาจเลือก ICS 2" ส่งต่อ: "ภาวะต่อไปเป็น pneumothorax อีกแบบที่เห็นได้จากภายนอก"</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สรุปว่าโรคนี้คืออะไร: แผลที่ผนังอกเปิดสู่ภายนอก ถ้าแผลกว้างตั้งแต่ 2/3 ของเส้นผ่าศูนย์กลาง trachea อากาศจะวิ่งเข้าทางแผลแทนทางเดินหายใจเพราะความต้านทานต่ำกว่า ความดันในอกเท่ากับภายนอกทันที ปอดขยายไม่ได้ เกิด hypoxemia และ hypercapnia พูด — Diagnosis: "Open pneumothorax วินิจฉัยทางคลินิกเช่นกัน" "(ชี้รูปบน) จะเห็นแผลที่ผนังอก ได้ยินเสียงดูดลมเวลาหายใจเข้า หรือเห็นฟองอากาศที่แผล จึงเรียก sucking chest wound" "ผู้ป่วยจะเจ็บ หอบ หายใจเร็ว SpO2 ตก และเสียงหายใจข้างนั้นลดลง" พูด — Management: "เริ่มจาก O2 non-rebreather 15 ลิตรต่อนาที" "(ชี้รูปล่าง) ปิดแผลด้วย sterile occlusive dressing ที่ใหญ่กว่าขอบแผล แล้วติดเทปแค่ 3 ด้าน ให้ทำงานเป็น flutter valve หายใจเข้าแผ่นจะแนบปิดแผล หายใจออกลมดันออกทางด้านที่ไม่ได้ติดเทป ซึ่งป้องกันไม่ให้เกิด tension หรือใช้ vented chest seal สำเร็จรูปก็ได้" "ถ้าปิดแผลแล้วผู้ป่วยแย่ลงเหมือน tension ให้เปิดขอบแผ่นออกหนึ่งด้าน หรือ decompress" "จากนั้นใส่ chest tube โดยกรีดแผลใหม่ ห้ามใส่ผ่านแผลเดิม" "การรักษาสุดท้ายคือผ่าตัดปิดแผลผนังอก และอย่าลืม tetanus prophylaxis กับการดูแลแผล" Key message: "ติดเทป 3 ด้าน และใส่ chest tube คนละที่กับแผล" ส่งต่อ: "ต่อไปเป็นภาวะที่กระทบทั้ง B และ C คือ massive hemothorax"</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สรุปว่าโรคนี้คืออะไร: เลือดสะสมใน pleural space จากปอด intercostal artery ซี่โครงหัก อวัยวะในอก หรือจากช่องท้องผ่านรูที่ diaphragm ถ้ามากจนความดันตกเรียก massive hemothorax ความดันตกจาก 2 กลไก คือเสียเลือดจริง และเลือดกด mediastinum ทำให้ venous return ลด พูด — Diagnosis: "ตรวจจะพบเสียงหายใจลด เคาะทึบ ซึ่งต่างจาก tension pneumothorax ที่เคาะโปร่ง ร่วมกับ hemorrhagic shock คือใจเร็ว ความดันตก" "neck vein จะแฟบเพราะเสียเลือด trachea อยู่กลาง ยกเว้นเลือดเยอะจนเกิด tension" "(ชี้รูป) นี่คือ CXR ของ massive hemothorax แต่ระวัง film ท่านอนจะเห็นแค่ฝ้าๆ ทั้งข้าง เพราะเลือดไปกองด้านหลัง ต้องใช้ eFAST ช่วย และเลือดที่ออกมาจาก chest tube คือคำยืนยัน" พูด — Management (ทำพร้อมกันเป็นทีม): "ให้ O2 เปิดเส้นใหญ่ 2 เส้น อย่างน้อย 16G หรือใช้ IO แล้วส่ง type and crossmatch" "เปิด massive transfusion protocol ให้ PRC ต่อ plasma ต่อ platelet 1:1:1 หรือ whole blood ระหว่างรอเลือดตรงกรุ๊ปใช้ O-negative ในผู้หญิงวัยเจริญพันธุ์ และให้ AB plasma" "ให้ TXA 1 กรัม IV ภายใน 3 ชั่วโมงหลังบาดเจ็บ แล้วตามด้วยอีก 1 กรัมหยดใน 8 ชั่วโมง หรือให้ 2 กรัมครั้งเดียวก็ได้" "ทำ finger thoracostomy แล้วใส่ chest tube สายใหญ่ 24 Fr ขึ้นไป และ hemothorax ทุกรายที่มากกว่า 300 mL ควร drain เพื่อกันเลือดแข็งตัวจนเป็น trapped lung" "ตามศัลยแพทย์ตั้งแต่แรก" "อุ่นสารน้ำและเลือดถึง 39 องศา และให้ crystalloid น้อยที่สุด เพื่อกัน lethal triad" จุดเปลี่ยนของ 11th edition (เน้นเสียง): "เดิมเราใช้เกณฑ์ตัวเลข เช่นเลือดออก 1,500 mL ทันที หรือ 200 mL ต่อชั่วโมง ใน 11th edition ไม่ใช้ตัวเลข output แล้ว แต่ตัดสินผ่าตัดจาก physiology คือผู้ป่วยยัง shock อยู่ และมีเลือดออกต่อเนื่อง" ส่งต่อ: "ต่อไปเป็นบาดเจ็บของผนังอก flail chest"</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สรุปว่าโรคนี้คืออะไร: Radiographic flail คือซี่โครงหักอย่างน้อย 2 ซี่ ซี่ละอย่างน้อย 2 ตำแหน่ง ส่วน clinical flail คือเห็น paradoxical movement ชิ้นที่หลุดยุบเข้าตอนหายใจเข้าและโป่งออกตอนหายใจออก มี radiographic โดยไม่มี clinical ได้ แต่ไม่มีกรณีกลับกัน ปัญหาหลักคือปวดจนหายใจตื้น CO2 คั่ง ส่วน hypoxia รุนแรงมักมาจาก pulmonary contusion ข้างใต้ พูด — Diagnosis: "ผู้ป่วยจะปวดเวลาหายใจ หายใจตื้น พูดไม่จบประโยค ไม่อยากขยับตัว" "(ชี้รูปบน) มองหา paradoxical segment ชิ้นนี้ยุบเข้าตอนหายใจเข้า โป่งออกตอนหายใจออก แต่ถ้าผู้ป่วยใส่ ventilator แล้วจะเห็นยากมาก" "คลำเจ็บ มี crepitus RR เร็ว SpO2 ตก ABG จะเห็น CO2 สูงและ O2 ต่ำ" "(ชี้รูปล่าง) CXR เห็นซี่โครงหักหลายซี่ร่วมกับ contusion แต่ CT ดีที่สุดในการนับซี่และดูว่าหักกี่ตำแหน่ง" พูด — Management: "ATLS บอกว่าสาเหตุตายอันดับหนึ่งของซี่โครงหักคือ pneumonia เพราะปวดจนไอและหายใจลึกไม่ได้ ดังนั้นการคุมปวดคือการรักษา" "ให้ O2 และติดตาม SpO2, RR และ incentive spirometry เพื่อดู vital capacity" "ใช้ยาแบบ multimodal เน้น non-opioid ได้แก่ paracetamol, NSAIDs, ketamine ขนาดต่ำ และ IV lidocaine" "ร่วมกับ regional block เช่น thoracic epidural, serratus anterior block หรือ erector spinae plane block" "ลด opioid ทำ chest physiotherapy และให้ลุกเดินเร็ว" "ใส่ท่อเมื่อหายใจล้มเหลว hypoxia รุนแรง หรือต้องใช้ยาแก้ปวดแรงจนกดการหายใจ" "Surgical stabilization of rib fractures หรือ SSRF ช่วยในบางราย และให้ admit ตาม protocol ว่าควรอยู่ ICU หรือ ward" ขนาดยาทั่วไปในผู้ใหญ่ ถ้าโดนถาม (ไม่ได้มาจาก ATLS ให้เช็ค protocol รพ.): paracetamol 1 กรัมทุก 6 ชั่วโมง ไม่เกิน 4 กรัมต่อวัน, ibuprofen 400 mg ทุก 6–8 ชั่วโมงถ้าไม่มีข้อห้ามเรื่องไตหรือเลือดออก ส่งต่อ: "พูดถึง contusion ใต้ flail แล้ว มาดูเรื่องนี้ต่อ"</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สรุปว่าโรคนี้คืออะไร: ปอดช้ำ คือการบาดเจ็บของ alveolar capillary โดยเนื้อปอดไม่ฉีก เลือดและน้ำเข้าไปใน alveoli ทำให้ V/Q mismatch, shunt และ compliance ลด เป็น intrathoracic injury ที่พบบ่อยที่สุด แย่ลงได้ใน 24–72 ชั่วโมง และในเด็กเกิดได้โดยไม่มีซี่โครงหักเพราะผนังอกยืดหยุ่น พูด — Diagnosis: "ช่วงแรกอาจไม่มีอาการเลย ต่อมาจะหอบ หายใจเร็ว SpO2 ตก ฟังได้ crackles ถ้ารุนแรงจะมี wheeze ไอ มีเสมหะปนเลือด" "(ชี้รูปบน) CXR จะเห็น infiltrate ที่ไม่ตาม lobe หรือ segment แต่โดยเฉลี่ยจะเห็นหลัง 6 ชั่วโมง บางรายช้าถึง 48 ชั่วโมง" "(ชี้รูปล่าง) CT ของผู้ป่วยคนเดียวกัน เห็นได้แทบทันที เป็น consolidation กับ ground-glass และปริมาตรปอดที่ช้ำสัมพันธ์กับ outcome" "อาการแย่สุดประมาณ 72 ชั่วโมง ต้องตรวจซ้ำและติดตาม SpO2 กับ ABG" พูด — Management: "ให้ O2 ให้ SpO2 อยู่ที่ 94 ถึง 98 เปอร์เซ็นต์" "หลีกเลี่ยงการให้น้ำเกิน เพราะปอดที่ช้ำบวมน้ำง่าย แต่ยังต้องประคอง circulation ถ้า shock ให้เลือด และให้ crystalloid อย่างระวัง" "ถ้าหายใจไม่ไหวให้ใส่ท่อ ตั้ง ventilator แบบ lung protective ตาม ATLS คือ tidal volume ไม่เกิน 6 mL/kg ของ ideal body weight, PEEP 5 และเริ่ม FiO2 100% แล้วลดตาม SpO2" "คุมปวด ทำ chest physiotherapy และ incentive spirometry เพราะประมาณ 20% เกิด pneumonia" ส่งต่อ: "ภาวะต่อไปพบน้อยแต่อันตรายมาก คือ tracheobronchial injury"</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สรุปว่าโรคนี้คืออะไร: การฉีกขาดของ trachea หรือหลอดลมใหญ่ ส่วนใหญ่อยู่ภายใน 1 นิ้วจาก carina เกิดจากแรงบีบ แรงเฉือนจากการชะลอความเร็วกะทันหัน หรือแผลทะลุ ผู้ป่วยที่มาถึงโรงพยาบาลเสียชีวิตสูงจาก injury ร่วม เสีย tidal volume airway ไม่พอ หรือ tension pneumothorax พูด — Diagnosis: "อาการที่พบ คือไอเป็นเลือด มีลมใต้ผิวหนังที่คอ และเขียว" "(ชี้รูป) นี่คือ massive subcutaneous emphysema ลมแทรกจนเห็นขอบกล้ามเนื้อหน้าอกชัด" "อีกสถานการณ์คือ tension pneumothorax ที่ decompress แล้วไม่ดีขึ้น" "Clue ที่สำคัญที่สุด คือใส่ chest tube แล้วมี air leak มากตลอด และปอดยังไม่ขยาย ถ้าผู้ป่วยใส่ ventilator จะเห็น tidal volume หายไปทางรอยรั่ว" "ยืนยันด้วย bronchoscopy และ CT ช่วยดู airway ปอด และ hemopneumothorax" พูด — Management: "ให้ O2 และเตรียม difficult airway ให้พร้อม ทั้ง video laryngoscope, bougie และชุด surgical airway" "ใส่ chest tube ด่วน ถ้าเป็น tension ให้ needle หรือ finger ก่อน และถ้ายังรั่วมากอาจต้องใส่สายเพิ่ม" "การใส่ท่อช่วยหายใจทำได้ยากเพราะ anatomy ผิดรูป ควรให้ผู้เชี่ยวชาญใช้ fiberoptic ใส่ให้ cuff เลยรอยฉีก หรือใส่ท่อเข้าหลอดลมอีกข้างหนึ่ง" "ปรึกษาศัลยแพทย์ทรวงอกทันทีหรือส่งต่อ รอยเล็กอาจรักษาโดยไม่ผ่า รอยใหญ่ต้องผ่าตัดซ่อม" ส่งต่อ: "ภาวะสุดท้ายเป็นภาวะที่พลาดง่ายที่สุด คือ diaphragm injury"</a:t>
            </a:r>
          </a:p>
          <a:p>
            <a:r>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สรุปว่าโรคนี้คืออะไร: อากาศเข้า pleural space ทำให้ปอดแฟบ แต่ยังไม่มี mediastinal shift หรือ hypotension สาเหตุคือ barotrauma, แผลแทงหรือกระสุน, ซี่โครงหักทิ่ม, หรือ iatrogenic ส่วน occult pneumothorax คือ pneumothorax ที่เห็นเฉพาะใน CT พูด — Diagnosis: "อาการคือหอบ เจ็บอก เสียงหายใจลด คลำได้ crepitus" "(ชี้รูปบน) ลมอยู่ระหว่าง visceral กับ parietal pleura" "(ชี้รูปล่าง) CXR จะเห็นเส้น pleura ตามลูกศร แต่ระวัง AP film ท่านอน ลมจะลอยไปด้านหน้า อาจมองไม่เห็นเลย และถ้าเห็นลมใต้ผิวหนังใน CXR ให้คิดว่ามี pneumothorax ไว้ก่อน" "eFAST ทำที่ข้างเตียงได้ และ CT ไวที่สุด" พูด — Management: "ให้ O2" "ถ้ามีอาการหรือเห็นใน CXR ให้ใส่ chest tube 14 Fr ที่ ICS 5 ระหว่าง AAL กับ MAL ชิดขอบบนของซี่โครง สาย 14 Fr ได้ผลเท่าสายใหญ่และเจ็บน้อยกว่า" "ถ้าไม่มีอาการและห่างจากผนังอกน้อยกว่า 3.5 เซนติเมตรใน CT สังเกตอาการได้ โดยทำ CXR ซ้ำ" "ใส่สายถ้า pneumothorax ใหญ่ขึ้น หรือก่อนใส่ท่อ หรือก่อนใช้ positive pressure ventilation เพราะจะกลายเป็น tension ได้" "ถ้าจะส่งตัวทางอากาศ ต้องคุยกับปลายทางเรื่องใส่ chest tube ก่อน เพราะความกดอากาศลดทำให้ pneumothorax ขยาย และระหว่างส่งตัวให้ต่อ suction ที่ –20 cmH2O" เน้น (ชี้กล่องชมพู): "จุดอันตรายคือ positive-pressure ventilation ทั้ง bag และ ventilator ทำให้ simple กลายเป็น tension ได้เร็วมาก และในผู้ป่วยที่เสียชีวิตจาก blunt trauma พบ pneumothorax ได้ถึง 19%" ส่งต่อ: "ถ้ารูรั่วทำงานแบบ one-way valve ลมเข้าได้แต่ออกไม่ได้ ก็จะกลายเป็น tension pneumothorax"</a:t>
            </a:r>
          </a:p>
          <a:p>
            <a:r>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สรุปว่าโรคนี้คืออะไร: รอยฉีกของกะบังลมที่ทำให้อวัยวะในช่องท้องเลื่อนขึ้นมาในอก พบประมาณ 0.5% ของผู้ป่วย trauma 2 ใน 3 จาก penetrating ใน blunt มักเป็นข้างซ้ายเพราะตับบังข้างขวา blunt ทำให้ฉีกยาว penetrating ทำให้รูเล็ก 80% เล็กกว่า 2 เซนติเมตร ลำไส้อาจเลื่อนขึ้นมาทันทีหรือหลายปีต่อมา พูด — Diagnosis: "ภาวะนี้ตรวจร่างกายมักไม่พบ ต้องสงสัยเอง โดยเฉพาะแผลแทงที่อกซ้ายหรือสีข้างต่ำกว่าระดับ nipple เพราะกะบังลมขึ้นสูงถึงตรงนั้นตอนหายใจออก" "อาการที่อาจพบ คือหอบ เสียงหายใจซ้ายลด บางครั้งฟังได้เสียงลำไส้ในอก แต่พบน้อย" "(ชี้รูปบน) นี่คือภาพกะบังลมฉีกและอวัยวะในท้องเลื่อนขึ้นมาดัน mediastinum" "CXR อาจเห็นกะบังลมสูงหรือรูปร่างผิด หรือเห็นลำไส้ กระเพาะอยู่ในอก" "(ชี้รูปล่าง) Key sign คือใส่ NG tube แล้วปลายสายขดอยู่เหนือ diaphragm ใน CXR แปลว่ามีรอยฉีกด้านซ้าย" "CT ไวแค่ประมาณ 80% การยืนยันจึงต้องใช้ laparoscopy หรือ laparotomy" พูด — Management: "ใส่ NG หรือ OG tube เพื่อระบายกระเพาะที่เลื่อนขึ้นมา" "ถ้าต้องใส่ chest tube ต้องระวัง ใช้นิ้วกวาดก่อนเพื่อไม่ให้ทะลุลำไส้ที่ขึ้นมาในอก" "ข้างซ้ายต้องผ่าตัดซ่อมด่วน และถ้ามีลำไส้เลื่อนขึ้นมาต้องผ่าทันทีเพราะเสี่ยง strangulation ส่วนใหญ่ผ่าทางหน้าท้อง" "ข้างขวาบางรายไม่ต้องผ่า ยกเว้นมี liver injury ร่วม เพราะเสี่ยง biliopleural fistula" "และต้องมองหา injury ร่วมของทั้งอกและท้องเสมอ" ส่งต่อ: "หลังรักษาแต่ละโรคแล้ว สิ่งที่ห้ามลืมคือการประเมินซ้ำ"</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ประเมินซ้ำหลังทุกหัตถการ และส่งต่อผู้ป่วยอย่างปลอดภัย พูด — Reassessment: "หลังทำหัตถการทุกครั้ง ให้กลับไป look listen feel ใหม่ ดูว่า chest tube ทำงานดีไหม มีเลือดหรือลมออกตามที่คาดไหม" "ติด SpO2 และ ETCO2 ต่อเนื่อง" "ผู้ป่วยซี่โครงหักต้องประเมินปวด การไอ และการหายใจลึกบ่อยๆ เพราะถ้าคุมปวดไม่ได้จะเกิด pneumonia และ respiratory failure ตามมา" พูด — Transfer: "chest injury ระดับปานกลางถึงรุนแรงควรส่ง trauma center แม้จะไม่ต้องผ่าตัด เพราะได้ทั้ง regional analgesia, physiotherapy และ SSRF" "ใส่ chest tube ก่อนส่งตัว โดยเฉพาะถ้าส่งทางอากาศ หรือทีมที่ส่งตัวไม่สามารถทำ decompression ได้" "ระหว่างส่งตัวให้ต่อ chest tube กับ suction ที่ –20 cmH2O" ส่งต่อ: "มีผู้ป่วยบางกลุ่มที่ต้องปรับวิธีทำ"</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9.jpeg"/><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jpe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1.jpeg"/><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jpe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sp>
        <p:nvSpPr>
          <p:cNvPr name="TextBox 2" id="2"/>
          <p:cNvSpPr txBox="true"/>
          <p:nvPr/>
        </p:nvSpPr>
        <p:spPr>
          <a:xfrm rot="0">
            <a:off x="1165860" y="1327785"/>
            <a:ext cx="6172200" cy="1003935"/>
          </a:xfrm>
          <a:prstGeom prst="rect">
            <a:avLst/>
          </a:prstGeom>
        </p:spPr>
        <p:txBody>
          <a:bodyPr anchor="t" rtlCol="false" tIns="0" lIns="0" bIns="0" rIns="0">
            <a:spAutoFit/>
          </a:bodyPr>
          <a:lstStyle/>
          <a:p>
            <a:pPr algn="l">
              <a:lnSpc>
                <a:spcPts val="4620"/>
              </a:lnSpc>
            </a:pPr>
            <a:r>
              <a:rPr lang="en-US" sz="5400">
                <a:solidFill>
                  <a:srgbClr val="1F1210"/>
                </a:solidFill>
                <a:latin typeface="Droid Serif"/>
                <a:ea typeface="Droid Serif"/>
                <a:cs typeface="Droid Serif"/>
                <a:sym typeface="Droid Serif"/>
              </a:rPr>
              <a:t>xA</a:t>
            </a:r>
            <a:r>
              <a:rPr lang="en-US" sz="5400" b="true">
                <a:solidFill>
                  <a:srgbClr val="E74B2F"/>
                </a:solidFill>
                <a:latin typeface="Droid Serif Bold"/>
                <a:ea typeface="Droid Serif Bold"/>
                <a:cs typeface="Droid Serif Bold"/>
                <a:sym typeface="Droid Serif Bold"/>
              </a:rPr>
              <a:t>B</a:t>
            </a:r>
            <a:r>
              <a:rPr lang="en-US" sz="5400">
                <a:solidFill>
                  <a:srgbClr val="1F1210"/>
                </a:solidFill>
                <a:latin typeface="Droid Serif"/>
                <a:ea typeface="Droid Serif"/>
                <a:cs typeface="Droid Serif"/>
                <a:sym typeface="Droid Serif"/>
              </a:rPr>
              <a:t>CDE</a:t>
            </a:r>
          </a:p>
        </p:txBody>
      </p:sp>
      <p:sp>
        <p:nvSpPr>
          <p:cNvPr name="TextBox 3" id="3"/>
          <p:cNvSpPr txBox="true"/>
          <p:nvPr/>
        </p:nvSpPr>
        <p:spPr>
          <a:xfrm rot="0">
            <a:off x="3429000" y="3870960"/>
            <a:ext cx="11425428" cy="1478280"/>
          </a:xfrm>
          <a:prstGeom prst="rect">
            <a:avLst/>
          </a:prstGeom>
        </p:spPr>
        <p:txBody>
          <a:bodyPr anchor="t" rtlCol="false" tIns="0" lIns="0" bIns="0" rIns="0">
            <a:spAutoFit/>
          </a:bodyPr>
          <a:lstStyle/>
          <a:p>
            <a:pPr algn="ctr">
              <a:lnSpc>
                <a:spcPts val="8250"/>
              </a:lnSpc>
            </a:pPr>
            <a:r>
              <a:rPr lang="en-US" sz="9600" b="true">
                <a:solidFill>
                  <a:srgbClr val="E74B2F"/>
                </a:solidFill>
                <a:latin typeface="Droid Serif Bold"/>
                <a:ea typeface="Droid Serif Bold"/>
                <a:cs typeface="Droid Serif Bold"/>
                <a:sym typeface="Droid Serif Bold"/>
              </a:rPr>
              <a:t>Breathing</a:t>
            </a:r>
          </a:p>
        </p:txBody>
      </p:sp>
      <p:grpSp>
        <p:nvGrpSpPr>
          <p:cNvPr name="Group 4" id="4"/>
          <p:cNvGrpSpPr/>
          <p:nvPr/>
        </p:nvGrpSpPr>
        <p:grpSpPr>
          <a:xfrm rot="0">
            <a:off x="3905250" y="5610225"/>
            <a:ext cx="10477500" cy="114300"/>
            <a:chOff x="0" y="0"/>
            <a:chExt cx="13970000" cy="152400"/>
          </a:xfrm>
        </p:grpSpPr>
        <p:sp>
          <p:nvSpPr>
            <p:cNvPr name="Freeform 5" id="5" descr="line"/>
            <p:cNvSpPr/>
            <p:nvPr/>
          </p:nvSpPr>
          <p:spPr>
            <a:xfrm flipH="false" flipV="false" rot="0">
              <a:off x="0" y="0"/>
              <a:ext cx="13970000" cy="152400"/>
            </a:xfrm>
            <a:custGeom>
              <a:avLst/>
              <a:gdLst/>
              <a:ahLst/>
              <a:cxnLst/>
              <a:rect r="r" b="b" t="t" l="l"/>
              <a:pathLst>
                <a:path h="152400" w="13970000">
                  <a:moveTo>
                    <a:pt x="0" y="0"/>
                  </a:moveTo>
                  <a:lnTo>
                    <a:pt x="13970000" y="0"/>
                  </a:lnTo>
                  <a:lnTo>
                    <a:pt x="13970000" y="152400"/>
                  </a:lnTo>
                  <a:lnTo>
                    <a:pt x="0" y="152400"/>
                  </a:lnTo>
                  <a:lnTo>
                    <a:pt x="0" y="0"/>
                  </a:lnTo>
                  <a:close/>
                </a:path>
              </a:pathLst>
            </a:custGeom>
            <a:blipFill>
              <a:blip r:embed="rId3"/>
              <a:stretch>
                <a:fillRect l="-776" t="0" r="-776" b="0"/>
              </a:stretch>
            </a:blipFill>
          </p:spPr>
        </p:sp>
      </p:grpSp>
      <p:sp>
        <p:nvSpPr>
          <p:cNvPr name="TextBox 6" id="6"/>
          <p:cNvSpPr txBox="true"/>
          <p:nvPr/>
        </p:nvSpPr>
        <p:spPr>
          <a:xfrm rot="0">
            <a:off x="5486400" y="6170295"/>
            <a:ext cx="7310628" cy="687705"/>
          </a:xfrm>
          <a:prstGeom prst="rect">
            <a:avLst/>
          </a:prstGeom>
        </p:spPr>
        <p:txBody>
          <a:bodyPr anchor="t" rtlCol="false" tIns="0" lIns="0" bIns="0" rIns="0">
            <a:spAutoFit/>
          </a:bodyPr>
          <a:lstStyle/>
          <a:p>
            <a:pPr algn="ctr">
              <a:lnSpc>
                <a:spcPts val="3255"/>
              </a:lnSpc>
            </a:pPr>
            <a:r>
              <a:rPr lang="en-US" sz="3300" b="true">
                <a:solidFill>
                  <a:srgbClr val="C42D29"/>
                </a:solidFill>
                <a:latin typeface="DM Sans Bold"/>
                <a:ea typeface="DM Sans Bold"/>
                <a:cs typeface="DM Sans Bold"/>
                <a:sym typeface="DM Sans Bold"/>
              </a:rPr>
              <a:t>ATLS 11th Edition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5-1. p. 66-67.</a:t>
            </a:r>
          </a:p>
        </p:txBody>
      </p:sp>
      <p:grpSp>
        <p:nvGrpSpPr>
          <p:cNvPr name="Group 6" id="6"/>
          <p:cNvGrpSpPr/>
          <p:nvPr/>
        </p:nvGrpSpPr>
        <p:grpSpPr>
          <a:xfrm rot="0">
            <a:off x="7190632" y="762000"/>
            <a:ext cx="3906593" cy="885825"/>
            <a:chOff x="0" y="0"/>
            <a:chExt cx="5208791" cy="1181100"/>
          </a:xfrm>
        </p:grpSpPr>
        <p:sp>
          <p:nvSpPr>
            <p:cNvPr name="Freeform 7" id="7"/>
            <p:cNvSpPr/>
            <p:nvPr/>
          </p:nvSpPr>
          <p:spPr>
            <a:xfrm flipH="false" flipV="false" rot="0">
              <a:off x="0" y="0"/>
              <a:ext cx="5208778" cy="1181100"/>
            </a:xfrm>
            <a:custGeom>
              <a:avLst/>
              <a:gdLst/>
              <a:ahLst/>
              <a:cxnLst/>
              <a:rect r="r" b="b" t="t" l="l"/>
              <a:pathLst>
                <a:path h="1181100" w="5208778">
                  <a:moveTo>
                    <a:pt x="0" y="355600"/>
                  </a:moveTo>
                  <a:cubicBezTo>
                    <a:pt x="0" y="159258"/>
                    <a:pt x="159258" y="0"/>
                    <a:pt x="355600" y="0"/>
                  </a:cubicBezTo>
                  <a:lnTo>
                    <a:pt x="4853178" y="0"/>
                  </a:lnTo>
                  <a:cubicBezTo>
                    <a:pt x="5049520" y="0"/>
                    <a:pt x="5208778" y="159258"/>
                    <a:pt x="5208778" y="355600"/>
                  </a:cubicBezTo>
                  <a:lnTo>
                    <a:pt x="5208778" y="825500"/>
                  </a:lnTo>
                  <a:cubicBezTo>
                    <a:pt x="5208778" y="1021842"/>
                    <a:pt x="5049520" y="1181100"/>
                    <a:pt x="4853178" y="1181100"/>
                  </a:cubicBezTo>
                  <a:lnTo>
                    <a:pt x="355600" y="1181100"/>
                  </a:lnTo>
                  <a:cubicBezTo>
                    <a:pt x="159258" y="1181100"/>
                    <a:pt x="0" y="1021842"/>
                    <a:pt x="0" y="825500"/>
                  </a:cubicBezTo>
                  <a:close/>
                </a:path>
              </a:pathLst>
            </a:custGeom>
            <a:solidFill>
              <a:srgbClr val="FFD0C4"/>
            </a:solidFill>
          </p:spPr>
        </p:sp>
      </p:grpSp>
      <p:grpSp>
        <p:nvGrpSpPr>
          <p:cNvPr name="Group 8" id="8"/>
          <p:cNvGrpSpPr/>
          <p:nvPr/>
        </p:nvGrpSpPr>
        <p:grpSpPr>
          <a:xfrm rot="0">
            <a:off x="7190632" y="762000"/>
            <a:ext cx="3906593" cy="885825"/>
            <a:chOff x="0" y="0"/>
            <a:chExt cx="5208791" cy="1181100"/>
          </a:xfrm>
        </p:grpSpPr>
        <p:sp>
          <p:nvSpPr>
            <p:cNvPr name="Freeform 9" id="9"/>
            <p:cNvSpPr/>
            <p:nvPr/>
          </p:nvSpPr>
          <p:spPr>
            <a:xfrm flipH="false" flipV="false" rot="0">
              <a:off x="0" y="0"/>
              <a:ext cx="5208786" cy="1181100"/>
            </a:xfrm>
            <a:custGeom>
              <a:avLst/>
              <a:gdLst/>
              <a:ahLst/>
              <a:cxnLst/>
              <a:rect r="r" b="b" t="t" l="l"/>
              <a:pathLst>
                <a:path h="1181100" w="5208786">
                  <a:moveTo>
                    <a:pt x="0" y="0"/>
                  </a:moveTo>
                  <a:lnTo>
                    <a:pt x="5208786" y="0"/>
                  </a:lnTo>
                  <a:lnTo>
                    <a:pt x="5208786" y="1181100"/>
                  </a:lnTo>
                  <a:lnTo>
                    <a:pt x="0" y="1181100"/>
                  </a:lnTo>
                  <a:close/>
                </a:path>
              </a:pathLst>
            </a:custGeom>
            <a:blipFill>
              <a:blip r:embed="rId3">
                <a:alphaModFix amt="0"/>
              </a:blip>
              <a:stretch>
                <a:fillRect l="0" t="-35931" r="0" b="-35931"/>
              </a:stretch>
            </a:blipFill>
          </p:spPr>
        </p:sp>
        <p:sp>
          <p:nvSpPr>
            <p:cNvPr name="TextBox 10" id="10"/>
            <p:cNvSpPr txBox="true"/>
            <p:nvPr/>
          </p:nvSpPr>
          <p:spPr>
            <a:xfrm>
              <a:off x="0" y="9525"/>
              <a:ext cx="5208791" cy="1171575"/>
            </a:xfrm>
            <a:prstGeom prst="rect">
              <a:avLst/>
            </a:prstGeom>
          </p:spPr>
          <p:txBody>
            <a:bodyPr anchor="ctr" rtlCol="false" tIns="0" lIns="0" bIns="0" rIns="0"/>
            <a:lstStyle/>
            <a:p>
              <a:pPr algn="ctr">
                <a:lnSpc>
                  <a:spcPts val="5174"/>
                </a:lnSpc>
              </a:pPr>
              <a:r>
                <a:rPr lang="en-US" sz="4500" b="true">
                  <a:solidFill>
                    <a:srgbClr val="E74B2F"/>
                  </a:solidFill>
                  <a:latin typeface="Droid Serif Bold"/>
                  <a:ea typeface="Droid Serif Bold"/>
                  <a:cs typeface="Droid Serif Bold"/>
                  <a:sym typeface="Droid Serif Bold"/>
                </a:rPr>
                <a:t>ANATOMY </a:t>
              </a:r>
            </a:p>
          </p:txBody>
        </p:sp>
      </p:grpSp>
      <p:grpSp>
        <p:nvGrpSpPr>
          <p:cNvPr name="Group 11" id="11"/>
          <p:cNvGrpSpPr/>
          <p:nvPr/>
        </p:nvGrpSpPr>
        <p:grpSpPr>
          <a:xfrm rot="0">
            <a:off x="467541" y="2275286"/>
            <a:ext cx="11679753" cy="5736427"/>
            <a:chOff x="0" y="0"/>
            <a:chExt cx="14224000" cy="6986016"/>
          </a:xfrm>
        </p:grpSpPr>
        <p:sp>
          <p:nvSpPr>
            <p:cNvPr name="Freeform 12" id="12"/>
            <p:cNvSpPr/>
            <p:nvPr/>
          </p:nvSpPr>
          <p:spPr>
            <a:xfrm flipH="false" flipV="false" rot="0">
              <a:off x="0" y="0"/>
              <a:ext cx="14224000" cy="6986016"/>
            </a:xfrm>
            <a:custGeom>
              <a:avLst/>
              <a:gdLst/>
              <a:ahLst/>
              <a:cxnLst/>
              <a:rect r="r" b="b" t="t" l="l"/>
              <a:pathLst>
                <a:path h="6986016" w="14224000">
                  <a:moveTo>
                    <a:pt x="0" y="348488"/>
                  </a:moveTo>
                  <a:cubicBezTo>
                    <a:pt x="0" y="155956"/>
                    <a:pt x="155956" y="0"/>
                    <a:pt x="348488" y="0"/>
                  </a:cubicBezTo>
                  <a:lnTo>
                    <a:pt x="13875513" y="0"/>
                  </a:lnTo>
                  <a:cubicBezTo>
                    <a:pt x="14068044" y="0"/>
                    <a:pt x="14224000" y="155956"/>
                    <a:pt x="14224000" y="348488"/>
                  </a:cubicBezTo>
                  <a:lnTo>
                    <a:pt x="14224000" y="6637528"/>
                  </a:lnTo>
                  <a:cubicBezTo>
                    <a:pt x="14224000" y="6829933"/>
                    <a:pt x="14068044" y="6986016"/>
                    <a:pt x="13875513" y="6986016"/>
                  </a:cubicBezTo>
                  <a:lnTo>
                    <a:pt x="348488" y="6986016"/>
                  </a:lnTo>
                  <a:cubicBezTo>
                    <a:pt x="155956" y="6986016"/>
                    <a:pt x="0" y="6830060"/>
                    <a:pt x="0" y="6637528"/>
                  </a:cubicBezTo>
                  <a:close/>
                </a:path>
              </a:pathLst>
            </a:custGeom>
            <a:solidFill>
              <a:srgbClr val="FFF4F1"/>
            </a:solidFill>
          </p:spPr>
        </p:sp>
      </p:grpSp>
      <p:grpSp>
        <p:nvGrpSpPr>
          <p:cNvPr name="Group 13" id="13"/>
          <p:cNvGrpSpPr/>
          <p:nvPr/>
        </p:nvGrpSpPr>
        <p:grpSpPr>
          <a:xfrm rot="0">
            <a:off x="676108" y="2515556"/>
            <a:ext cx="3670779" cy="4685249"/>
            <a:chOff x="0" y="0"/>
            <a:chExt cx="4470400" cy="5705856"/>
          </a:xfrm>
        </p:grpSpPr>
        <p:sp>
          <p:nvSpPr>
            <p:cNvPr name="Freeform 14" id="14"/>
            <p:cNvSpPr/>
            <p:nvPr/>
          </p:nvSpPr>
          <p:spPr>
            <a:xfrm flipH="false" flipV="false" rot="0">
              <a:off x="0" y="0"/>
              <a:ext cx="4470400" cy="5705856"/>
            </a:xfrm>
            <a:custGeom>
              <a:avLst/>
              <a:gdLst/>
              <a:ahLst/>
              <a:cxnLst/>
              <a:rect r="r" b="b" t="t" l="l"/>
              <a:pathLst>
                <a:path h="5705856" w="4470400">
                  <a:moveTo>
                    <a:pt x="0" y="254000"/>
                  </a:moveTo>
                  <a:cubicBezTo>
                    <a:pt x="0" y="113665"/>
                    <a:pt x="113665" y="0"/>
                    <a:pt x="254000" y="0"/>
                  </a:cubicBezTo>
                  <a:lnTo>
                    <a:pt x="4216400" y="0"/>
                  </a:lnTo>
                  <a:cubicBezTo>
                    <a:pt x="4356735" y="0"/>
                    <a:pt x="4470400" y="113665"/>
                    <a:pt x="4470400" y="254000"/>
                  </a:cubicBezTo>
                  <a:lnTo>
                    <a:pt x="4470400" y="5451856"/>
                  </a:lnTo>
                  <a:cubicBezTo>
                    <a:pt x="4470400" y="5592191"/>
                    <a:pt x="4356735" y="5705856"/>
                    <a:pt x="4216400" y="5705856"/>
                  </a:cubicBezTo>
                  <a:lnTo>
                    <a:pt x="254000" y="5705856"/>
                  </a:lnTo>
                  <a:cubicBezTo>
                    <a:pt x="113665" y="5705856"/>
                    <a:pt x="0" y="5592191"/>
                    <a:pt x="0" y="5451856"/>
                  </a:cubicBezTo>
                  <a:close/>
                </a:path>
              </a:pathLst>
            </a:custGeom>
            <a:solidFill>
              <a:srgbClr val="FFFFFF"/>
            </a:solidFill>
          </p:spPr>
        </p:sp>
      </p:grpSp>
      <p:grpSp>
        <p:nvGrpSpPr>
          <p:cNvPr name="Group 15" id="15"/>
          <p:cNvGrpSpPr/>
          <p:nvPr/>
        </p:nvGrpSpPr>
        <p:grpSpPr>
          <a:xfrm rot="0">
            <a:off x="754529" y="3297818"/>
            <a:ext cx="3513937" cy="3120726"/>
            <a:chOff x="0" y="0"/>
            <a:chExt cx="4279392" cy="3800526"/>
          </a:xfrm>
        </p:grpSpPr>
        <p:sp>
          <p:nvSpPr>
            <p:cNvPr name="Freeform 16" id="16" descr="Anterior chest landmarks: midclavicular line, inframammary fold, anterior axillary line, pleural cavities and mediastinum"/>
            <p:cNvSpPr/>
            <p:nvPr/>
          </p:nvSpPr>
          <p:spPr>
            <a:xfrm flipH="false" flipV="false" rot="0">
              <a:off x="0" y="0"/>
              <a:ext cx="4279392" cy="3800475"/>
            </a:xfrm>
            <a:custGeom>
              <a:avLst/>
              <a:gdLst/>
              <a:ahLst/>
              <a:cxnLst/>
              <a:rect r="r" b="b" t="t" l="l"/>
              <a:pathLst>
                <a:path h="3800475" w="4279392">
                  <a:moveTo>
                    <a:pt x="0" y="0"/>
                  </a:moveTo>
                  <a:lnTo>
                    <a:pt x="4279392" y="0"/>
                  </a:lnTo>
                  <a:lnTo>
                    <a:pt x="4279392" y="3800475"/>
                  </a:lnTo>
                  <a:lnTo>
                    <a:pt x="0" y="3800475"/>
                  </a:lnTo>
                  <a:lnTo>
                    <a:pt x="0" y="0"/>
                  </a:lnTo>
                  <a:close/>
                </a:path>
              </a:pathLst>
            </a:custGeom>
            <a:blipFill>
              <a:blip r:embed="rId4"/>
              <a:stretch>
                <a:fillRect l="-20" t="0" r="-20" b="-1"/>
              </a:stretch>
            </a:blipFill>
          </p:spPr>
        </p:sp>
      </p:grpSp>
      <p:sp>
        <p:nvSpPr>
          <p:cNvPr name="TextBox 17" id="17"/>
          <p:cNvSpPr txBox="true"/>
          <p:nvPr/>
        </p:nvSpPr>
        <p:spPr>
          <a:xfrm rot="0">
            <a:off x="621463" y="7282840"/>
            <a:ext cx="3752204" cy="430143"/>
          </a:xfrm>
          <a:prstGeom prst="rect">
            <a:avLst/>
          </a:prstGeom>
        </p:spPr>
        <p:txBody>
          <a:bodyPr anchor="t" rtlCol="false" tIns="0" lIns="0" bIns="0" rIns="0">
            <a:spAutoFit/>
          </a:bodyPr>
          <a:lstStyle/>
          <a:p>
            <a:pPr algn="ctr">
              <a:lnSpc>
                <a:spcPts val="2758"/>
              </a:lnSpc>
            </a:pPr>
            <a:r>
              <a:rPr lang="en-US" sz="1970">
                <a:solidFill>
                  <a:srgbClr val="6E3B33"/>
                </a:solidFill>
                <a:latin typeface="DM Sans"/>
                <a:ea typeface="DM Sans"/>
                <a:cs typeface="DM Sans"/>
                <a:sym typeface="DM Sans"/>
              </a:rPr>
              <a:t>Anterior</a:t>
            </a:r>
          </a:p>
        </p:txBody>
      </p:sp>
      <p:grpSp>
        <p:nvGrpSpPr>
          <p:cNvPr name="Group 18" id="18"/>
          <p:cNvGrpSpPr/>
          <p:nvPr/>
        </p:nvGrpSpPr>
        <p:grpSpPr>
          <a:xfrm rot="0">
            <a:off x="4485876" y="2515556"/>
            <a:ext cx="3670779" cy="4685249"/>
            <a:chOff x="0" y="0"/>
            <a:chExt cx="4470400" cy="5705856"/>
          </a:xfrm>
        </p:grpSpPr>
        <p:sp>
          <p:nvSpPr>
            <p:cNvPr name="Freeform 19" id="19"/>
            <p:cNvSpPr/>
            <p:nvPr/>
          </p:nvSpPr>
          <p:spPr>
            <a:xfrm flipH="false" flipV="false" rot="0">
              <a:off x="0" y="0"/>
              <a:ext cx="4470400" cy="5705856"/>
            </a:xfrm>
            <a:custGeom>
              <a:avLst/>
              <a:gdLst/>
              <a:ahLst/>
              <a:cxnLst/>
              <a:rect r="r" b="b" t="t" l="l"/>
              <a:pathLst>
                <a:path h="5705856" w="4470400">
                  <a:moveTo>
                    <a:pt x="0" y="254000"/>
                  </a:moveTo>
                  <a:cubicBezTo>
                    <a:pt x="0" y="113665"/>
                    <a:pt x="113665" y="0"/>
                    <a:pt x="254000" y="0"/>
                  </a:cubicBezTo>
                  <a:lnTo>
                    <a:pt x="4216400" y="0"/>
                  </a:lnTo>
                  <a:cubicBezTo>
                    <a:pt x="4356735" y="0"/>
                    <a:pt x="4470400" y="113665"/>
                    <a:pt x="4470400" y="254000"/>
                  </a:cubicBezTo>
                  <a:lnTo>
                    <a:pt x="4470400" y="5451856"/>
                  </a:lnTo>
                  <a:cubicBezTo>
                    <a:pt x="4470400" y="5592191"/>
                    <a:pt x="4356735" y="5705856"/>
                    <a:pt x="4216400" y="5705856"/>
                  </a:cubicBezTo>
                  <a:lnTo>
                    <a:pt x="254000" y="5705856"/>
                  </a:lnTo>
                  <a:cubicBezTo>
                    <a:pt x="113665" y="5705856"/>
                    <a:pt x="0" y="5592191"/>
                    <a:pt x="0" y="5451856"/>
                  </a:cubicBezTo>
                  <a:close/>
                </a:path>
              </a:pathLst>
            </a:custGeom>
            <a:solidFill>
              <a:srgbClr val="FFFFFF"/>
            </a:solidFill>
          </p:spPr>
        </p:sp>
      </p:grpSp>
      <p:grpSp>
        <p:nvGrpSpPr>
          <p:cNvPr name="Group 20" id="20"/>
          <p:cNvGrpSpPr/>
          <p:nvPr/>
        </p:nvGrpSpPr>
        <p:grpSpPr>
          <a:xfrm rot="0">
            <a:off x="4553786" y="3123758"/>
            <a:ext cx="3513937" cy="3468845"/>
            <a:chOff x="0" y="0"/>
            <a:chExt cx="4279392" cy="4224477"/>
          </a:xfrm>
        </p:grpSpPr>
        <p:sp>
          <p:nvSpPr>
            <p:cNvPr name="Freeform 21" id="21" descr="Posterior chest landmarks: pleural cavities, mediastinum, kidneys, spleen, liver and colon below the ribs"/>
            <p:cNvSpPr/>
            <p:nvPr/>
          </p:nvSpPr>
          <p:spPr>
            <a:xfrm flipH="false" flipV="false" rot="0">
              <a:off x="0" y="0"/>
              <a:ext cx="4279392" cy="4224528"/>
            </a:xfrm>
            <a:custGeom>
              <a:avLst/>
              <a:gdLst/>
              <a:ahLst/>
              <a:cxnLst/>
              <a:rect r="r" b="b" t="t" l="l"/>
              <a:pathLst>
                <a:path h="4224528" w="4279392">
                  <a:moveTo>
                    <a:pt x="0" y="0"/>
                  </a:moveTo>
                  <a:lnTo>
                    <a:pt x="4279392" y="0"/>
                  </a:lnTo>
                  <a:lnTo>
                    <a:pt x="4279392" y="4224528"/>
                  </a:lnTo>
                  <a:lnTo>
                    <a:pt x="0" y="4224528"/>
                  </a:lnTo>
                  <a:lnTo>
                    <a:pt x="0" y="0"/>
                  </a:lnTo>
                  <a:close/>
                </a:path>
              </a:pathLst>
            </a:custGeom>
            <a:blipFill>
              <a:blip r:embed="rId5"/>
              <a:stretch>
                <a:fillRect l="0" t="-7" r="0" b="-6"/>
              </a:stretch>
            </a:blipFill>
          </p:spPr>
        </p:sp>
      </p:grpSp>
      <p:sp>
        <p:nvSpPr>
          <p:cNvPr name="TextBox 22" id="22"/>
          <p:cNvSpPr txBox="true"/>
          <p:nvPr/>
        </p:nvSpPr>
        <p:spPr>
          <a:xfrm rot="0">
            <a:off x="4431232" y="7282840"/>
            <a:ext cx="3752371" cy="430143"/>
          </a:xfrm>
          <a:prstGeom prst="rect">
            <a:avLst/>
          </a:prstGeom>
        </p:spPr>
        <p:txBody>
          <a:bodyPr anchor="t" rtlCol="false" tIns="0" lIns="0" bIns="0" rIns="0">
            <a:spAutoFit/>
          </a:bodyPr>
          <a:lstStyle/>
          <a:p>
            <a:pPr algn="ctr">
              <a:lnSpc>
                <a:spcPts val="2758"/>
              </a:lnSpc>
            </a:pPr>
            <a:r>
              <a:rPr lang="en-US" sz="1970">
                <a:solidFill>
                  <a:srgbClr val="6E3B33"/>
                </a:solidFill>
                <a:latin typeface="DM Sans"/>
                <a:ea typeface="DM Sans"/>
                <a:cs typeface="DM Sans"/>
                <a:sym typeface="DM Sans"/>
              </a:rPr>
              <a:t>Posterior</a:t>
            </a:r>
          </a:p>
        </p:txBody>
      </p:sp>
      <p:grpSp>
        <p:nvGrpSpPr>
          <p:cNvPr name="Group 23" id="23"/>
          <p:cNvGrpSpPr/>
          <p:nvPr/>
        </p:nvGrpSpPr>
        <p:grpSpPr>
          <a:xfrm rot="0">
            <a:off x="8295812" y="2515556"/>
            <a:ext cx="3670779" cy="4685249"/>
            <a:chOff x="0" y="0"/>
            <a:chExt cx="4470400" cy="5705856"/>
          </a:xfrm>
        </p:grpSpPr>
        <p:sp>
          <p:nvSpPr>
            <p:cNvPr name="Freeform 24" id="24"/>
            <p:cNvSpPr/>
            <p:nvPr/>
          </p:nvSpPr>
          <p:spPr>
            <a:xfrm flipH="false" flipV="false" rot="0">
              <a:off x="0" y="0"/>
              <a:ext cx="4470400" cy="5705856"/>
            </a:xfrm>
            <a:custGeom>
              <a:avLst/>
              <a:gdLst/>
              <a:ahLst/>
              <a:cxnLst/>
              <a:rect r="r" b="b" t="t" l="l"/>
              <a:pathLst>
                <a:path h="5705856" w="4470400">
                  <a:moveTo>
                    <a:pt x="0" y="254000"/>
                  </a:moveTo>
                  <a:cubicBezTo>
                    <a:pt x="0" y="113665"/>
                    <a:pt x="113665" y="0"/>
                    <a:pt x="254000" y="0"/>
                  </a:cubicBezTo>
                  <a:lnTo>
                    <a:pt x="4216400" y="0"/>
                  </a:lnTo>
                  <a:cubicBezTo>
                    <a:pt x="4356735" y="0"/>
                    <a:pt x="4470400" y="113665"/>
                    <a:pt x="4470400" y="254000"/>
                  </a:cubicBezTo>
                  <a:lnTo>
                    <a:pt x="4470400" y="5451856"/>
                  </a:lnTo>
                  <a:cubicBezTo>
                    <a:pt x="4470400" y="5592191"/>
                    <a:pt x="4356735" y="5705856"/>
                    <a:pt x="4216400" y="5705856"/>
                  </a:cubicBezTo>
                  <a:lnTo>
                    <a:pt x="254000" y="5705856"/>
                  </a:lnTo>
                  <a:cubicBezTo>
                    <a:pt x="113665" y="5705856"/>
                    <a:pt x="0" y="5592191"/>
                    <a:pt x="0" y="5451856"/>
                  </a:cubicBezTo>
                  <a:close/>
                </a:path>
              </a:pathLst>
            </a:custGeom>
            <a:solidFill>
              <a:srgbClr val="FFFFFF"/>
            </a:solidFill>
          </p:spPr>
        </p:sp>
      </p:grpSp>
      <p:grpSp>
        <p:nvGrpSpPr>
          <p:cNvPr name="Group 25" id="25"/>
          <p:cNvGrpSpPr/>
          <p:nvPr/>
        </p:nvGrpSpPr>
        <p:grpSpPr>
          <a:xfrm rot="0">
            <a:off x="8608954" y="2710774"/>
            <a:ext cx="3032137" cy="4294812"/>
            <a:chOff x="0" y="0"/>
            <a:chExt cx="3692639" cy="5230368"/>
          </a:xfrm>
        </p:grpSpPr>
        <p:sp>
          <p:nvSpPr>
            <p:cNvPr name="Freeform 26" id="26" descr="Lateral chest landmarks: anterior, mid and posterior axillary lines and the flank"/>
            <p:cNvSpPr/>
            <p:nvPr/>
          </p:nvSpPr>
          <p:spPr>
            <a:xfrm flipH="false" flipV="false" rot="0">
              <a:off x="0" y="0"/>
              <a:ext cx="3692652" cy="5230368"/>
            </a:xfrm>
            <a:custGeom>
              <a:avLst/>
              <a:gdLst/>
              <a:ahLst/>
              <a:cxnLst/>
              <a:rect r="r" b="b" t="t" l="l"/>
              <a:pathLst>
                <a:path h="5230368" w="3692652">
                  <a:moveTo>
                    <a:pt x="0" y="0"/>
                  </a:moveTo>
                  <a:lnTo>
                    <a:pt x="3692652" y="0"/>
                  </a:lnTo>
                  <a:lnTo>
                    <a:pt x="3692652" y="5230368"/>
                  </a:lnTo>
                  <a:lnTo>
                    <a:pt x="0" y="5230368"/>
                  </a:lnTo>
                  <a:lnTo>
                    <a:pt x="0" y="0"/>
                  </a:lnTo>
                  <a:close/>
                </a:path>
              </a:pathLst>
            </a:custGeom>
            <a:blipFill>
              <a:blip r:embed="rId6"/>
              <a:stretch>
                <a:fillRect l="-22" t="0" r="-21" b="0"/>
              </a:stretch>
            </a:blipFill>
          </p:spPr>
        </p:sp>
      </p:grpSp>
      <p:sp>
        <p:nvSpPr>
          <p:cNvPr name="TextBox 27" id="27"/>
          <p:cNvSpPr txBox="true"/>
          <p:nvPr/>
        </p:nvSpPr>
        <p:spPr>
          <a:xfrm rot="0">
            <a:off x="8241167" y="7282840"/>
            <a:ext cx="3752204" cy="430143"/>
          </a:xfrm>
          <a:prstGeom prst="rect">
            <a:avLst/>
          </a:prstGeom>
        </p:spPr>
        <p:txBody>
          <a:bodyPr anchor="t" rtlCol="false" tIns="0" lIns="0" bIns="0" rIns="0">
            <a:spAutoFit/>
          </a:bodyPr>
          <a:lstStyle/>
          <a:p>
            <a:pPr algn="ctr">
              <a:lnSpc>
                <a:spcPts val="2758"/>
              </a:lnSpc>
            </a:pPr>
            <a:r>
              <a:rPr lang="en-US" sz="1970">
                <a:solidFill>
                  <a:srgbClr val="6E3B33"/>
                </a:solidFill>
                <a:latin typeface="DM Sans"/>
                <a:ea typeface="DM Sans"/>
                <a:cs typeface="DM Sans"/>
                <a:sym typeface="DM Sans"/>
              </a:rPr>
              <a:t>Lateral</a:t>
            </a:r>
          </a:p>
        </p:txBody>
      </p:sp>
      <p:grpSp>
        <p:nvGrpSpPr>
          <p:cNvPr name="Group 28" id="28"/>
          <p:cNvGrpSpPr/>
          <p:nvPr/>
        </p:nvGrpSpPr>
        <p:grpSpPr>
          <a:xfrm rot="0">
            <a:off x="12397574" y="2275286"/>
            <a:ext cx="5422742" cy="5736427"/>
            <a:chOff x="0" y="0"/>
            <a:chExt cx="6604000" cy="6986016"/>
          </a:xfrm>
        </p:grpSpPr>
        <p:sp>
          <p:nvSpPr>
            <p:cNvPr name="Freeform 29" id="29"/>
            <p:cNvSpPr/>
            <p:nvPr/>
          </p:nvSpPr>
          <p:spPr>
            <a:xfrm flipH="false" flipV="false" rot="0">
              <a:off x="0" y="0"/>
              <a:ext cx="6604000" cy="6986016"/>
            </a:xfrm>
            <a:custGeom>
              <a:avLst/>
              <a:gdLst/>
              <a:ahLst/>
              <a:cxnLst/>
              <a:rect r="r" b="b" t="t" l="l"/>
              <a:pathLst>
                <a:path h="6986016" w="6604000">
                  <a:moveTo>
                    <a:pt x="0" y="406400"/>
                  </a:moveTo>
                  <a:cubicBezTo>
                    <a:pt x="0" y="181991"/>
                    <a:pt x="181991" y="0"/>
                    <a:pt x="406400" y="0"/>
                  </a:cubicBezTo>
                  <a:lnTo>
                    <a:pt x="6197600" y="0"/>
                  </a:lnTo>
                  <a:cubicBezTo>
                    <a:pt x="6422009" y="0"/>
                    <a:pt x="6604000" y="181991"/>
                    <a:pt x="6604000" y="406400"/>
                  </a:cubicBezTo>
                  <a:lnTo>
                    <a:pt x="6604000" y="6579616"/>
                  </a:lnTo>
                  <a:cubicBezTo>
                    <a:pt x="6604000" y="6804025"/>
                    <a:pt x="6422009" y="6986016"/>
                    <a:pt x="6197600" y="6986016"/>
                  </a:cubicBezTo>
                  <a:lnTo>
                    <a:pt x="406400" y="6986016"/>
                  </a:lnTo>
                  <a:cubicBezTo>
                    <a:pt x="181991" y="6986016"/>
                    <a:pt x="0" y="6804025"/>
                    <a:pt x="0" y="6579616"/>
                  </a:cubicBezTo>
                  <a:close/>
                </a:path>
              </a:pathLst>
            </a:custGeom>
            <a:solidFill>
              <a:srgbClr val="FFF4F1"/>
            </a:solidFill>
          </p:spPr>
        </p:sp>
      </p:grpSp>
      <p:grpSp>
        <p:nvGrpSpPr>
          <p:cNvPr name="Group 30" id="30"/>
          <p:cNvGrpSpPr/>
          <p:nvPr/>
        </p:nvGrpSpPr>
        <p:grpSpPr>
          <a:xfrm rot="0">
            <a:off x="12731281" y="2489276"/>
            <a:ext cx="4755328" cy="604844"/>
            <a:chOff x="0" y="0"/>
            <a:chExt cx="5791200" cy="736600"/>
          </a:xfrm>
        </p:grpSpPr>
        <p:sp>
          <p:nvSpPr>
            <p:cNvPr name="Freeform 31" id="31"/>
            <p:cNvSpPr/>
            <p:nvPr/>
          </p:nvSpPr>
          <p:spPr>
            <a:xfrm flipH="false" flipV="false" rot="0">
              <a:off x="0" y="0"/>
              <a:ext cx="5791200" cy="736600"/>
            </a:xfrm>
            <a:custGeom>
              <a:avLst/>
              <a:gdLst/>
              <a:ahLst/>
              <a:cxnLst/>
              <a:rect r="r" b="b" t="t" l="l"/>
              <a:pathLst>
                <a:path h="736600" w="5791200">
                  <a:moveTo>
                    <a:pt x="0" y="304800"/>
                  </a:moveTo>
                  <a:cubicBezTo>
                    <a:pt x="0" y="136525"/>
                    <a:pt x="136525" y="0"/>
                    <a:pt x="304800" y="0"/>
                  </a:cubicBezTo>
                  <a:lnTo>
                    <a:pt x="5486400" y="0"/>
                  </a:lnTo>
                  <a:cubicBezTo>
                    <a:pt x="5654675" y="0"/>
                    <a:pt x="5791200" y="136525"/>
                    <a:pt x="5791200" y="304800"/>
                  </a:cubicBezTo>
                  <a:lnTo>
                    <a:pt x="5791200" y="431800"/>
                  </a:lnTo>
                  <a:cubicBezTo>
                    <a:pt x="5791200" y="600075"/>
                    <a:pt x="5654675" y="736600"/>
                    <a:pt x="5486400" y="736600"/>
                  </a:cubicBezTo>
                  <a:lnTo>
                    <a:pt x="304800" y="736600"/>
                  </a:lnTo>
                  <a:cubicBezTo>
                    <a:pt x="136525" y="736600"/>
                    <a:pt x="0" y="600075"/>
                    <a:pt x="0" y="431800"/>
                  </a:cubicBezTo>
                  <a:close/>
                </a:path>
              </a:pathLst>
            </a:custGeom>
            <a:solidFill>
              <a:srgbClr val="C42D29"/>
            </a:solidFill>
          </p:spPr>
        </p:sp>
        <p:sp>
          <p:nvSpPr>
            <p:cNvPr name="TextBox 32" id="32"/>
            <p:cNvSpPr txBox="true"/>
            <p:nvPr/>
          </p:nvSpPr>
          <p:spPr>
            <a:xfrm>
              <a:off x="0" y="-47625"/>
              <a:ext cx="5791200" cy="784225"/>
            </a:xfrm>
            <a:prstGeom prst="rect">
              <a:avLst/>
            </a:prstGeom>
          </p:spPr>
          <p:txBody>
            <a:bodyPr anchor="t" rtlCol="false" tIns="50800" lIns="50800" bIns="50800" rIns="50800"/>
            <a:lstStyle/>
            <a:p>
              <a:pPr algn="ctr">
                <a:lnSpc>
                  <a:spcPts val="3149"/>
                </a:lnSpc>
              </a:pPr>
              <a:r>
                <a:rPr lang="en-US" sz="2250" b="true">
                  <a:solidFill>
                    <a:srgbClr val="FFFFFF"/>
                  </a:solidFill>
                  <a:latin typeface="DM Sans Bold"/>
                  <a:ea typeface="DM Sans Bold"/>
                  <a:cs typeface="DM Sans Bold"/>
                  <a:sym typeface="DM Sans Bold"/>
                </a:rPr>
                <a:t>Landmarks</a:t>
              </a:r>
            </a:p>
          </p:txBody>
        </p:sp>
      </p:grpSp>
      <p:sp>
        <p:nvSpPr>
          <p:cNvPr name="TextBox 33" id="33"/>
          <p:cNvSpPr txBox="true"/>
          <p:nvPr/>
        </p:nvSpPr>
        <p:spPr>
          <a:xfrm rot="0">
            <a:off x="12731281" y="3255063"/>
            <a:ext cx="4897988" cy="498005"/>
          </a:xfrm>
          <a:prstGeom prst="rect">
            <a:avLst/>
          </a:prstGeom>
        </p:spPr>
        <p:txBody>
          <a:bodyPr anchor="t" rtlCol="false" tIns="0" lIns="0" bIns="0" rIns="0">
            <a:spAutoFit/>
          </a:bodyPr>
          <a:lstStyle/>
          <a:p>
            <a:pPr algn="l">
              <a:lnSpc>
                <a:spcPts val="3218"/>
              </a:lnSpc>
            </a:pPr>
            <a:r>
              <a:rPr lang="en-US" sz="2299" b="true">
                <a:solidFill>
                  <a:srgbClr val="E74B2F"/>
                </a:solidFill>
                <a:latin typeface="DM Sans Bold"/>
                <a:ea typeface="DM Sans Bold"/>
                <a:cs typeface="DM Sans Bold"/>
                <a:sym typeface="DM Sans Bold"/>
              </a:rPr>
              <a:t>NV bundle</a:t>
            </a:r>
          </a:p>
        </p:txBody>
      </p:sp>
      <p:sp>
        <p:nvSpPr>
          <p:cNvPr name="TextBox 34" id="34"/>
          <p:cNvSpPr txBox="true"/>
          <p:nvPr/>
        </p:nvSpPr>
        <p:spPr>
          <a:xfrm rot="0">
            <a:off x="12731281" y="3745349"/>
            <a:ext cx="4897988" cy="774202"/>
          </a:xfrm>
          <a:prstGeom prst="rect">
            <a:avLst/>
          </a:prstGeom>
        </p:spPr>
        <p:txBody>
          <a:bodyPr anchor="t" rtlCol="false" tIns="0" lIns="0" bIns="0" rIns="0">
            <a:spAutoFit/>
          </a:bodyPr>
          <a:lstStyle/>
          <a:p>
            <a:pPr algn="l">
              <a:lnSpc>
                <a:spcPts val="2772"/>
              </a:lnSpc>
            </a:pPr>
            <a:r>
              <a:rPr lang="en-US" sz="2052">
                <a:solidFill>
                  <a:srgbClr val="1F1210"/>
                </a:solidFill>
                <a:latin typeface="DM Sans"/>
                <a:ea typeface="DM Sans"/>
                <a:cs typeface="DM Sans"/>
                <a:sym typeface="DM Sans"/>
              </a:rPr>
              <a:t>Runs under each rib → insert needle/tube </a:t>
            </a:r>
            <a:r>
              <a:rPr lang="en-US" sz="2052" b="true">
                <a:solidFill>
                  <a:srgbClr val="1F1210"/>
                </a:solidFill>
                <a:latin typeface="DM Sans Bold"/>
                <a:ea typeface="DM Sans Bold"/>
                <a:cs typeface="DM Sans Bold"/>
                <a:sym typeface="DM Sans Bold"/>
              </a:rPr>
              <a:t>over the top</a:t>
            </a:r>
            <a:r>
              <a:rPr lang="en-US" sz="2052">
                <a:solidFill>
                  <a:srgbClr val="1F1210"/>
                </a:solidFill>
                <a:latin typeface="DM Sans"/>
                <a:ea typeface="DM Sans"/>
                <a:cs typeface="DM Sans"/>
                <a:sym typeface="DM Sans"/>
              </a:rPr>
              <a:t> of the rib</a:t>
            </a:r>
          </a:p>
        </p:txBody>
      </p:sp>
      <p:sp>
        <p:nvSpPr>
          <p:cNvPr name="TextBox 35" id="35"/>
          <p:cNvSpPr txBox="true"/>
          <p:nvPr/>
        </p:nvSpPr>
        <p:spPr>
          <a:xfrm rot="0">
            <a:off x="12731281" y="4638780"/>
            <a:ext cx="4897988" cy="498005"/>
          </a:xfrm>
          <a:prstGeom prst="rect">
            <a:avLst/>
          </a:prstGeom>
        </p:spPr>
        <p:txBody>
          <a:bodyPr anchor="t" rtlCol="false" tIns="0" lIns="0" bIns="0" rIns="0">
            <a:spAutoFit/>
          </a:bodyPr>
          <a:lstStyle/>
          <a:p>
            <a:pPr algn="l">
              <a:lnSpc>
                <a:spcPts val="3218"/>
              </a:lnSpc>
            </a:pPr>
            <a:r>
              <a:rPr lang="en-US" sz="2299" b="true">
                <a:solidFill>
                  <a:srgbClr val="E74B2F"/>
                </a:solidFill>
                <a:latin typeface="DM Sans Bold"/>
                <a:ea typeface="DM Sans Bold"/>
                <a:cs typeface="DM Sans Bold"/>
                <a:sym typeface="DM Sans Bold"/>
              </a:rPr>
              <a:t>IMF = 4th–5th ICS</a:t>
            </a:r>
          </a:p>
        </p:txBody>
      </p:sp>
      <p:sp>
        <p:nvSpPr>
          <p:cNvPr name="TextBox 36" id="36"/>
          <p:cNvSpPr txBox="true"/>
          <p:nvPr/>
        </p:nvSpPr>
        <p:spPr>
          <a:xfrm rot="0">
            <a:off x="12731281" y="5129055"/>
            <a:ext cx="4897988" cy="774202"/>
          </a:xfrm>
          <a:prstGeom prst="rect">
            <a:avLst/>
          </a:prstGeom>
        </p:spPr>
        <p:txBody>
          <a:bodyPr anchor="t" rtlCol="false" tIns="0" lIns="0" bIns="0" rIns="0">
            <a:spAutoFit/>
          </a:bodyPr>
          <a:lstStyle/>
          <a:p>
            <a:pPr algn="l">
              <a:lnSpc>
                <a:spcPts val="2772"/>
              </a:lnSpc>
            </a:pPr>
            <a:r>
              <a:rPr lang="en-US" sz="2052">
                <a:solidFill>
                  <a:srgbClr val="1F1210"/>
                </a:solidFill>
                <a:latin typeface="DM Sans"/>
                <a:ea typeface="DM Sans"/>
                <a:cs typeface="DM Sans"/>
                <a:sym typeface="DM Sans"/>
              </a:rPr>
              <a:t>Safe level for needle/tube (low risk of entering the abdomen)</a:t>
            </a:r>
          </a:p>
        </p:txBody>
      </p:sp>
      <p:sp>
        <p:nvSpPr>
          <p:cNvPr name="TextBox 37" id="37"/>
          <p:cNvSpPr txBox="true"/>
          <p:nvPr/>
        </p:nvSpPr>
        <p:spPr>
          <a:xfrm rot="0">
            <a:off x="12731281" y="6022486"/>
            <a:ext cx="4897988" cy="498005"/>
          </a:xfrm>
          <a:prstGeom prst="rect">
            <a:avLst/>
          </a:prstGeom>
        </p:spPr>
        <p:txBody>
          <a:bodyPr anchor="t" rtlCol="false" tIns="0" lIns="0" bIns="0" rIns="0">
            <a:spAutoFit/>
          </a:bodyPr>
          <a:lstStyle/>
          <a:p>
            <a:pPr algn="l">
              <a:lnSpc>
                <a:spcPts val="3218"/>
              </a:lnSpc>
            </a:pPr>
            <a:r>
              <a:rPr lang="en-US" sz="2299" b="true">
                <a:solidFill>
                  <a:srgbClr val="E74B2F"/>
                </a:solidFill>
                <a:latin typeface="DM Sans Bold"/>
                <a:ea typeface="DM Sans Bold"/>
                <a:cs typeface="DM Sans Bold"/>
                <a:sym typeface="DM Sans Bold"/>
              </a:rPr>
              <a:t>Diaphragm</a:t>
            </a:r>
          </a:p>
        </p:txBody>
      </p:sp>
      <p:sp>
        <p:nvSpPr>
          <p:cNvPr name="TextBox 38" id="38"/>
          <p:cNvSpPr txBox="true"/>
          <p:nvPr/>
        </p:nvSpPr>
        <p:spPr>
          <a:xfrm rot="0">
            <a:off x="12731281" y="6512772"/>
            <a:ext cx="4897988" cy="333500"/>
          </a:xfrm>
          <a:prstGeom prst="rect">
            <a:avLst/>
          </a:prstGeom>
        </p:spPr>
        <p:txBody>
          <a:bodyPr anchor="t" rtlCol="false" tIns="0" lIns="0" bIns="0" rIns="0">
            <a:spAutoFit/>
          </a:bodyPr>
          <a:lstStyle/>
          <a:p>
            <a:pPr algn="l">
              <a:lnSpc>
                <a:spcPts val="2772"/>
              </a:lnSpc>
            </a:pPr>
            <a:r>
              <a:rPr lang="en-US" sz="2052">
                <a:solidFill>
                  <a:srgbClr val="1F1210"/>
                </a:solidFill>
                <a:latin typeface="DM Sans"/>
                <a:ea typeface="DM Sans"/>
                <a:cs typeface="DM Sans"/>
                <a:sym typeface="DM Sans"/>
              </a:rPr>
              <a:t>Reaches the nipple line on expiration </a:t>
            </a:r>
          </a:p>
        </p:txBody>
      </p:sp>
      <p:grpSp>
        <p:nvGrpSpPr>
          <p:cNvPr name="Group 39" id="39"/>
          <p:cNvGrpSpPr/>
          <p:nvPr/>
        </p:nvGrpSpPr>
        <p:grpSpPr>
          <a:xfrm rot="0">
            <a:off x="0" y="164592"/>
            <a:ext cx="754380" cy="384048"/>
            <a:chOff x="0" y="0"/>
            <a:chExt cx="1005840" cy="512064"/>
          </a:xfrm>
        </p:grpSpPr>
        <p:sp>
          <p:nvSpPr>
            <p:cNvPr name="Freeform 40" id="40"/>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41" id="41"/>
          <p:cNvGrpSpPr/>
          <p:nvPr/>
        </p:nvGrpSpPr>
        <p:grpSpPr>
          <a:xfrm rot="0">
            <a:off x="932688" y="288036"/>
            <a:ext cx="137160" cy="137160"/>
            <a:chOff x="0" y="0"/>
            <a:chExt cx="182880" cy="182880"/>
          </a:xfrm>
        </p:grpSpPr>
        <p:sp>
          <p:nvSpPr>
            <p:cNvPr name="Freeform 42" id="4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3" id="43"/>
          <p:cNvGrpSpPr/>
          <p:nvPr/>
        </p:nvGrpSpPr>
        <p:grpSpPr>
          <a:xfrm rot="0">
            <a:off x="1193292" y="288036"/>
            <a:ext cx="137160" cy="137160"/>
            <a:chOff x="0" y="0"/>
            <a:chExt cx="182880" cy="182880"/>
          </a:xfrm>
        </p:grpSpPr>
        <p:sp>
          <p:nvSpPr>
            <p:cNvPr name="Freeform 44" id="4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5" id="45"/>
          <p:cNvGrpSpPr/>
          <p:nvPr/>
        </p:nvGrpSpPr>
        <p:grpSpPr>
          <a:xfrm rot="0">
            <a:off x="1453896" y="288036"/>
            <a:ext cx="137160" cy="137160"/>
            <a:chOff x="0" y="0"/>
            <a:chExt cx="182880" cy="182880"/>
          </a:xfrm>
        </p:grpSpPr>
        <p:sp>
          <p:nvSpPr>
            <p:cNvPr name="Freeform 46" id="4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7" id="47"/>
          <p:cNvGrpSpPr/>
          <p:nvPr/>
        </p:nvGrpSpPr>
        <p:grpSpPr>
          <a:xfrm rot="0">
            <a:off x="1714500" y="288036"/>
            <a:ext cx="137160" cy="137160"/>
            <a:chOff x="0" y="0"/>
            <a:chExt cx="182880" cy="182880"/>
          </a:xfrm>
        </p:grpSpPr>
        <p:sp>
          <p:nvSpPr>
            <p:cNvPr name="Freeform 48" id="4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9" id="49"/>
          <p:cNvGrpSpPr/>
          <p:nvPr/>
        </p:nvGrpSpPr>
        <p:grpSpPr>
          <a:xfrm rot="0">
            <a:off x="1975104" y="288036"/>
            <a:ext cx="137160" cy="137160"/>
            <a:chOff x="0" y="0"/>
            <a:chExt cx="182880" cy="182880"/>
          </a:xfrm>
        </p:grpSpPr>
        <p:sp>
          <p:nvSpPr>
            <p:cNvPr name="Freeform 50" id="5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51" id="51"/>
          <p:cNvGrpSpPr/>
          <p:nvPr/>
        </p:nvGrpSpPr>
        <p:grpSpPr>
          <a:xfrm rot="0">
            <a:off x="2235708" y="288036"/>
            <a:ext cx="137160" cy="137160"/>
            <a:chOff x="0" y="0"/>
            <a:chExt cx="182880" cy="182880"/>
          </a:xfrm>
        </p:grpSpPr>
        <p:sp>
          <p:nvSpPr>
            <p:cNvPr name="Freeform 52" id="5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53" id="53"/>
          <p:cNvGrpSpPr/>
          <p:nvPr/>
        </p:nvGrpSpPr>
        <p:grpSpPr>
          <a:xfrm rot="0">
            <a:off x="2496312" y="288036"/>
            <a:ext cx="137160" cy="137160"/>
            <a:chOff x="0" y="0"/>
            <a:chExt cx="182880" cy="182880"/>
          </a:xfrm>
        </p:grpSpPr>
        <p:sp>
          <p:nvSpPr>
            <p:cNvPr name="Freeform 54" id="5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5-3. p. 67-68.</a:t>
            </a:r>
          </a:p>
        </p:txBody>
      </p:sp>
      <p:grpSp>
        <p:nvGrpSpPr>
          <p:cNvPr name="Group 6" id="6"/>
          <p:cNvGrpSpPr/>
          <p:nvPr/>
        </p:nvGrpSpPr>
        <p:grpSpPr>
          <a:xfrm rot="0">
            <a:off x="1219200" y="1876425"/>
            <a:ext cx="15849600" cy="723900"/>
            <a:chOff x="0" y="0"/>
            <a:chExt cx="21132800" cy="965200"/>
          </a:xfrm>
        </p:grpSpPr>
        <p:sp>
          <p:nvSpPr>
            <p:cNvPr name="Freeform 7" id="7"/>
            <p:cNvSpPr/>
            <p:nvPr/>
          </p:nvSpPr>
          <p:spPr>
            <a:xfrm flipH="false" flipV="false" rot="0">
              <a:off x="0" y="0"/>
              <a:ext cx="21132800" cy="965200"/>
            </a:xfrm>
            <a:custGeom>
              <a:avLst/>
              <a:gdLst/>
              <a:ahLst/>
              <a:cxnLst/>
              <a:rect r="r" b="b" t="t" l="l"/>
              <a:pathLst>
                <a:path h="965200" w="21132800">
                  <a:moveTo>
                    <a:pt x="0" y="355600"/>
                  </a:moveTo>
                  <a:cubicBezTo>
                    <a:pt x="0" y="159258"/>
                    <a:pt x="159258" y="0"/>
                    <a:pt x="355600" y="0"/>
                  </a:cubicBezTo>
                  <a:lnTo>
                    <a:pt x="20777200" y="0"/>
                  </a:lnTo>
                  <a:cubicBezTo>
                    <a:pt x="20973542" y="0"/>
                    <a:pt x="21132800" y="159258"/>
                    <a:pt x="21132800" y="355600"/>
                  </a:cubicBezTo>
                  <a:lnTo>
                    <a:pt x="21132800" y="609600"/>
                  </a:lnTo>
                  <a:cubicBezTo>
                    <a:pt x="21132800" y="805942"/>
                    <a:pt x="20973542" y="965200"/>
                    <a:pt x="20777200" y="965200"/>
                  </a:cubicBezTo>
                  <a:lnTo>
                    <a:pt x="355600" y="965200"/>
                  </a:lnTo>
                  <a:cubicBezTo>
                    <a:pt x="159258" y="965200"/>
                    <a:pt x="0" y="805942"/>
                    <a:pt x="0" y="609600"/>
                  </a:cubicBezTo>
                  <a:close/>
                </a:path>
              </a:pathLst>
            </a:custGeom>
            <a:solidFill>
              <a:srgbClr val="C42D29"/>
            </a:solidFill>
          </p:spPr>
        </p:sp>
        <p:sp>
          <p:nvSpPr>
            <p:cNvPr name="TextBox 8" id="8"/>
            <p:cNvSpPr txBox="true"/>
            <p:nvPr/>
          </p:nvSpPr>
          <p:spPr>
            <a:xfrm>
              <a:off x="0" y="-66675"/>
              <a:ext cx="21132800" cy="1031875"/>
            </a:xfrm>
            <a:prstGeom prst="rect">
              <a:avLst/>
            </a:prstGeom>
          </p:spPr>
          <p:txBody>
            <a:bodyPr anchor="t" rtlCol="false" tIns="50800" lIns="50800" bIns="50800" rIns="50800"/>
            <a:lstStyle/>
            <a:p>
              <a:pPr algn="ctr">
                <a:lnSpc>
                  <a:spcPts val="4200"/>
                </a:lnSpc>
              </a:pPr>
              <a:r>
                <a:rPr lang="en-US" b="true" sz="3000" spc="150">
                  <a:solidFill>
                    <a:srgbClr val="FFFFFF"/>
                  </a:solidFill>
                  <a:latin typeface="DM Sans Bold"/>
                  <a:ea typeface="DM Sans Bold"/>
                  <a:cs typeface="DM Sans Bold"/>
                  <a:sym typeface="DM Sans Bold"/>
                </a:rPr>
                <a:t>CARDIAC BOX</a:t>
              </a:r>
            </a:p>
          </p:txBody>
        </p:sp>
      </p:grpSp>
      <p:grpSp>
        <p:nvGrpSpPr>
          <p:cNvPr name="Group 9" id="9"/>
          <p:cNvGrpSpPr/>
          <p:nvPr/>
        </p:nvGrpSpPr>
        <p:grpSpPr>
          <a:xfrm rot="0">
            <a:off x="1219200" y="2752725"/>
            <a:ext cx="6096000" cy="5715000"/>
            <a:chOff x="0" y="0"/>
            <a:chExt cx="8128000" cy="7620000"/>
          </a:xfrm>
        </p:grpSpPr>
        <p:sp>
          <p:nvSpPr>
            <p:cNvPr name="Freeform 10" id="10"/>
            <p:cNvSpPr/>
            <p:nvPr/>
          </p:nvSpPr>
          <p:spPr>
            <a:xfrm flipH="false" flipV="false" rot="0">
              <a:off x="0" y="0"/>
              <a:ext cx="8128000" cy="7620000"/>
            </a:xfrm>
            <a:custGeom>
              <a:avLst/>
              <a:gdLst/>
              <a:ahLst/>
              <a:cxnLst/>
              <a:rect r="r" b="b" t="t" l="l"/>
              <a:pathLst>
                <a:path h="7620000" w="8128000">
                  <a:moveTo>
                    <a:pt x="0" y="406400"/>
                  </a:moveTo>
                  <a:cubicBezTo>
                    <a:pt x="0" y="181991"/>
                    <a:pt x="181991" y="0"/>
                    <a:pt x="406400" y="0"/>
                  </a:cubicBezTo>
                  <a:lnTo>
                    <a:pt x="7721600" y="0"/>
                  </a:lnTo>
                  <a:cubicBezTo>
                    <a:pt x="7946009" y="0"/>
                    <a:pt x="8128000" y="181991"/>
                    <a:pt x="8128000" y="406400"/>
                  </a:cubicBezTo>
                  <a:lnTo>
                    <a:pt x="8128000" y="7213600"/>
                  </a:lnTo>
                  <a:cubicBezTo>
                    <a:pt x="8128000" y="7438009"/>
                    <a:pt x="7946009" y="7620000"/>
                    <a:pt x="7721600" y="7620000"/>
                  </a:cubicBezTo>
                  <a:lnTo>
                    <a:pt x="406400" y="7620000"/>
                  </a:lnTo>
                  <a:cubicBezTo>
                    <a:pt x="181991" y="7620000"/>
                    <a:pt x="0" y="7438009"/>
                    <a:pt x="0" y="7213600"/>
                  </a:cubicBezTo>
                  <a:close/>
                </a:path>
              </a:pathLst>
            </a:custGeom>
            <a:solidFill>
              <a:srgbClr val="FFFFFF"/>
            </a:solidFill>
          </p:spPr>
        </p:sp>
      </p:grpSp>
      <p:grpSp>
        <p:nvGrpSpPr>
          <p:cNvPr name="Group 11" id="11"/>
          <p:cNvGrpSpPr/>
          <p:nvPr/>
        </p:nvGrpSpPr>
        <p:grpSpPr>
          <a:xfrm rot="0">
            <a:off x="1796796" y="2907792"/>
            <a:ext cx="4937760" cy="4927902"/>
            <a:chOff x="0" y="0"/>
            <a:chExt cx="6583680" cy="6570536"/>
          </a:xfrm>
        </p:grpSpPr>
        <p:sp>
          <p:nvSpPr>
            <p:cNvPr name="Freeform 12" id="12" descr="The cardiac box drawn over the chest, between the nipple lines from sternal notch to costal margins"/>
            <p:cNvSpPr/>
            <p:nvPr/>
          </p:nvSpPr>
          <p:spPr>
            <a:xfrm flipH="false" flipV="false" rot="0">
              <a:off x="0" y="0"/>
              <a:ext cx="6583680" cy="6570599"/>
            </a:xfrm>
            <a:custGeom>
              <a:avLst/>
              <a:gdLst/>
              <a:ahLst/>
              <a:cxnLst/>
              <a:rect r="r" b="b" t="t" l="l"/>
              <a:pathLst>
                <a:path h="6570599" w="6583680">
                  <a:moveTo>
                    <a:pt x="0" y="0"/>
                  </a:moveTo>
                  <a:lnTo>
                    <a:pt x="6583680" y="0"/>
                  </a:lnTo>
                  <a:lnTo>
                    <a:pt x="6583680" y="6570599"/>
                  </a:lnTo>
                  <a:lnTo>
                    <a:pt x="0" y="6570599"/>
                  </a:lnTo>
                  <a:lnTo>
                    <a:pt x="0" y="0"/>
                  </a:lnTo>
                  <a:close/>
                </a:path>
              </a:pathLst>
            </a:custGeom>
            <a:blipFill>
              <a:blip r:embed="rId3"/>
              <a:stretch>
                <a:fillRect l="0" t="-3" r="0" b="-2"/>
              </a:stretch>
            </a:blipFill>
          </p:spPr>
        </p:sp>
      </p:grpSp>
      <p:sp>
        <p:nvSpPr>
          <p:cNvPr name="TextBox 13" id="13"/>
          <p:cNvSpPr txBox="true"/>
          <p:nvPr/>
        </p:nvSpPr>
        <p:spPr>
          <a:xfrm rot="0">
            <a:off x="1323975" y="7920038"/>
            <a:ext cx="5886450" cy="395288"/>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Cardiac “box” (Fig 5-3)</a:t>
            </a:r>
          </a:p>
        </p:txBody>
      </p:sp>
      <p:grpSp>
        <p:nvGrpSpPr>
          <p:cNvPr name="Group 14" id="14"/>
          <p:cNvGrpSpPr/>
          <p:nvPr/>
        </p:nvGrpSpPr>
        <p:grpSpPr>
          <a:xfrm rot="0">
            <a:off x="7620000" y="2752725"/>
            <a:ext cx="9448800" cy="2743200"/>
            <a:chOff x="0" y="0"/>
            <a:chExt cx="12598400" cy="3657600"/>
          </a:xfrm>
        </p:grpSpPr>
        <p:sp>
          <p:nvSpPr>
            <p:cNvPr name="Freeform 15" id="15"/>
            <p:cNvSpPr/>
            <p:nvPr/>
          </p:nvSpPr>
          <p:spPr>
            <a:xfrm flipH="false" flipV="false" rot="0">
              <a:off x="0" y="0"/>
              <a:ext cx="12598400" cy="3657600"/>
            </a:xfrm>
            <a:custGeom>
              <a:avLst/>
              <a:gdLst/>
              <a:ahLst/>
              <a:cxnLst/>
              <a:rect r="r" b="b" t="t" l="l"/>
              <a:pathLst>
                <a:path h="3657600" w="12598400">
                  <a:moveTo>
                    <a:pt x="0" y="406400"/>
                  </a:moveTo>
                  <a:cubicBezTo>
                    <a:pt x="0" y="181991"/>
                    <a:pt x="181991" y="0"/>
                    <a:pt x="406400" y="0"/>
                  </a:cubicBezTo>
                  <a:lnTo>
                    <a:pt x="12192000" y="0"/>
                  </a:lnTo>
                  <a:cubicBezTo>
                    <a:pt x="12416409" y="0"/>
                    <a:pt x="12598400" y="181991"/>
                    <a:pt x="12598400" y="406400"/>
                  </a:cubicBezTo>
                  <a:lnTo>
                    <a:pt x="12598400" y="3251200"/>
                  </a:lnTo>
                  <a:cubicBezTo>
                    <a:pt x="12598400" y="3475609"/>
                    <a:pt x="12416409" y="3657600"/>
                    <a:pt x="12192000" y="3657600"/>
                  </a:cubicBezTo>
                  <a:lnTo>
                    <a:pt x="406400" y="3657600"/>
                  </a:lnTo>
                  <a:cubicBezTo>
                    <a:pt x="181991" y="3657600"/>
                    <a:pt x="0" y="3475609"/>
                    <a:pt x="0" y="3251200"/>
                  </a:cubicBezTo>
                  <a:close/>
                </a:path>
              </a:pathLst>
            </a:custGeom>
            <a:solidFill>
              <a:srgbClr val="FFF4F1"/>
            </a:solidFill>
          </p:spPr>
        </p:sp>
      </p:grpSp>
      <p:grpSp>
        <p:nvGrpSpPr>
          <p:cNvPr name="Group 16" id="16"/>
          <p:cNvGrpSpPr/>
          <p:nvPr/>
        </p:nvGrpSpPr>
        <p:grpSpPr>
          <a:xfrm rot="0">
            <a:off x="7962900" y="3019425"/>
            <a:ext cx="1555994" cy="552450"/>
            <a:chOff x="0" y="0"/>
            <a:chExt cx="2074659" cy="736600"/>
          </a:xfrm>
        </p:grpSpPr>
        <p:sp>
          <p:nvSpPr>
            <p:cNvPr name="Freeform 17" id="17"/>
            <p:cNvSpPr/>
            <p:nvPr/>
          </p:nvSpPr>
          <p:spPr>
            <a:xfrm flipH="false" flipV="false" rot="0">
              <a:off x="0" y="0"/>
              <a:ext cx="2074672" cy="736600"/>
            </a:xfrm>
            <a:custGeom>
              <a:avLst/>
              <a:gdLst/>
              <a:ahLst/>
              <a:cxnLst/>
              <a:rect r="r" b="b" t="t" l="l"/>
              <a:pathLst>
                <a:path h="736600" w="2074672">
                  <a:moveTo>
                    <a:pt x="0" y="304800"/>
                  </a:moveTo>
                  <a:cubicBezTo>
                    <a:pt x="0" y="136525"/>
                    <a:pt x="136525" y="0"/>
                    <a:pt x="304800" y="0"/>
                  </a:cubicBezTo>
                  <a:lnTo>
                    <a:pt x="1769872" y="0"/>
                  </a:lnTo>
                  <a:cubicBezTo>
                    <a:pt x="1938147" y="0"/>
                    <a:pt x="2074672" y="136525"/>
                    <a:pt x="2074672" y="304800"/>
                  </a:cubicBezTo>
                  <a:lnTo>
                    <a:pt x="2074672" y="431800"/>
                  </a:lnTo>
                  <a:cubicBezTo>
                    <a:pt x="2074672" y="600075"/>
                    <a:pt x="1938147" y="736600"/>
                    <a:pt x="1769872" y="736600"/>
                  </a:cubicBezTo>
                  <a:lnTo>
                    <a:pt x="304800" y="736600"/>
                  </a:lnTo>
                  <a:cubicBezTo>
                    <a:pt x="136525" y="736600"/>
                    <a:pt x="0" y="600075"/>
                    <a:pt x="0" y="431800"/>
                  </a:cubicBezTo>
                  <a:close/>
                </a:path>
              </a:pathLst>
            </a:custGeom>
            <a:solidFill>
              <a:srgbClr val="C42D29"/>
            </a:solidFill>
          </p:spPr>
        </p:sp>
        <p:sp>
          <p:nvSpPr>
            <p:cNvPr name="TextBox 18" id="18"/>
            <p:cNvSpPr txBox="true"/>
            <p:nvPr/>
          </p:nvSpPr>
          <p:spPr>
            <a:xfrm>
              <a:off x="0" y="-47625"/>
              <a:ext cx="2074659" cy="784225"/>
            </a:xfrm>
            <a:prstGeom prst="rect">
              <a:avLst/>
            </a:prstGeom>
          </p:spPr>
          <p:txBody>
            <a:bodyPr anchor="ctr" rtlCol="false" tIns="50800" lIns="50800" bIns="50800" rIns="50800"/>
            <a:lstStyle/>
            <a:p>
              <a:pPr algn="ctr">
                <a:lnSpc>
                  <a:spcPts val="3149"/>
                </a:lnSpc>
              </a:pPr>
              <a:r>
                <a:rPr lang="en-US" sz="2250" b="true">
                  <a:solidFill>
                    <a:srgbClr val="FFFFFF"/>
                  </a:solidFill>
                  <a:latin typeface="DM Sans Bold"/>
                  <a:ea typeface="DM Sans Bold"/>
                  <a:cs typeface="DM Sans Bold"/>
                  <a:sym typeface="DM Sans Bold"/>
                </a:rPr>
                <a:t>Borders</a:t>
              </a:r>
            </a:p>
          </p:txBody>
        </p:sp>
      </p:grpSp>
      <p:sp>
        <p:nvSpPr>
          <p:cNvPr name="TextBox 19" id="19"/>
          <p:cNvSpPr txBox="true"/>
          <p:nvPr/>
        </p:nvSpPr>
        <p:spPr>
          <a:xfrm rot="0">
            <a:off x="7962900" y="3690042"/>
            <a:ext cx="1981200" cy="458991"/>
          </a:xfrm>
          <a:prstGeom prst="rect">
            <a:avLst/>
          </a:prstGeom>
        </p:spPr>
        <p:txBody>
          <a:bodyPr anchor="t" rtlCol="false" tIns="0" lIns="0" bIns="0" rIns="0">
            <a:spAutoFit/>
          </a:bodyPr>
          <a:lstStyle/>
          <a:p>
            <a:pPr algn="l">
              <a:lnSpc>
                <a:spcPts val="2940"/>
              </a:lnSpc>
            </a:pPr>
            <a:r>
              <a:rPr lang="en-US" sz="2100" b="true">
                <a:solidFill>
                  <a:srgbClr val="E74B2F"/>
                </a:solidFill>
                <a:latin typeface="DM Sans Bold"/>
                <a:ea typeface="DM Sans Bold"/>
                <a:cs typeface="DM Sans Bold"/>
                <a:sym typeface="DM Sans Bold"/>
              </a:rPr>
              <a:t>Superior</a:t>
            </a:r>
          </a:p>
        </p:txBody>
      </p:sp>
      <p:sp>
        <p:nvSpPr>
          <p:cNvPr name="TextBox 20" id="20"/>
          <p:cNvSpPr txBox="true"/>
          <p:nvPr/>
        </p:nvSpPr>
        <p:spPr>
          <a:xfrm rot="0">
            <a:off x="10058400" y="3676650"/>
            <a:ext cx="6867525" cy="485775"/>
          </a:xfrm>
          <a:prstGeom prst="rect">
            <a:avLst/>
          </a:prstGeom>
        </p:spPr>
        <p:txBody>
          <a:bodyPr anchor="t" rtlCol="false" tIns="0" lIns="0" bIns="0" rIns="0">
            <a:spAutoFit/>
          </a:bodyPr>
          <a:lstStyle/>
          <a:p>
            <a:pPr algn="l">
              <a:lnSpc>
                <a:spcPts val="3149"/>
              </a:lnSpc>
            </a:pPr>
            <a:r>
              <a:rPr lang="en-US" sz="2250">
                <a:solidFill>
                  <a:srgbClr val="1F1210"/>
                </a:solidFill>
                <a:latin typeface="DM Sans"/>
                <a:ea typeface="DM Sans"/>
                <a:cs typeface="DM Sans"/>
                <a:sym typeface="DM Sans"/>
              </a:rPr>
              <a:t>Sternal notch</a:t>
            </a:r>
          </a:p>
        </p:txBody>
      </p:sp>
      <p:sp>
        <p:nvSpPr>
          <p:cNvPr name="TextBox 21" id="21"/>
          <p:cNvSpPr txBox="true"/>
          <p:nvPr/>
        </p:nvSpPr>
        <p:spPr>
          <a:xfrm rot="0">
            <a:off x="7962900" y="4242492"/>
            <a:ext cx="1981200" cy="458991"/>
          </a:xfrm>
          <a:prstGeom prst="rect">
            <a:avLst/>
          </a:prstGeom>
        </p:spPr>
        <p:txBody>
          <a:bodyPr anchor="t" rtlCol="false" tIns="0" lIns="0" bIns="0" rIns="0">
            <a:spAutoFit/>
          </a:bodyPr>
          <a:lstStyle/>
          <a:p>
            <a:pPr algn="l">
              <a:lnSpc>
                <a:spcPts val="2940"/>
              </a:lnSpc>
            </a:pPr>
            <a:r>
              <a:rPr lang="en-US" sz="2100" b="true">
                <a:solidFill>
                  <a:srgbClr val="E74B2F"/>
                </a:solidFill>
                <a:latin typeface="DM Sans Bold"/>
                <a:ea typeface="DM Sans Bold"/>
                <a:cs typeface="DM Sans Bold"/>
                <a:sym typeface="DM Sans Bold"/>
              </a:rPr>
              <a:t>Inferior</a:t>
            </a:r>
          </a:p>
        </p:txBody>
      </p:sp>
      <p:sp>
        <p:nvSpPr>
          <p:cNvPr name="TextBox 22" id="22"/>
          <p:cNvSpPr txBox="true"/>
          <p:nvPr/>
        </p:nvSpPr>
        <p:spPr>
          <a:xfrm rot="0">
            <a:off x="10058400" y="4229100"/>
            <a:ext cx="6867525" cy="485775"/>
          </a:xfrm>
          <a:prstGeom prst="rect">
            <a:avLst/>
          </a:prstGeom>
        </p:spPr>
        <p:txBody>
          <a:bodyPr anchor="t" rtlCol="false" tIns="0" lIns="0" bIns="0" rIns="0">
            <a:spAutoFit/>
          </a:bodyPr>
          <a:lstStyle/>
          <a:p>
            <a:pPr algn="l">
              <a:lnSpc>
                <a:spcPts val="3149"/>
              </a:lnSpc>
            </a:pPr>
            <a:r>
              <a:rPr lang="en-US" sz="2250">
                <a:solidFill>
                  <a:srgbClr val="1F1210"/>
                </a:solidFill>
                <a:latin typeface="DM Sans"/>
                <a:ea typeface="DM Sans"/>
                <a:cs typeface="DM Sans"/>
                <a:sym typeface="DM Sans"/>
              </a:rPr>
              <a:t>Costal margins</a:t>
            </a:r>
          </a:p>
        </p:txBody>
      </p:sp>
      <p:sp>
        <p:nvSpPr>
          <p:cNvPr name="TextBox 23" id="23"/>
          <p:cNvSpPr txBox="true"/>
          <p:nvPr/>
        </p:nvSpPr>
        <p:spPr>
          <a:xfrm rot="0">
            <a:off x="7962900" y="4794942"/>
            <a:ext cx="1981200" cy="458991"/>
          </a:xfrm>
          <a:prstGeom prst="rect">
            <a:avLst/>
          </a:prstGeom>
        </p:spPr>
        <p:txBody>
          <a:bodyPr anchor="t" rtlCol="false" tIns="0" lIns="0" bIns="0" rIns="0">
            <a:spAutoFit/>
          </a:bodyPr>
          <a:lstStyle/>
          <a:p>
            <a:pPr algn="l">
              <a:lnSpc>
                <a:spcPts val="2940"/>
              </a:lnSpc>
            </a:pPr>
            <a:r>
              <a:rPr lang="en-US" sz="2100" b="true">
                <a:solidFill>
                  <a:srgbClr val="E74B2F"/>
                </a:solidFill>
                <a:latin typeface="DM Sans Bold"/>
                <a:ea typeface="DM Sans Bold"/>
                <a:cs typeface="DM Sans Bold"/>
                <a:sym typeface="DM Sans Bold"/>
              </a:rPr>
              <a:t>Lateral</a:t>
            </a:r>
          </a:p>
        </p:txBody>
      </p:sp>
      <p:sp>
        <p:nvSpPr>
          <p:cNvPr name="TextBox 24" id="24"/>
          <p:cNvSpPr txBox="true"/>
          <p:nvPr/>
        </p:nvSpPr>
        <p:spPr>
          <a:xfrm rot="0">
            <a:off x="10058400" y="4781550"/>
            <a:ext cx="6867525" cy="485775"/>
          </a:xfrm>
          <a:prstGeom prst="rect">
            <a:avLst/>
          </a:prstGeom>
        </p:spPr>
        <p:txBody>
          <a:bodyPr anchor="t" rtlCol="false" tIns="0" lIns="0" bIns="0" rIns="0">
            <a:spAutoFit/>
          </a:bodyPr>
          <a:lstStyle/>
          <a:p>
            <a:pPr algn="l">
              <a:lnSpc>
                <a:spcPts val="3149"/>
              </a:lnSpc>
            </a:pPr>
            <a:r>
              <a:rPr lang="en-US" sz="2250">
                <a:solidFill>
                  <a:srgbClr val="1F1210"/>
                </a:solidFill>
                <a:latin typeface="DM Sans"/>
                <a:ea typeface="DM Sans"/>
                <a:cs typeface="DM Sans"/>
                <a:sym typeface="DM Sans"/>
              </a:rPr>
              <a:t>Nipple lines (front) or scapular tips (back)</a:t>
            </a:r>
          </a:p>
        </p:txBody>
      </p:sp>
      <p:grpSp>
        <p:nvGrpSpPr>
          <p:cNvPr name="Group 25" id="25"/>
          <p:cNvGrpSpPr/>
          <p:nvPr/>
        </p:nvGrpSpPr>
        <p:grpSpPr>
          <a:xfrm rot="0">
            <a:off x="7620000" y="5724525"/>
            <a:ext cx="9448800" cy="2247900"/>
            <a:chOff x="0" y="0"/>
            <a:chExt cx="12598400" cy="2997200"/>
          </a:xfrm>
        </p:grpSpPr>
        <p:sp>
          <p:nvSpPr>
            <p:cNvPr name="Freeform 26" id="26"/>
            <p:cNvSpPr/>
            <p:nvPr/>
          </p:nvSpPr>
          <p:spPr>
            <a:xfrm flipH="false" flipV="false" rot="0">
              <a:off x="0" y="0"/>
              <a:ext cx="12598400" cy="2997200"/>
            </a:xfrm>
            <a:custGeom>
              <a:avLst/>
              <a:gdLst/>
              <a:ahLst/>
              <a:cxnLst/>
              <a:rect r="r" b="b" t="t" l="l"/>
              <a:pathLst>
                <a:path h="2997200" w="12598400">
                  <a:moveTo>
                    <a:pt x="0" y="406400"/>
                  </a:moveTo>
                  <a:cubicBezTo>
                    <a:pt x="0" y="181991"/>
                    <a:pt x="181991" y="0"/>
                    <a:pt x="406400" y="0"/>
                  </a:cubicBezTo>
                  <a:lnTo>
                    <a:pt x="12192000" y="0"/>
                  </a:lnTo>
                  <a:cubicBezTo>
                    <a:pt x="12416409" y="0"/>
                    <a:pt x="12598400" y="181991"/>
                    <a:pt x="12598400" y="406400"/>
                  </a:cubicBezTo>
                  <a:lnTo>
                    <a:pt x="12598400" y="2590800"/>
                  </a:lnTo>
                  <a:cubicBezTo>
                    <a:pt x="12598400" y="2815209"/>
                    <a:pt x="12416409" y="2997200"/>
                    <a:pt x="12192000" y="2997200"/>
                  </a:cubicBezTo>
                  <a:lnTo>
                    <a:pt x="406400" y="2997200"/>
                  </a:lnTo>
                  <a:cubicBezTo>
                    <a:pt x="181991" y="2997200"/>
                    <a:pt x="0" y="2815209"/>
                    <a:pt x="0" y="2590800"/>
                  </a:cubicBezTo>
                  <a:close/>
                </a:path>
              </a:pathLst>
            </a:custGeom>
            <a:solidFill>
              <a:srgbClr val="C42D29"/>
            </a:solidFill>
          </p:spPr>
        </p:sp>
      </p:grpSp>
      <p:sp>
        <p:nvSpPr>
          <p:cNvPr name="TextBox 27" id="27"/>
          <p:cNvSpPr txBox="true"/>
          <p:nvPr/>
        </p:nvSpPr>
        <p:spPr>
          <a:xfrm rot="0">
            <a:off x="7962900" y="5943600"/>
            <a:ext cx="9025890" cy="390552"/>
          </a:xfrm>
          <a:prstGeom prst="rect">
            <a:avLst/>
          </a:prstGeom>
        </p:spPr>
        <p:txBody>
          <a:bodyPr anchor="t" rtlCol="false" tIns="0" lIns="0" bIns="0" rIns="0">
            <a:spAutoFit/>
          </a:bodyPr>
          <a:lstStyle/>
          <a:p>
            <a:pPr algn="l">
              <a:lnSpc>
                <a:spcPts val="3149"/>
              </a:lnSpc>
            </a:pPr>
            <a:r>
              <a:rPr lang="en-US" sz="2250" b="true">
                <a:solidFill>
                  <a:srgbClr val="FFE47A"/>
                </a:solidFill>
                <a:latin typeface="DM Sans Bold"/>
                <a:ea typeface="DM Sans Bold"/>
                <a:cs typeface="DM Sans Bold"/>
                <a:sym typeface="DM Sans Bold"/>
              </a:rPr>
              <a:t>Penetrating wound inside the box associated with:</a:t>
            </a:r>
          </a:p>
        </p:txBody>
      </p:sp>
      <p:sp>
        <p:nvSpPr>
          <p:cNvPr name="TextBox 28" id="28"/>
          <p:cNvSpPr txBox="true"/>
          <p:nvPr/>
        </p:nvSpPr>
        <p:spPr>
          <a:xfrm rot="0">
            <a:off x="8069580" y="6457950"/>
            <a:ext cx="8907780" cy="1285875"/>
          </a:xfrm>
          <a:prstGeom prst="rect">
            <a:avLst/>
          </a:prstGeom>
        </p:spPr>
        <p:txBody>
          <a:bodyPr anchor="t" rtlCol="false" tIns="0" lIns="0" bIns="0" rIns="0">
            <a:spAutoFit/>
          </a:bodyPr>
          <a:lstStyle/>
          <a:p>
            <a:pPr algn="l" marL="407194" indent="-203597" lvl="1">
              <a:lnSpc>
                <a:spcPts val="3149"/>
              </a:lnSpc>
              <a:buFont typeface="Arial"/>
              <a:buChar char="•"/>
            </a:pPr>
            <a:r>
              <a:rPr lang="en-US" sz="2250">
                <a:solidFill>
                  <a:srgbClr val="FFFFFF"/>
                </a:solidFill>
                <a:latin typeface="DM Sans"/>
                <a:ea typeface="DM Sans"/>
                <a:cs typeface="DM Sans"/>
                <a:sym typeface="DM Sans"/>
              </a:rPr>
              <a:t>Heart</a:t>
            </a:r>
          </a:p>
          <a:p>
            <a:pPr algn="l" marL="407194" indent="-203597" lvl="1">
              <a:lnSpc>
                <a:spcPts val="3149"/>
              </a:lnSpc>
              <a:buFont typeface="Arial"/>
              <a:buChar char="•"/>
            </a:pPr>
            <a:r>
              <a:rPr lang="en-US" sz="2250">
                <a:solidFill>
                  <a:srgbClr val="FFFFFF"/>
                </a:solidFill>
                <a:latin typeface="DM Sans"/>
                <a:ea typeface="DM Sans"/>
                <a:cs typeface="DM Sans"/>
                <a:sym typeface="DM Sans"/>
              </a:rPr>
              <a:t>Great vessels</a:t>
            </a:r>
          </a:p>
          <a:p>
            <a:pPr algn="l" marL="407194" indent="-203597" lvl="1">
              <a:lnSpc>
                <a:spcPts val="3149"/>
              </a:lnSpc>
              <a:buFont typeface="Arial"/>
              <a:buChar char="•"/>
            </a:pPr>
            <a:r>
              <a:rPr lang="en-US" sz="2250">
                <a:solidFill>
                  <a:srgbClr val="FFFFFF"/>
                </a:solidFill>
                <a:latin typeface="DM Sans"/>
                <a:ea typeface="DM Sans"/>
                <a:cs typeface="DM Sans"/>
                <a:sym typeface="DM Sans"/>
              </a:rPr>
              <a:t>Pulmonary hilar structures</a:t>
            </a:r>
          </a:p>
        </p:txBody>
      </p:sp>
      <p:grpSp>
        <p:nvGrpSpPr>
          <p:cNvPr name="Group 29" id="29"/>
          <p:cNvGrpSpPr/>
          <p:nvPr/>
        </p:nvGrpSpPr>
        <p:grpSpPr>
          <a:xfrm rot="0">
            <a:off x="7191375" y="762000"/>
            <a:ext cx="3914775" cy="885825"/>
            <a:chOff x="0" y="0"/>
            <a:chExt cx="5219700" cy="1181100"/>
          </a:xfrm>
        </p:grpSpPr>
        <p:sp>
          <p:nvSpPr>
            <p:cNvPr name="Freeform 30" id="30"/>
            <p:cNvSpPr/>
            <p:nvPr/>
          </p:nvSpPr>
          <p:spPr>
            <a:xfrm flipH="false" flipV="false" rot="0">
              <a:off x="0" y="0"/>
              <a:ext cx="5219700" cy="1181100"/>
            </a:xfrm>
            <a:custGeom>
              <a:avLst/>
              <a:gdLst/>
              <a:ahLst/>
              <a:cxnLst/>
              <a:rect r="r" b="b" t="t" l="l"/>
              <a:pathLst>
                <a:path h="1181100" w="5219700">
                  <a:moveTo>
                    <a:pt x="0" y="355600"/>
                  </a:moveTo>
                  <a:cubicBezTo>
                    <a:pt x="0" y="159258"/>
                    <a:pt x="159258" y="0"/>
                    <a:pt x="355600" y="0"/>
                  </a:cubicBezTo>
                  <a:lnTo>
                    <a:pt x="4864100" y="0"/>
                  </a:lnTo>
                  <a:cubicBezTo>
                    <a:pt x="5060442" y="0"/>
                    <a:pt x="5219700" y="159258"/>
                    <a:pt x="5219700" y="355600"/>
                  </a:cubicBezTo>
                  <a:lnTo>
                    <a:pt x="5219700" y="825500"/>
                  </a:lnTo>
                  <a:cubicBezTo>
                    <a:pt x="5219700" y="1021842"/>
                    <a:pt x="5060442" y="1181100"/>
                    <a:pt x="4864100" y="1181100"/>
                  </a:cubicBezTo>
                  <a:lnTo>
                    <a:pt x="355600" y="1181100"/>
                  </a:lnTo>
                  <a:cubicBezTo>
                    <a:pt x="159258" y="1181100"/>
                    <a:pt x="0" y="1021842"/>
                    <a:pt x="0" y="825500"/>
                  </a:cubicBezTo>
                  <a:close/>
                </a:path>
              </a:pathLst>
            </a:custGeom>
            <a:solidFill>
              <a:srgbClr val="FFD0C4"/>
            </a:solidFill>
          </p:spPr>
        </p:sp>
      </p:grpSp>
      <p:grpSp>
        <p:nvGrpSpPr>
          <p:cNvPr name="Group 31" id="31"/>
          <p:cNvGrpSpPr/>
          <p:nvPr/>
        </p:nvGrpSpPr>
        <p:grpSpPr>
          <a:xfrm rot="0">
            <a:off x="7191375" y="762000"/>
            <a:ext cx="3914775" cy="885825"/>
            <a:chOff x="0" y="0"/>
            <a:chExt cx="5219700" cy="1181100"/>
          </a:xfrm>
        </p:grpSpPr>
        <p:sp>
          <p:nvSpPr>
            <p:cNvPr name="Freeform 32" id="32"/>
            <p:cNvSpPr/>
            <p:nvPr/>
          </p:nvSpPr>
          <p:spPr>
            <a:xfrm flipH="false" flipV="false" rot="0">
              <a:off x="0" y="0"/>
              <a:ext cx="5219700" cy="1181100"/>
            </a:xfrm>
            <a:custGeom>
              <a:avLst/>
              <a:gdLst/>
              <a:ahLst/>
              <a:cxnLst/>
              <a:rect r="r" b="b" t="t" l="l"/>
              <a:pathLst>
                <a:path h="1181100" w="5219700">
                  <a:moveTo>
                    <a:pt x="0" y="0"/>
                  </a:moveTo>
                  <a:lnTo>
                    <a:pt x="5219700" y="0"/>
                  </a:lnTo>
                  <a:lnTo>
                    <a:pt x="5219700" y="1181100"/>
                  </a:lnTo>
                  <a:lnTo>
                    <a:pt x="0" y="1181100"/>
                  </a:lnTo>
                  <a:close/>
                </a:path>
              </a:pathLst>
            </a:custGeom>
            <a:blipFill>
              <a:blip r:embed="rId4">
                <a:alphaModFix amt="0"/>
              </a:blip>
              <a:stretch>
                <a:fillRect l="0" t="-36111" r="0" b="-36111"/>
              </a:stretch>
            </a:blipFill>
          </p:spPr>
        </p:sp>
        <p:sp>
          <p:nvSpPr>
            <p:cNvPr name="TextBox 33" id="33"/>
            <p:cNvSpPr txBox="true"/>
            <p:nvPr/>
          </p:nvSpPr>
          <p:spPr>
            <a:xfrm>
              <a:off x="0" y="9525"/>
              <a:ext cx="5219700" cy="1171575"/>
            </a:xfrm>
            <a:prstGeom prst="rect">
              <a:avLst/>
            </a:prstGeom>
          </p:spPr>
          <p:txBody>
            <a:bodyPr anchor="ctr" rtlCol="false" tIns="0" lIns="0" bIns="0" rIns="0"/>
            <a:lstStyle/>
            <a:p>
              <a:pPr algn="ctr">
                <a:lnSpc>
                  <a:spcPts val="5174"/>
                </a:lnSpc>
              </a:pPr>
              <a:r>
                <a:rPr lang="en-US" sz="4500" b="true">
                  <a:solidFill>
                    <a:srgbClr val="E74B2F"/>
                  </a:solidFill>
                  <a:latin typeface="Droid Serif Bold"/>
                  <a:ea typeface="Droid Serif Bold"/>
                  <a:cs typeface="Droid Serif Bold"/>
                  <a:sym typeface="Droid Serif Bold"/>
                </a:rPr>
                <a:t>ANATOMY </a:t>
              </a:r>
            </a:p>
          </p:txBody>
        </p:sp>
      </p:grpSp>
      <p:grpSp>
        <p:nvGrpSpPr>
          <p:cNvPr name="Group 34" id="34"/>
          <p:cNvGrpSpPr/>
          <p:nvPr/>
        </p:nvGrpSpPr>
        <p:grpSpPr>
          <a:xfrm rot="0">
            <a:off x="0" y="164592"/>
            <a:ext cx="754380" cy="384048"/>
            <a:chOff x="0" y="0"/>
            <a:chExt cx="1005840" cy="512064"/>
          </a:xfrm>
        </p:grpSpPr>
        <p:sp>
          <p:nvSpPr>
            <p:cNvPr name="Freeform 35" id="35"/>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6" id="36"/>
          <p:cNvGrpSpPr/>
          <p:nvPr/>
        </p:nvGrpSpPr>
        <p:grpSpPr>
          <a:xfrm rot="0">
            <a:off x="932688"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193292"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453896"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1714500"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1975104"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6" id="46"/>
          <p:cNvGrpSpPr/>
          <p:nvPr/>
        </p:nvGrpSpPr>
        <p:grpSpPr>
          <a:xfrm rot="0">
            <a:off x="2235708" y="288036"/>
            <a:ext cx="137160" cy="137160"/>
            <a:chOff x="0" y="0"/>
            <a:chExt cx="182880" cy="182880"/>
          </a:xfrm>
        </p:grpSpPr>
        <p:sp>
          <p:nvSpPr>
            <p:cNvPr name="Freeform 47" id="4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8" id="48"/>
          <p:cNvGrpSpPr/>
          <p:nvPr/>
        </p:nvGrpSpPr>
        <p:grpSpPr>
          <a:xfrm rot="0">
            <a:off x="2496312" y="288036"/>
            <a:ext cx="137160" cy="137160"/>
            <a:chOff x="0" y="0"/>
            <a:chExt cx="182880" cy="182880"/>
          </a:xfrm>
        </p:grpSpPr>
        <p:sp>
          <p:nvSpPr>
            <p:cNvPr name="Freeform 49" id="4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Breathing and Ventilation Assessment and Management. p. 65-78.</a:t>
            </a:r>
          </a:p>
        </p:txBody>
      </p:sp>
      <p:grpSp>
        <p:nvGrpSpPr>
          <p:cNvPr name="Group 6" id="6"/>
          <p:cNvGrpSpPr/>
          <p:nvPr/>
        </p:nvGrpSpPr>
        <p:grpSpPr>
          <a:xfrm rot="0">
            <a:off x="6896100" y="762000"/>
            <a:ext cx="4505325" cy="885825"/>
            <a:chOff x="0" y="0"/>
            <a:chExt cx="6007100" cy="1181100"/>
          </a:xfrm>
        </p:grpSpPr>
        <p:sp>
          <p:nvSpPr>
            <p:cNvPr name="Freeform 7" id="7"/>
            <p:cNvSpPr/>
            <p:nvPr/>
          </p:nvSpPr>
          <p:spPr>
            <a:xfrm flipH="false" flipV="false" rot="0">
              <a:off x="0" y="0"/>
              <a:ext cx="6007100" cy="1181100"/>
            </a:xfrm>
            <a:custGeom>
              <a:avLst/>
              <a:gdLst/>
              <a:ahLst/>
              <a:cxnLst/>
              <a:rect r="r" b="b" t="t" l="l"/>
              <a:pathLst>
                <a:path h="1181100" w="6007100">
                  <a:moveTo>
                    <a:pt x="0" y="355600"/>
                  </a:moveTo>
                  <a:cubicBezTo>
                    <a:pt x="0" y="159258"/>
                    <a:pt x="159258" y="0"/>
                    <a:pt x="355600" y="0"/>
                  </a:cubicBezTo>
                  <a:lnTo>
                    <a:pt x="5651500" y="0"/>
                  </a:lnTo>
                  <a:cubicBezTo>
                    <a:pt x="5847842" y="0"/>
                    <a:pt x="6007100" y="159258"/>
                    <a:pt x="6007100" y="355600"/>
                  </a:cubicBezTo>
                  <a:lnTo>
                    <a:pt x="6007100" y="825500"/>
                  </a:lnTo>
                  <a:cubicBezTo>
                    <a:pt x="6007100" y="1021842"/>
                    <a:pt x="5847842" y="1181100"/>
                    <a:pt x="5651500" y="1181100"/>
                  </a:cubicBezTo>
                  <a:lnTo>
                    <a:pt x="355600" y="1181100"/>
                  </a:lnTo>
                  <a:cubicBezTo>
                    <a:pt x="159258" y="1181100"/>
                    <a:pt x="0" y="1021842"/>
                    <a:pt x="0" y="825500"/>
                  </a:cubicBezTo>
                  <a:close/>
                </a:path>
              </a:pathLst>
            </a:custGeom>
            <a:solidFill>
              <a:srgbClr val="FFD0C4"/>
            </a:solidFill>
          </p:spPr>
        </p:sp>
      </p:grpSp>
      <p:grpSp>
        <p:nvGrpSpPr>
          <p:cNvPr name="Group 8" id="8"/>
          <p:cNvGrpSpPr/>
          <p:nvPr/>
        </p:nvGrpSpPr>
        <p:grpSpPr>
          <a:xfrm rot="0">
            <a:off x="6896100" y="762000"/>
            <a:ext cx="4505325" cy="885825"/>
            <a:chOff x="0" y="0"/>
            <a:chExt cx="6007100" cy="1181100"/>
          </a:xfrm>
        </p:grpSpPr>
        <p:sp>
          <p:nvSpPr>
            <p:cNvPr name="Freeform 9" id="9"/>
            <p:cNvSpPr/>
            <p:nvPr/>
          </p:nvSpPr>
          <p:spPr>
            <a:xfrm flipH="false" flipV="false" rot="0">
              <a:off x="0" y="0"/>
              <a:ext cx="6007100" cy="1181100"/>
            </a:xfrm>
            <a:custGeom>
              <a:avLst/>
              <a:gdLst/>
              <a:ahLst/>
              <a:cxnLst/>
              <a:rect r="r" b="b" t="t" l="l"/>
              <a:pathLst>
                <a:path h="1181100" w="6007100">
                  <a:moveTo>
                    <a:pt x="0" y="0"/>
                  </a:moveTo>
                  <a:lnTo>
                    <a:pt x="6007100" y="0"/>
                  </a:lnTo>
                  <a:lnTo>
                    <a:pt x="6007100" y="1181100"/>
                  </a:lnTo>
                  <a:lnTo>
                    <a:pt x="0" y="1181100"/>
                  </a:lnTo>
                  <a:close/>
                </a:path>
              </a:pathLst>
            </a:custGeom>
            <a:blipFill>
              <a:blip r:embed="rId3">
                <a:alphaModFix amt="0"/>
              </a:blip>
              <a:stretch>
                <a:fillRect l="0" t="-49101" r="0" b="-49101"/>
              </a:stretch>
            </a:blipFill>
          </p:spPr>
        </p:sp>
        <p:sp>
          <p:nvSpPr>
            <p:cNvPr name="TextBox 10" id="10"/>
            <p:cNvSpPr txBox="true"/>
            <p:nvPr/>
          </p:nvSpPr>
          <p:spPr>
            <a:xfrm>
              <a:off x="0" y="9525"/>
              <a:ext cx="6007100" cy="1171575"/>
            </a:xfrm>
            <a:prstGeom prst="rect">
              <a:avLst/>
            </a:prstGeom>
          </p:spPr>
          <p:txBody>
            <a:bodyPr anchor="ctr" rtlCol="false" tIns="0" lIns="0" bIns="0" rIns="0"/>
            <a:lstStyle/>
            <a:p>
              <a:pPr algn="ctr">
                <a:lnSpc>
                  <a:spcPts val="5174"/>
                </a:lnSpc>
              </a:pPr>
              <a:r>
                <a:rPr lang="en-US" sz="4500" b="true">
                  <a:solidFill>
                    <a:srgbClr val="E74B2F"/>
                  </a:solidFill>
                  <a:latin typeface="Droid Serif Bold"/>
                  <a:ea typeface="Droid Serif Bold"/>
                  <a:cs typeface="Droid Serif Bold"/>
                  <a:sym typeface="Droid Serif Bold"/>
                </a:rPr>
                <a:t>ASSESSMENT</a:t>
              </a:r>
            </a:p>
          </p:txBody>
        </p:sp>
      </p:grpSp>
      <p:grpSp>
        <p:nvGrpSpPr>
          <p:cNvPr name="Group 11" id="11"/>
          <p:cNvGrpSpPr/>
          <p:nvPr/>
        </p:nvGrpSpPr>
        <p:grpSpPr>
          <a:xfrm rot="0">
            <a:off x="456471" y="2418043"/>
            <a:ext cx="5734824" cy="6252715"/>
            <a:chOff x="0" y="0"/>
            <a:chExt cx="7035453" cy="7670800"/>
          </a:xfrm>
        </p:grpSpPr>
        <p:sp>
          <p:nvSpPr>
            <p:cNvPr name="Freeform 12" id="12"/>
            <p:cNvSpPr/>
            <p:nvPr/>
          </p:nvSpPr>
          <p:spPr>
            <a:xfrm flipH="false" flipV="false" rot="0">
              <a:off x="0" y="0"/>
              <a:ext cx="7035505" cy="7670800"/>
            </a:xfrm>
            <a:custGeom>
              <a:avLst/>
              <a:gdLst/>
              <a:ahLst/>
              <a:cxnLst/>
              <a:rect r="r" b="b" t="t" l="l"/>
              <a:pathLst>
                <a:path h="7670800" w="7035505">
                  <a:moveTo>
                    <a:pt x="0" y="355600"/>
                  </a:moveTo>
                  <a:cubicBezTo>
                    <a:pt x="0" y="159258"/>
                    <a:pt x="163787" y="0"/>
                    <a:pt x="365712" y="0"/>
                  </a:cubicBezTo>
                  <a:lnTo>
                    <a:pt x="6669794" y="0"/>
                  </a:lnTo>
                  <a:cubicBezTo>
                    <a:pt x="6871719" y="0"/>
                    <a:pt x="7035505" y="159258"/>
                    <a:pt x="7035505" y="355600"/>
                  </a:cubicBezTo>
                  <a:lnTo>
                    <a:pt x="7035505" y="7315200"/>
                  </a:lnTo>
                  <a:cubicBezTo>
                    <a:pt x="7035505" y="7511542"/>
                    <a:pt x="6871719" y="7670800"/>
                    <a:pt x="6669794" y="7670800"/>
                  </a:cubicBezTo>
                  <a:lnTo>
                    <a:pt x="365712" y="7670800"/>
                  </a:lnTo>
                  <a:cubicBezTo>
                    <a:pt x="163787" y="7670800"/>
                    <a:pt x="0" y="7511542"/>
                    <a:pt x="0" y="7315200"/>
                  </a:cubicBezTo>
                  <a:close/>
                </a:path>
              </a:pathLst>
            </a:custGeom>
            <a:solidFill>
              <a:srgbClr val="FFF4F1"/>
            </a:solidFill>
          </p:spPr>
        </p:sp>
      </p:grpSp>
      <p:grpSp>
        <p:nvGrpSpPr>
          <p:cNvPr name="Group 13" id="13"/>
          <p:cNvGrpSpPr/>
          <p:nvPr/>
        </p:nvGrpSpPr>
        <p:grpSpPr>
          <a:xfrm rot="0">
            <a:off x="688881" y="2645791"/>
            <a:ext cx="1786724" cy="559018"/>
            <a:chOff x="0" y="0"/>
            <a:chExt cx="2191944" cy="685800"/>
          </a:xfrm>
        </p:grpSpPr>
        <p:sp>
          <p:nvSpPr>
            <p:cNvPr name="Freeform 14" id="14"/>
            <p:cNvSpPr/>
            <p:nvPr/>
          </p:nvSpPr>
          <p:spPr>
            <a:xfrm flipH="false" flipV="false" rot="0">
              <a:off x="0" y="0"/>
              <a:ext cx="2191893" cy="685800"/>
            </a:xfrm>
            <a:custGeom>
              <a:avLst/>
              <a:gdLst/>
              <a:ahLst/>
              <a:cxnLst/>
              <a:rect r="r" b="b" t="t" l="l"/>
              <a:pathLst>
                <a:path h="685800" w="2191893">
                  <a:moveTo>
                    <a:pt x="0" y="254000"/>
                  </a:moveTo>
                  <a:cubicBezTo>
                    <a:pt x="0" y="113665"/>
                    <a:pt x="113665" y="0"/>
                    <a:pt x="254000" y="0"/>
                  </a:cubicBezTo>
                  <a:lnTo>
                    <a:pt x="1937893" y="0"/>
                  </a:lnTo>
                  <a:cubicBezTo>
                    <a:pt x="2078228" y="0"/>
                    <a:pt x="2191893" y="113665"/>
                    <a:pt x="2191893" y="254000"/>
                  </a:cubicBezTo>
                  <a:lnTo>
                    <a:pt x="2191893" y="431800"/>
                  </a:lnTo>
                  <a:cubicBezTo>
                    <a:pt x="2191893" y="572135"/>
                    <a:pt x="2078228" y="685800"/>
                    <a:pt x="1937893" y="685800"/>
                  </a:cubicBezTo>
                  <a:lnTo>
                    <a:pt x="254000" y="685800"/>
                  </a:lnTo>
                  <a:cubicBezTo>
                    <a:pt x="113665" y="685800"/>
                    <a:pt x="0" y="572135"/>
                    <a:pt x="0" y="431800"/>
                  </a:cubicBezTo>
                  <a:close/>
                </a:path>
              </a:pathLst>
            </a:custGeom>
            <a:solidFill>
              <a:srgbClr val="E74B2F"/>
            </a:solidFill>
          </p:spPr>
        </p:sp>
        <p:sp>
          <p:nvSpPr>
            <p:cNvPr name="TextBox 15" id="15"/>
            <p:cNvSpPr txBox="true"/>
            <p:nvPr/>
          </p:nvSpPr>
          <p:spPr>
            <a:xfrm>
              <a:off x="0" y="-47625"/>
              <a:ext cx="2191944" cy="733425"/>
            </a:xfrm>
            <a:prstGeom prst="rect">
              <a:avLst/>
            </a:prstGeom>
          </p:spPr>
          <p:txBody>
            <a:bodyPr anchor="ctr" rtlCol="false" tIns="50800" lIns="50800" bIns="50800" rIns="50800"/>
            <a:lstStyle/>
            <a:p>
              <a:pPr algn="ctr">
                <a:lnSpc>
                  <a:spcPts val="3149"/>
                </a:lnSpc>
              </a:pPr>
              <a:r>
                <a:rPr lang="en-US" sz="2250" b="true">
                  <a:solidFill>
                    <a:srgbClr val="FFFFFF"/>
                  </a:solidFill>
                  <a:latin typeface="DM Sans Bold"/>
                  <a:ea typeface="DM Sans Bold"/>
                  <a:cs typeface="DM Sans Bold"/>
                  <a:sym typeface="DM Sans Bold"/>
                </a:rPr>
                <a:t>1 · LOOK</a:t>
              </a:r>
            </a:p>
          </p:txBody>
        </p:sp>
      </p:grpSp>
      <p:sp>
        <p:nvSpPr>
          <p:cNvPr name="TextBox 16" id="16"/>
          <p:cNvSpPr txBox="true"/>
          <p:nvPr/>
        </p:nvSpPr>
        <p:spPr>
          <a:xfrm rot="0">
            <a:off x="904893" y="3283064"/>
            <a:ext cx="5137718" cy="4527428"/>
          </a:xfrm>
          <a:prstGeom prst="rect">
            <a:avLst/>
          </a:prstGeom>
        </p:spPr>
        <p:txBody>
          <a:bodyPr anchor="t" rtlCol="false" tIns="0" lIns="0" bIns="0" rIns="0">
            <a:spAutoFit/>
          </a:bodyPr>
          <a:lstStyle/>
          <a:p>
            <a:pPr algn="l" marL="383548" indent="-191774" lvl="1">
              <a:lnSpc>
                <a:spcPts val="3284"/>
              </a:lnSpc>
              <a:buFont typeface="Arial"/>
              <a:buChar char="•"/>
            </a:pPr>
            <a:r>
              <a:rPr lang="en-US" sz="2119">
                <a:solidFill>
                  <a:srgbClr val="1F1210"/>
                </a:solidFill>
                <a:latin typeface="DM Sans"/>
                <a:ea typeface="DM Sans"/>
                <a:cs typeface="DM Sans"/>
                <a:sym typeface="DM Sans"/>
              </a:rPr>
              <a:t>Respiratory rate</a:t>
            </a:r>
          </a:p>
          <a:p>
            <a:pPr algn="l" marL="383548" indent="-191774" lvl="1">
              <a:lnSpc>
                <a:spcPts val="3284"/>
              </a:lnSpc>
              <a:buFont typeface="Arial"/>
              <a:buChar char="•"/>
            </a:pPr>
            <a:r>
              <a:rPr lang="en-US" sz="2119">
                <a:solidFill>
                  <a:srgbClr val="1F1210"/>
                </a:solidFill>
                <a:latin typeface="DM Sans"/>
                <a:ea typeface="DM Sans"/>
                <a:cs typeface="DM Sans"/>
                <a:sym typeface="DM Sans"/>
              </a:rPr>
              <a:t>Depth of breathing</a:t>
            </a:r>
          </a:p>
          <a:p>
            <a:pPr algn="l" marL="383548" indent="-191774" lvl="1">
              <a:lnSpc>
                <a:spcPts val="3284"/>
              </a:lnSpc>
              <a:buFont typeface="Arial"/>
              <a:buChar char="•"/>
            </a:pPr>
            <a:r>
              <a:rPr lang="en-US" sz="2119">
                <a:solidFill>
                  <a:srgbClr val="1F1210"/>
                </a:solidFill>
                <a:latin typeface="DM Sans"/>
                <a:ea typeface="DM Sans"/>
                <a:cs typeface="DM Sans"/>
                <a:sym typeface="DM Sans"/>
              </a:rPr>
              <a:t>Retractions · nasal flaring</a:t>
            </a:r>
          </a:p>
          <a:p>
            <a:pPr algn="l" marL="383548" indent="-191774" lvl="1">
              <a:lnSpc>
                <a:spcPts val="3284"/>
              </a:lnSpc>
              <a:buFont typeface="Arial"/>
              <a:buChar char="•"/>
            </a:pPr>
            <a:r>
              <a:rPr lang="en-US" sz="2119">
                <a:solidFill>
                  <a:srgbClr val="1F1210"/>
                </a:solidFill>
                <a:latin typeface="DM Sans"/>
                <a:ea typeface="DM Sans"/>
                <a:cs typeface="DM Sans"/>
                <a:sym typeface="DM Sans"/>
              </a:rPr>
              <a:t>Speaks in full sentences?</a:t>
            </a:r>
          </a:p>
          <a:p>
            <a:pPr algn="l" marL="383548" indent="-191774" lvl="1">
              <a:lnSpc>
                <a:spcPts val="3284"/>
              </a:lnSpc>
              <a:buFont typeface="Arial"/>
              <a:buChar char="•"/>
            </a:pPr>
            <a:r>
              <a:rPr lang="en-US" sz="2119">
                <a:solidFill>
                  <a:srgbClr val="1F1210"/>
                </a:solidFill>
                <a:latin typeface="DM Sans"/>
                <a:ea typeface="DM Sans"/>
                <a:cs typeface="DM Sans"/>
                <a:sym typeface="DM Sans"/>
              </a:rPr>
              <a:t>Color: nail beds, lips</a:t>
            </a:r>
          </a:p>
          <a:p>
            <a:pPr algn="l" marL="383548" indent="-191774" lvl="1">
              <a:lnSpc>
                <a:spcPts val="3284"/>
              </a:lnSpc>
              <a:buFont typeface="Arial"/>
              <a:buChar char="•"/>
            </a:pPr>
            <a:r>
              <a:rPr lang="en-US" sz="2119">
                <a:solidFill>
                  <a:srgbClr val="1F1210"/>
                </a:solidFill>
                <a:latin typeface="DM Sans"/>
                <a:ea typeface="DM Sans"/>
                <a:cs typeface="DM Sans"/>
                <a:sym typeface="DM Sans"/>
              </a:rPr>
              <a:t>Mental status</a:t>
            </a:r>
          </a:p>
          <a:p>
            <a:pPr algn="l" marL="383548" indent="-191774" lvl="1">
              <a:lnSpc>
                <a:spcPts val="3284"/>
              </a:lnSpc>
              <a:buFont typeface="Arial"/>
              <a:buChar char="•"/>
            </a:pPr>
            <a:r>
              <a:rPr lang="en-US" sz="2119">
                <a:solidFill>
                  <a:srgbClr val="1F1210"/>
                </a:solidFill>
                <a:latin typeface="DM Sans"/>
                <a:ea typeface="DM Sans"/>
                <a:cs typeface="DM Sans"/>
                <a:sym typeface="DM Sans"/>
              </a:rPr>
              <a:t>Neck veins</a:t>
            </a:r>
          </a:p>
          <a:p>
            <a:pPr algn="l" marL="383548" indent="-191774" lvl="1">
              <a:lnSpc>
                <a:spcPts val="3284"/>
              </a:lnSpc>
              <a:buFont typeface="Arial"/>
              <a:buChar char="•"/>
            </a:pPr>
            <a:r>
              <a:rPr lang="en-US" sz="2119">
                <a:solidFill>
                  <a:srgbClr val="1F1210"/>
                </a:solidFill>
                <a:latin typeface="DM Sans"/>
                <a:ea typeface="DM Sans"/>
                <a:cs typeface="DM Sans"/>
                <a:sym typeface="DM Sans"/>
              </a:rPr>
              <a:t>Trachea position</a:t>
            </a:r>
          </a:p>
          <a:p>
            <a:pPr algn="l" marL="383548" indent="-191774" lvl="1">
              <a:lnSpc>
                <a:spcPts val="3284"/>
              </a:lnSpc>
              <a:buFont typeface="Arial"/>
              <a:buChar char="•"/>
            </a:pPr>
            <a:r>
              <a:rPr lang="en-US" sz="2119">
                <a:solidFill>
                  <a:srgbClr val="1F1210"/>
                </a:solidFill>
                <a:latin typeface="DM Sans"/>
                <a:ea typeface="DM Sans"/>
                <a:cs typeface="DM Sans"/>
                <a:sym typeface="DM Sans"/>
              </a:rPr>
              <a:t>Wound: site · sucking air?</a:t>
            </a:r>
          </a:p>
          <a:p>
            <a:pPr algn="l" marL="383548" indent="-191774" lvl="1">
              <a:lnSpc>
                <a:spcPts val="3284"/>
              </a:lnSpc>
              <a:buFont typeface="Arial"/>
              <a:buChar char="•"/>
            </a:pPr>
            <a:r>
              <a:rPr lang="en-US" sz="2119">
                <a:solidFill>
                  <a:srgbClr val="1F1210"/>
                </a:solidFill>
                <a:latin typeface="DM Sans"/>
                <a:ea typeface="DM Sans"/>
                <a:cs typeface="DM Sans"/>
                <a:sym typeface="DM Sans"/>
              </a:rPr>
              <a:t>Bruise · seat-belt sign</a:t>
            </a:r>
          </a:p>
          <a:p>
            <a:pPr algn="l" marL="383548" indent="-191774" lvl="1">
              <a:lnSpc>
                <a:spcPts val="3284"/>
              </a:lnSpc>
              <a:buFont typeface="Arial"/>
              <a:buChar char="•"/>
            </a:pPr>
            <a:r>
              <a:rPr lang="en-US" sz="2119">
                <a:solidFill>
                  <a:srgbClr val="1F1210"/>
                </a:solidFill>
                <a:latin typeface="DM Sans"/>
                <a:ea typeface="DM Sans"/>
                <a:cs typeface="DM Sans"/>
                <a:sym typeface="DM Sans"/>
              </a:rPr>
              <a:t>Chest movement: symmetry, paradox</a:t>
            </a:r>
          </a:p>
        </p:txBody>
      </p:sp>
      <p:grpSp>
        <p:nvGrpSpPr>
          <p:cNvPr name="Group 17" id="17"/>
          <p:cNvGrpSpPr/>
          <p:nvPr/>
        </p:nvGrpSpPr>
        <p:grpSpPr>
          <a:xfrm rot="0">
            <a:off x="6439746" y="2418043"/>
            <a:ext cx="5576428" cy="6252715"/>
            <a:chOff x="0" y="0"/>
            <a:chExt cx="6841134" cy="7670800"/>
          </a:xfrm>
        </p:grpSpPr>
        <p:sp>
          <p:nvSpPr>
            <p:cNvPr name="Freeform 18" id="18"/>
            <p:cNvSpPr/>
            <p:nvPr/>
          </p:nvSpPr>
          <p:spPr>
            <a:xfrm flipH="false" flipV="false" rot="0">
              <a:off x="0" y="0"/>
              <a:ext cx="6841110" cy="7670800"/>
            </a:xfrm>
            <a:custGeom>
              <a:avLst/>
              <a:gdLst/>
              <a:ahLst/>
              <a:cxnLst/>
              <a:rect r="r" b="b" t="t" l="l"/>
              <a:pathLst>
                <a:path h="7670800" w="6841110">
                  <a:moveTo>
                    <a:pt x="0" y="355600"/>
                  </a:moveTo>
                  <a:cubicBezTo>
                    <a:pt x="0" y="159258"/>
                    <a:pt x="159258" y="0"/>
                    <a:pt x="355600" y="0"/>
                  </a:cubicBezTo>
                  <a:lnTo>
                    <a:pt x="6485509" y="0"/>
                  </a:lnTo>
                  <a:cubicBezTo>
                    <a:pt x="6681851" y="0"/>
                    <a:pt x="6841110" y="159258"/>
                    <a:pt x="6841110" y="355600"/>
                  </a:cubicBezTo>
                  <a:lnTo>
                    <a:pt x="6841110" y="7315200"/>
                  </a:lnTo>
                  <a:cubicBezTo>
                    <a:pt x="6841110" y="7511542"/>
                    <a:pt x="6681851" y="7670800"/>
                    <a:pt x="6485509" y="7670800"/>
                  </a:cubicBezTo>
                  <a:lnTo>
                    <a:pt x="355600" y="7670800"/>
                  </a:lnTo>
                  <a:cubicBezTo>
                    <a:pt x="159258" y="7670800"/>
                    <a:pt x="0" y="7511542"/>
                    <a:pt x="0" y="7315200"/>
                  </a:cubicBezTo>
                  <a:close/>
                </a:path>
              </a:pathLst>
            </a:custGeom>
            <a:solidFill>
              <a:srgbClr val="FFF4F1"/>
            </a:solidFill>
          </p:spPr>
        </p:sp>
      </p:grpSp>
      <p:grpSp>
        <p:nvGrpSpPr>
          <p:cNvPr name="Group 19" id="19"/>
          <p:cNvGrpSpPr/>
          <p:nvPr/>
        </p:nvGrpSpPr>
        <p:grpSpPr>
          <a:xfrm rot="0">
            <a:off x="6729607" y="2645791"/>
            <a:ext cx="1947338" cy="559018"/>
            <a:chOff x="0" y="0"/>
            <a:chExt cx="2388984" cy="685800"/>
          </a:xfrm>
        </p:grpSpPr>
        <p:sp>
          <p:nvSpPr>
            <p:cNvPr name="Freeform 20" id="20"/>
            <p:cNvSpPr/>
            <p:nvPr/>
          </p:nvSpPr>
          <p:spPr>
            <a:xfrm flipH="false" flipV="false" rot="0">
              <a:off x="0" y="0"/>
              <a:ext cx="2388997" cy="685800"/>
            </a:xfrm>
            <a:custGeom>
              <a:avLst/>
              <a:gdLst/>
              <a:ahLst/>
              <a:cxnLst/>
              <a:rect r="r" b="b" t="t" l="l"/>
              <a:pathLst>
                <a:path h="685800" w="2388997">
                  <a:moveTo>
                    <a:pt x="0" y="254000"/>
                  </a:moveTo>
                  <a:cubicBezTo>
                    <a:pt x="0" y="113665"/>
                    <a:pt x="113665" y="0"/>
                    <a:pt x="254000" y="0"/>
                  </a:cubicBezTo>
                  <a:lnTo>
                    <a:pt x="2134997" y="0"/>
                  </a:lnTo>
                  <a:cubicBezTo>
                    <a:pt x="2275332" y="0"/>
                    <a:pt x="2388997" y="113665"/>
                    <a:pt x="2388997" y="254000"/>
                  </a:cubicBezTo>
                  <a:lnTo>
                    <a:pt x="2388997" y="431800"/>
                  </a:lnTo>
                  <a:cubicBezTo>
                    <a:pt x="2388997" y="572135"/>
                    <a:pt x="2275332" y="685800"/>
                    <a:pt x="2134997" y="685800"/>
                  </a:cubicBezTo>
                  <a:lnTo>
                    <a:pt x="254000" y="685800"/>
                  </a:lnTo>
                  <a:cubicBezTo>
                    <a:pt x="113665" y="685800"/>
                    <a:pt x="0" y="572135"/>
                    <a:pt x="0" y="431800"/>
                  </a:cubicBezTo>
                  <a:close/>
                </a:path>
              </a:pathLst>
            </a:custGeom>
            <a:solidFill>
              <a:srgbClr val="E74B2F"/>
            </a:solidFill>
          </p:spPr>
        </p:sp>
        <p:sp>
          <p:nvSpPr>
            <p:cNvPr name="TextBox 21" id="21"/>
            <p:cNvSpPr txBox="true"/>
            <p:nvPr/>
          </p:nvSpPr>
          <p:spPr>
            <a:xfrm>
              <a:off x="0" y="-47625"/>
              <a:ext cx="2388984" cy="733425"/>
            </a:xfrm>
            <a:prstGeom prst="rect">
              <a:avLst/>
            </a:prstGeom>
          </p:spPr>
          <p:txBody>
            <a:bodyPr anchor="ctr" rtlCol="false" tIns="50800" lIns="50800" bIns="50800" rIns="50800"/>
            <a:lstStyle/>
            <a:p>
              <a:pPr algn="ctr">
                <a:lnSpc>
                  <a:spcPts val="3149"/>
                </a:lnSpc>
              </a:pPr>
              <a:r>
                <a:rPr lang="en-US" sz="2250" b="true">
                  <a:solidFill>
                    <a:srgbClr val="FFFFFF"/>
                  </a:solidFill>
                  <a:latin typeface="DM Sans Bold"/>
                  <a:ea typeface="DM Sans Bold"/>
                  <a:cs typeface="DM Sans Bold"/>
                  <a:sym typeface="DM Sans Bold"/>
                </a:rPr>
                <a:t>2 · LISTEN</a:t>
              </a:r>
            </a:p>
          </p:txBody>
        </p:sp>
      </p:grpSp>
      <p:sp>
        <p:nvSpPr>
          <p:cNvPr name="TextBox 22" id="22"/>
          <p:cNvSpPr txBox="true"/>
          <p:nvPr/>
        </p:nvSpPr>
        <p:spPr>
          <a:xfrm rot="0">
            <a:off x="6879093" y="3283064"/>
            <a:ext cx="4984697" cy="3862528"/>
          </a:xfrm>
          <a:prstGeom prst="rect">
            <a:avLst/>
          </a:prstGeom>
        </p:spPr>
        <p:txBody>
          <a:bodyPr anchor="t" rtlCol="false" tIns="0" lIns="0" bIns="0" rIns="0">
            <a:spAutoFit/>
          </a:bodyPr>
          <a:lstStyle/>
          <a:p>
            <a:pPr algn="l" marL="383548" indent="-191774" lvl="1">
              <a:lnSpc>
                <a:spcPts val="3284"/>
              </a:lnSpc>
              <a:buFont typeface="Arial"/>
              <a:buChar char="•"/>
            </a:pPr>
            <a:r>
              <a:rPr lang="en-US" b="true" sz="2119">
                <a:solidFill>
                  <a:srgbClr val="1F1210"/>
                </a:solidFill>
                <a:latin typeface="DM Sans Bold"/>
                <a:ea typeface="DM Sans Bold"/>
                <a:cs typeface="DM Sans Bold"/>
                <a:sym typeface="DM Sans Bold"/>
              </a:rPr>
              <a:t>Anterior</a:t>
            </a:r>
            <a:r>
              <a:rPr lang="en-US" sz="2119">
                <a:solidFill>
                  <a:srgbClr val="1F1210"/>
                </a:solidFill>
                <a:latin typeface="DM Sans"/>
                <a:ea typeface="DM Sans"/>
                <a:cs typeface="DM Sans"/>
                <a:sym typeface="DM Sans"/>
              </a:rPr>
              <a:t> 2nd–3rd ICS, MCL</a:t>
            </a:r>
          </a:p>
          <a:p>
            <a:pPr algn="l" marL="383548" indent="-191774" lvl="1">
              <a:lnSpc>
                <a:spcPts val="3284"/>
              </a:lnSpc>
              <a:buFont typeface="Arial"/>
              <a:buChar char="•"/>
            </a:pPr>
            <a:r>
              <a:rPr lang="en-US" b="true" sz="2119">
                <a:solidFill>
                  <a:srgbClr val="1F1210"/>
                </a:solidFill>
                <a:latin typeface="DM Sans Bold"/>
                <a:ea typeface="DM Sans Bold"/>
                <a:cs typeface="DM Sans Bold"/>
                <a:sym typeface="DM Sans Bold"/>
              </a:rPr>
              <a:t>Lateral</a:t>
            </a:r>
            <a:r>
              <a:rPr lang="en-US" sz="2119">
                <a:solidFill>
                  <a:srgbClr val="1F1210"/>
                </a:solidFill>
                <a:latin typeface="DM Sans"/>
                <a:ea typeface="DM Sans"/>
                <a:cs typeface="DM Sans"/>
                <a:sym typeface="DM Sans"/>
              </a:rPr>
              <a:t> 5th–6th ICS, axillary</a:t>
            </a:r>
          </a:p>
          <a:p>
            <a:pPr algn="l" marL="383548" indent="-191774" lvl="1">
              <a:lnSpc>
                <a:spcPts val="3284"/>
              </a:lnSpc>
              <a:buFont typeface="Arial"/>
              <a:buChar char="•"/>
            </a:pPr>
            <a:r>
              <a:rPr lang="en-US" sz="2119">
                <a:solidFill>
                  <a:srgbClr val="1F1210"/>
                </a:solidFill>
                <a:latin typeface="DM Sans"/>
                <a:ea typeface="DM Sans"/>
                <a:cs typeface="DM Sans"/>
                <a:sym typeface="DM Sans"/>
              </a:rPr>
              <a:t>Compare left vs right</a:t>
            </a:r>
          </a:p>
          <a:p>
            <a:pPr algn="l" marL="383548" indent="-191774" lvl="1">
              <a:lnSpc>
                <a:spcPts val="3284"/>
              </a:lnSpc>
              <a:buFont typeface="Arial"/>
              <a:buChar char="•"/>
            </a:pPr>
            <a:r>
              <a:rPr lang="en-US" sz="2119">
                <a:solidFill>
                  <a:srgbClr val="1F1210"/>
                </a:solidFill>
                <a:latin typeface="DM Sans"/>
                <a:ea typeface="DM Sans"/>
                <a:cs typeface="DM Sans"/>
                <a:sym typeface="DM Sans"/>
              </a:rPr>
              <a:t>Breath sounds: equal · ↓ · absent</a:t>
            </a:r>
          </a:p>
          <a:p>
            <a:pPr algn="l" marL="383548" indent="-191774" lvl="1">
              <a:lnSpc>
                <a:spcPts val="3284"/>
              </a:lnSpc>
              <a:buFont typeface="Arial"/>
              <a:buChar char="•"/>
            </a:pPr>
            <a:r>
              <a:rPr lang="en-US" sz="2119">
                <a:solidFill>
                  <a:srgbClr val="1F1210"/>
                </a:solidFill>
                <a:latin typeface="DM Sans"/>
                <a:ea typeface="DM Sans"/>
                <a:cs typeface="DM Sans"/>
                <a:sym typeface="DM Sans"/>
              </a:rPr>
              <a:t>Rales</a:t>
            </a:r>
          </a:p>
          <a:p>
            <a:pPr algn="l" marL="383548" indent="-191774" lvl="1">
              <a:lnSpc>
                <a:spcPts val="3284"/>
              </a:lnSpc>
              <a:buFont typeface="Arial"/>
              <a:buChar char="•"/>
            </a:pPr>
            <a:r>
              <a:rPr lang="en-US" sz="2119">
                <a:solidFill>
                  <a:srgbClr val="1F1210"/>
                </a:solidFill>
                <a:latin typeface="DM Sans"/>
                <a:ea typeface="DM Sans"/>
                <a:cs typeface="DM Sans"/>
                <a:sym typeface="DM Sans"/>
              </a:rPr>
              <a:t>Bowel sounds in the chest</a:t>
            </a:r>
          </a:p>
          <a:p>
            <a:pPr algn="l" marL="383548" indent="-191774" lvl="1">
              <a:lnSpc>
                <a:spcPts val="3284"/>
              </a:lnSpc>
              <a:buFont typeface="Arial"/>
              <a:buChar char="•"/>
            </a:pPr>
            <a:r>
              <a:rPr lang="en-US" sz="2119">
                <a:solidFill>
                  <a:srgbClr val="1F1210"/>
                </a:solidFill>
                <a:latin typeface="DM Sans"/>
                <a:ea typeface="DM Sans"/>
                <a:cs typeface="DM Sans"/>
                <a:sym typeface="DM Sans"/>
              </a:rPr>
              <a:t>Noisy air through a wound</a:t>
            </a:r>
          </a:p>
          <a:p>
            <a:pPr algn="l" marL="383548" indent="-191774" lvl="1">
              <a:lnSpc>
                <a:spcPts val="3284"/>
              </a:lnSpc>
              <a:buFont typeface="Arial"/>
              <a:buChar char="•"/>
            </a:pPr>
            <a:r>
              <a:rPr lang="en-US" sz="2119">
                <a:solidFill>
                  <a:srgbClr val="1F1210"/>
                </a:solidFill>
                <a:latin typeface="DM Sans"/>
                <a:ea typeface="DM Sans"/>
                <a:cs typeface="DM Sans"/>
                <a:sym typeface="DM Sans"/>
              </a:rPr>
              <a:t>Intubated: equal both sides?</a:t>
            </a:r>
          </a:p>
          <a:p>
            <a:pPr algn="l" marL="383548" indent="-191774" lvl="1">
              <a:lnSpc>
                <a:spcPts val="3284"/>
              </a:lnSpc>
              <a:buFont typeface="Arial"/>
              <a:buChar char="•"/>
            </a:pPr>
            <a:r>
              <a:rPr lang="en-US" sz="2119">
                <a:solidFill>
                  <a:srgbClr val="1F1210"/>
                </a:solidFill>
                <a:latin typeface="DM Sans"/>
                <a:ea typeface="DM Sans"/>
                <a:cs typeface="DM Sans"/>
                <a:sym typeface="DM Sans"/>
              </a:rPr>
              <a:t>Chest tube: ongoing air leak?</a:t>
            </a:r>
          </a:p>
        </p:txBody>
      </p:sp>
      <p:grpSp>
        <p:nvGrpSpPr>
          <p:cNvPr name="Group 23" id="23"/>
          <p:cNvGrpSpPr/>
          <p:nvPr/>
        </p:nvGrpSpPr>
        <p:grpSpPr>
          <a:xfrm rot="0">
            <a:off x="12264627" y="2418043"/>
            <a:ext cx="5576428" cy="6252715"/>
            <a:chOff x="0" y="0"/>
            <a:chExt cx="6841134" cy="7670800"/>
          </a:xfrm>
        </p:grpSpPr>
        <p:sp>
          <p:nvSpPr>
            <p:cNvPr name="Freeform 24" id="24"/>
            <p:cNvSpPr/>
            <p:nvPr/>
          </p:nvSpPr>
          <p:spPr>
            <a:xfrm flipH="false" flipV="false" rot="0">
              <a:off x="0" y="0"/>
              <a:ext cx="6841110" cy="7670800"/>
            </a:xfrm>
            <a:custGeom>
              <a:avLst/>
              <a:gdLst/>
              <a:ahLst/>
              <a:cxnLst/>
              <a:rect r="r" b="b" t="t" l="l"/>
              <a:pathLst>
                <a:path h="7670800" w="6841110">
                  <a:moveTo>
                    <a:pt x="0" y="355600"/>
                  </a:moveTo>
                  <a:cubicBezTo>
                    <a:pt x="0" y="159258"/>
                    <a:pt x="159258" y="0"/>
                    <a:pt x="355600" y="0"/>
                  </a:cubicBezTo>
                  <a:lnTo>
                    <a:pt x="6485509" y="0"/>
                  </a:lnTo>
                  <a:cubicBezTo>
                    <a:pt x="6681851" y="0"/>
                    <a:pt x="6841110" y="159258"/>
                    <a:pt x="6841110" y="355600"/>
                  </a:cubicBezTo>
                  <a:lnTo>
                    <a:pt x="6841110" y="7315200"/>
                  </a:lnTo>
                  <a:cubicBezTo>
                    <a:pt x="6841110" y="7511542"/>
                    <a:pt x="6681851" y="7670800"/>
                    <a:pt x="6485509" y="7670800"/>
                  </a:cubicBezTo>
                  <a:lnTo>
                    <a:pt x="355600" y="7670800"/>
                  </a:lnTo>
                  <a:cubicBezTo>
                    <a:pt x="159258" y="7670800"/>
                    <a:pt x="0" y="7511542"/>
                    <a:pt x="0" y="7315200"/>
                  </a:cubicBezTo>
                  <a:close/>
                </a:path>
              </a:pathLst>
            </a:custGeom>
            <a:solidFill>
              <a:srgbClr val="FFF4F1"/>
            </a:solidFill>
          </p:spPr>
        </p:sp>
      </p:grpSp>
      <p:grpSp>
        <p:nvGrpSpPr>
          <p:cNvPr name="Group 25" id="25"/>
          <p:cNvGrpSpPr/>
          <p:nvPr/>
        </p:nvGrpSpPr>
        <p:grpSpPr>
          <a:xfrm rot="0">
            <a:off x="12554487" y="2645791"/>
            <a:ext cx="1615747" cy="559018"/>
            <a:chOff x="0" y="0"/>
            <a:chExt cx="1982191" cy="685800"/>
          </a:xfrm>
        </p:grpSpPr>
        <p:sp>
          <p:nvSpPr>
            <p:cNvPr name="Freeform 26" id="26"/>
            <p:cNvSpPr/>
            <p:nvPr/>
          </p:nvSpPr>
          <p:spPr>
            <a:xfrm flipH="false" flipV="false" rot="0">
              <a:off x="0" y="0"/>
              <a:ext cx="1982216" cy="685800"/>
            </a:xfrm>
            <a:custGeom>
              <a:avLst/>
              <a:gdLst/>
              <a:ahLst/>
              <a:cxnLst/>
              <a:rect r="r" b="b" t="t" l="l"/>
              <a:pathLst>
                <a:path h="685800" w="1982216">
                  <a:moveTo>
                    <a:pt x="0" y="254000"/>
                  </a:moveTo>
                  <a:cubicBezTo>
                    <a:pt x="0" y="113665"/>
                    <a:pt x="113665" y="0"/>
                    <a:pt x="254000" y="0"/>
                  </a:cubicBezTo>
                  <a:lnTo>
                    <a:pt x="1728216" y="0"/>
                  </a:lnTo>
                  <a:cubicBezTo>
                    <a:pt x="1868551" y="0"/>
                    <a:pt x="1982216" y="113665"/>
                    <a:pt x="1982216" y="254000"/>
                  </a:cubicBezTo>
                  <a:lnTo>
                    <a:pt x="1982216" y="431800"/>
                  </a:lnTo>
                  <a:cubicBezTo>
                    <a:pt x="1982216" y="572135"/>
                    <a:pt x="1868551" y="685800"/>
                    <a:pt x="1728216" y="685800"/>
                  </a:cubicBezTo>
                  <a:lnTo>
                    <a:pt x="254000" y="685800"/>
                  </a:lnTo>
                  <a:cubicBezTo>
                    <a:pt x="113665" y="685800"/>
                    <a:pt x="0" y="572135"/>
                    <a:pt x="0" y="431800"/>
                  </a:cubicBezTo>
                  <a:close/>
                </a:path>
              </a:pathLst>
            </a:custGeom>
            <a:solidFill>
              <a:srgbClr val="E74B2F"/>
            </a:solidFill>
          </p:spPr>
        </p:sp>
        <p:sp>
          <p:nvSpPr>
            <p:cNvPr name="TextBox 27" id="27"/>
            <p:cNvSpPr txBox="true"/>
            <p:nvPr/>
          </p:nvSpPr>
          <p:spPr>
            <a:xfrm>
              <a:off x="0" y="-47625"/>
              <a:ext cx="1982191" cy="733425"/>
            </a:xfrm>
            <a:prstGeom prst="rect">
              <a:avLst/>
            </a:prstGeom>
          </p:spPr>
          <p:txBody>
            <a:bodyPr anchor="ctr" rtlCol="false" tIns="50800" lIns="50800" bIns="50800" rIns="50800"/>
            <a:lstStyle/>
            <a:p>
              <a:pPr algn="ctr">
                <a:lnSpc>
                  <a:spcPts val="3149"/>
                </a:lnSpc>
              </a:pPr>
              <a:r>
                <a:rPr lang="en-US" sz="2250" b="true">
                  <a:solidFill>
                    <a:srgbClr val="FFFFFF"/>
                  </a:solidFill>
                  <a:latin typeface="DM Sans Bold"/>
                  <a:ea typeface="DM Sans Bold"/>
                  <a:cs typeface="DM Sans Bold"/>
                  <a:sym typeface="DM Sans Bold"/>
                </a:rPr>
                <a:t>3 · FEEL</a:t>
              </a:r>
            </a:p>
          </p:txBody>
        </p:sp>
      </p:grpSp>
      <p:sp>
        <p:nvSpPr>
          <p:cNvPr name="TextBox 28" id="28"/>
          <p:cNvSpPr txBox="true"/>
          <p:nvPr/>
        </p:nvSpPr>
        <p:spPr>
          <a:xfrm rot="0">
            <a:off x="12703973" y="3283064"/>
            <a:ext cx="4984697" cy="2611043"/>
          </a:xfrm>
          <a:prstGeom prst="rect">
            <a:avLst/>
          </a:prstGeom>
        </p:spPr>
        <p:txBody>
          <a:bodyPr anchor="t" rtlCol="false" tIns="0" lIns="0" bIns="0" rIns="0">
            <a:spAutoFit/>
          </a:bodyPr>
          <a:lstStyle/>
          <a:p>
            <a:pPr algn="l" marL="383548" indent="-191774" lvl="1">
              <a:lnSpc>
                <a:spcPts val="3284"/>
              </a:lnSpc>
              <a:buFont typeface="Arial"/>
              <a:buChar char="•"/>
            </a:pPr>
            <a:r>
              <a:rPr lang="en-US" sz="2119">
                <a:solidFill>
                  <a:srgbClr val="1F1210"/>
                </a:solidFill>
                <a:latin typeface="DM Sans"/>
                <a:ea typeface="DM Sans"/>
                <a:cs typeface="DM Sans"/>
                <a:sym typeface="DM Sans"/>
              </a:rPr>
              <a:t>Neck crepitus</a:t>
            </a:r>
          </a:p>
          <a:p>
            <a:pPr algn="l" marL="383548" indent="-191774" lvl="1">
              <a:lnSpc>
                <a:spcPts val="3284"/>
              </a:lnSpc>
              <a:buFont typeface="Arial"/>
              <a:buChar char="•"/>
            </a:pPr>
            <a:r>
              <a:rPr lang="en-US" sz="2119">
                <a:solidFill>
                  <a:srgbClr val="1F1210"/>
                </a:solidFill>
                <a:latin typeface="DM Sans"/>
                <a:ea typeface="DM Sans"/>
                <a:cs typeface="DM Sans"/>
                <a:sym typeface="DM Sans"/>
              </a:rPr>
              <a:t>Tenderness: ribs, sternum, clavicles</a:t>
            </a:r>
          </a:p>
          <a:p>
            <a:pPr algn="l" marL="383548" indent="-191774" lvl="1">
              <a:lnSpc>
                <a:spcPts val="3284"/>
              </a:lnSpc>
              <a:buFont typeface="Arial"/>
              <a:buChar char="•"/>
            </a:pPr>
            <a:r>
              <a:rPr lang="en-US" sz="2119">
                <a:solidFill>
                  <a:srgbClr val="1F1210"/>
                </a:solidFill>
                <a:latin typeface="DM Sans"/>
                <a:ea typeface="DM Sans"/>
                <a:cs typeface="DM Sans"/>
                <a:sym typeface="DM Sans"/>
              </a:rPr>
              <a:t>Bony crepitus</a:t>
            </a:r>
          </a:p>
          <a:p>
            <a:pPr algn="l" marL="383548" indent="-191774" lvl="1">
              <a:lnSpc>
                <a:spcPts val="3284"/>
              </a:lnSpc>
              <a:buFont typeface="Arial"/>
              <a:buChar char="•"/>
            </a:pPr>
            <a:r>
              <a:rPr lang="en-US" sz="2119">
                <a:solidFill>
                  <a:srgbClr val="1F1210"/>
                </a:solidFill>
                <a:latin typeface="DM Sans"/>
                <a:ea typeface="DM Sans"/>
                <a:cs typeface="DM Sans"/>
                <a:sym typeface="DM Sans"/>
              </a:rPr>
              <a:t>Subcutaneous air: how much, how far</a:t>
            </a:r>
          </a:p>
          <a:p>
            <a:pPr algn="l" marL="383548" indent="-191774" lvl="1">
              <a:lnSpc>
                <a:spcPts val="3284"/>
              </a:lnSpc>
              <a:buFont typeface="Arial"/>
              <a:buChar char="•"/>
            </a:pPr>
            <a:r>
              <a:rPr lang="en-US" sz="2119">
                <a:solidFill>
                  <a:srgbClr val="1F1210"/>
                </a:solidFill>
                <a:latin typeface="DM Sans"/>
                <a:ea typeface="DM Sans"/>
                <a:cs typeface="DM Sans"/>
                <a:sym typeface="DM Sans"/>
              </a:rPr>
              <a:t>Unstable segment</a:t>
            </a:r>
          </a:p>
          <a:p>
            <a:pPr algn="l" marL="383548" indent="-191774" lvl="1">
              <a:lnSpc>
                <a:spcPts val="3284"/>
              </a:lnSpc>
              <a:buFont typeface="Arial"/>
              <a:buChar char="•"/>
            </a:pPr>
            <a:r>
              <a:rPr lang="en-US" sz="2119">
                <a:solidFill>
                  <a:srgbClr val="1F1210"/>
                </a:solidFill>
                <a:latin typeface="DM Sans"/>
                <a:ea typeface="DM Sans"/>
                <a:cs typeface="DM Sans"/>
                <a:sym typeface="DM Sans"/>
              </a:rPr>
              <a:t>Front, sides and back (log roll)</a:t>
            </a:r>
          </a:p>
        </p:txBody>
      </p:sp>
      <p:grpSp>
        <p:nvGrpSpPr>
          <p:cNvPr name="Group 29" id="29"/>
          <p:cNvGrpSpPr/>
          <p:nvPr/>
        </p:nvGrpSpPr>
        <p:grpSpPr>
          <a:xfrm rot="0">
            <a:off x="12111751" y="417172"/>
            <a:ext cx="5483276" cy="1575482"/>
            <a:chOff x="0" y="0"/>
            <a:chExt cx="7311034" cy="2100643"/>
          </a:xfrm>
        </p:grpSpPr>
        <p:sp>
          <p:nvSpPr>
            <p:cNvPr name="Freeform 30" id="30"/>
            <p:cNvSpPr/>
            <p:nvPr/>
          </p:nvSpPr>
          <p:spPr>
            <a:xfrm flipH="false" flipV="false" rot="0">
              <a:off x="0" y="0"/>
              <a:ext cx="7311086" cy="2100655"/>
            </a:xfrm>
            <a:custGeom>
              <a:avLst/>
              <a:gdLst/>
              <a:ahLst/>
              <a:cxnLst/>
              <a:rect r="r" b="b" t="t" l="l"/>
              <a:pathLst>
                <a:path h="2100655" w="7311086">
                  <a:moveTo>
                    <a:pt x="0" y="383799"/>
                  </a:moveTo>
                  <a:cubicBezTo>
                    <a:pt x="0" y="171750"/>
                    <a:pt x="159220" y="0"/>
                    <a:pt x="355800" y="0"/>
                  </a:cubicBezTo>
                  <a:lnTo>
                    <a:pt x="6955294" y="0"/>
                  </a:lnTo>
                  <a:cubicBezTo>
                    <a:pt x="7151725" y="0"/>
                    <a:pt x="7311086" y="171750"/>
                    <a:pt x="7311086" y="383799"/>
                  </a:cubicBezTo>
                  <a:lnTo>
                    <a:pt x="7311086" y="1716860"/>
                  </a:lnTo>
                  <a:cubicBezTo>
                    <a:pt x="7311086" y="1928749"/>
                    <a:pt x="7151874" y="2100655"/>
                    <a:pt x="6955294" y="2100655"/>
                  </a:cubicBezTo>
                  <a:lnTo>
                    <a:pt x="355800" y="2100655"/>
                  </a:lnTo>
                  <a:cubicBezTo>
                    <a:pt x="159369" y="2100655"/>
                    <a:pt x="0" y="1928909"/>
                    <a:pt x="0" y="1716860"/>
                  </a:cubicBezTo>
                  <a:close/>
                </a:path>
              </a:pathLst>
            </a:custGeom>
            <a:solidFill>
              <a:srgbClr val="C42D29"/>
            </a:solidFill>
          </p:spPr>
        </p:sp>
      </p:grpSp>
      <p:sp>
        <p:nvSpPr>
          <p:cNvPr name="TextBox 31" id="31"/>
          <p:cNvSpPr txBox="true"/>
          <p:nvPr/>
        </p:nvSpPr>
        <p:spPr>
          <a:xfrm rot="0">
            <a:off x="12269156" y="558256"/>
            <a:ext cx="5409244" cy="1220901"/>
          </a:xfrm>
          <a:prstGeom prst="rect">
            <a:avLst/>
          </a:prstGeom>
        </p:spPr>
        <p:txBody>
          <a:bodyPr anchor="t" rtlCol="false" tIns="0" lIns="0" bIns="0" rIns="0">
            <a:spAutoFit/>
          </a:bodyPr>
          <a:lstStyle/>
          <a:p>
            <a:pPr algn="l">
              <a:lnSpc>
                <a:spcPts val="3234"/>
              </a:lnSpc>
            </a:pPr>
            <a:r>
              <a:rPr lang="en-US" sz="2394" b="true">
                <a:solidFill>
                  <a:srgbClr val="FFFFFF"/>
                </a:solidFill>
                <a:latin typeface="DM Sans Bold"/>
                <a:ea typeface="DM Sans Bold"/>
                <a:cs typeface="DM Sans Bold"/>
                <a:sym typeface="DM Sans Bold"/>
              </a:rPr>
              <a:t>chest and neck fully expose </a:t>
            </a:r>
          </a:p>
          <a:p>
            <a:pPr algn="l">
              <a:lnSpc>
                <a:spcPts val="3234"/>
              </a:lnSpc>
            </a:pPr>
            <a:r>
              <a:rPr lang="en-US" sz="2394" b="true">
                <a:solidFill>
                  <a:srgbClr val="FFFFFF"/>
                </a:solidFill>
                <a:latin typeface="DM Sans Bold"/>
                <a:ea typeface="DM Sans Bold"/>
                <a:cs typeface="DM Sans Bold"/>
                <a:sym typeface="DM Sans Bold"/>
              </a:rPr>
              <a:t>temporary remove front of C-collar </a:t>
            </a:r>
          </a:p>
          <a:p>
            <a:pPr algn="l">
              <a:lnSpc>
                <a:spcPts val="3234"/>
              </a:lnSpc>
            </a:pPr>
            <a:r>
              <a:rPr lang="en-US" sz="2394" b="true">
                <a:solidFill>
                  <a:srgbClr val="FFDE59"/>
                </a:solidFill>
                <a:latin typeface="DM Sans Bold"/>
                <a:ea typeface="DM Sans Bold"/>
                <a:cs typeface="DM Sans Bold"/>
                <a:sym typeface="DM Sans Bold"/>
              </a:rPr>
              <a:t>keep manual in-line stabilization</a:t>
            </a:r>
          </a:p>
        </p:txBody>
      </p:sp>
      <p:grpSp>
        <p:nvGrpSpPr>
          <p:cNvPr name="Group 32" id="32"/>
          <p:cNvGrpSpPr/>
          <p:nvPr/>
        </p:nvGrpSpPr>
        <p:grpSpPr>
          <a:xfrm rot="0">
            <a:off x="0" y="164592"/>
            <a:ext cx="754380" cy="384048"/>
            <a:chOff x="0" y="0"/>
            <a:chExt cx="1005840" cy="512064"/>
          </a:xfrm>
        </p:grpSpPr>
        <p:sp>
          <p:nvSpPr>
            <p:cNvPr name="Freeform 33" id="33"/>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4" id="34"/>
          <p:cNvGrpSpPr/>
          <p:nvPr/>
        </p:nvGrpSpPr>
        <p:grpSpPr>
          <a:xfrm rot="0">
            <a:off x="932688"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193292"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453896"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714500"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1975104"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235708"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6" id="46"/>
          <p:cNvGrpSpPr/>
          <p:nvPr/>
        </p:nvGrpSpPr>
        <p:grpSpPr>
          <a:xfrm rot="0">
            <a:off x="2496312" y="288036"/>
            <a:ext cx="137160" cy="137160"/>
            <a:chOff x="0" y="0"/>
            <a:chExt cx="182880" cy="182880"/>
          </a:xfrm>
        </p:grpSpPr>
        <p:sp>
          <p:nvSpPr>
            <p:cNvPr name="Freeform 47" id="4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Table 5-1. p. 72.</a:t>
            </a:r>
          </a:p>
        </p:txBody>
      </p:sp>
      <p:grpSp>
        <p:nvGrpSpPr>
          <p:cNvPr name="Group 6" id="6"/>
          <p:cNvGrpSpPr/>
          <p:nvPr/>
        </p:nvGrpSpPr>
        <p:grpSpPr>
          <a:xfrm rot="0">
            <a:off x="4535229" y="307122"/>
            <a:ext cx="9217541" cy="1140628"/>
            <a:chOff x="0" y="0"/>
            <a:chExt cx="10617200" cy="1313830"/>
          </a:xfrm>
        </p:grpSpPr>
        <p:sp>
          <p:nvSpPr>
            <p:cNvPr name="Freeform 7" id="7"/>
            <p:cNvSpPr/>
            <p:nvPr/>
          </p:nvSpPr>
          <p:spPr>
            <a:xfrm flipH="false" flipV="false" rot="0">
              <a:off x="0" y="0"/>
              <a:ext cx="10617200" cy="1313814"/>
            </a:xfrm>
            <a:custGeom>
              <a:avLst/>
              <a:gdLst/>
              <a:ahLst/>
              <a:cxnLst/>
              <a:rect r="r" b="b" t="t" l="l"/>
              <a:pathLst>
                <a:path h="1313814" w="10617200">
                  <a:moveTo>
                    <a:pt x="0" y="435914"/>
                  </a:moveTo>
                  <a:cubicBezTo>
                    <a:pt x="0" y="195227"/>
                    <a:pt x="159258" y="0"/>
                    <a:pt x="355600" y="0"/>
                  </a:cubicBezTo>
                  <a:lnTo>
                    <a:pt x="10261600" y="0"/>
                  </a:lnTo>
                  <a:cubicBezTo>
                    <a:pt x="10457942" y="0"/>
                    <a:pt x="10617200" y="195227"/>
                    <a:pt x="10617200" y="435914"/>
                  </a:cubicBezTo>
                  <a:lnTo>
                    <a:pt x="10617200" y="877900"/>
                  </a:lnTo>
                  <a:cubicBezTo>
                    <a:pt x="10617200" y="1118587"/>
                    <a:pt x="10457942" y="1313814"/>
                    <a:pt x="10261600" y="1313814"/>
                  </a:cubicBezTo>
                  <a:lnTo>
                    <a:pt x="355600" y="1313814"/>
                  </a:lnTo>
                  <a:cubicBezTo>
                    <a:pt x="159258" y="1313814"/>
                    <a:pt x="0" y="1118587"/>
                    <a:pt x="0" y="877900"/>
                  </a:cubicBezTo>
                  <a:close/>
                </a:path>
              </a:pathLst>
            </a:custGeom>
            <a:solidFill>
              <a:srgbClr val="FFD0C4"/>
            </a:solidFill>
          </p:spPr>
        </p:sp>
      </p:grpSp>
      <p:grpSp>
        <p:nvGrpSpPr>
          <p:cNvPr name="Group 8" id="8"/>
          <p:cNvGrpSpPr/>
          <p:nvPr/>
        </p:nvGrpSpPr>
        <p:grpSpPr>
          <a:xfrm rot="0">
            <a:off x="4865286" y="164592"/>
            <a:ext cx="8557427" cy="1425688"/>
            <a:chOff x="0" y="0"/>
            <a:chExt cx="11409903" cy="1900917"/>
          </a:xfrm>
        </p:grpSpPr>
        <p:sp>
          <p:nvSpPr>
            <p:cNvPr name="Freeform 9" id="9"/>
            <p:cNvSpPr/>
            <p:nvPr/>
          </p:nvSpPr>
          <p:spPr>
            <a:xfrm flipH="false" flipV="false" rot="0">
              <a:off x="0" y="0"/>
              <a:ext cx="11409903" cy="1900907"/>
            </a:xfrm>
            <a:custGeom>
              <a:avLst/>
              <a:gdLst/>
              <a:ahLst/>
              <a:cxnLst/>
              <a:rect r="r" b="b" t="t" l="l"/>
              <a:pathLst>
                <a:path h="1900907" w="11409903">
                  <a:moveTo>
                    <a:pt x="0" y="0"/>
                  </a:moveTo>
                  <a:lnTo>
                    <a:pt x="11409903" y="0"/>
                  </a:lnTo>
                  <a:lnTo>
                    <a:pt x="11409903" y="1900907"/>
                  </a:lnTo>
                  <a:lnTo>
                    <a:pt x="0" y="1900907"/>
                  </a:lnTo>
                  <a:close/>
                </a:path>
              </a:pathLst>
            </a:custGeom>
            <a:blipFill>
              <a:blip r:embed="rId3">
                <a:alphaModFix amt="0"/>
              </a:blip>
              <a:stretch>
                <a:fillRect l="0" t="-80639" r="6947" b="-37021"/>
              </a:stretch>
            </a:blipFill>
          </p:spPr>
        </p:sp>
        <p:sp>
          <p:nvSpPr>
            <p:cNvPr name="TextBox 10" id="10"/>
            <p:cNvSpPr txBox="true"/>
            <p:nvPr/>
          </p:nvSpPr>
          <p:spPr>
            <a:xfrm>
              <a:off x="0" y="0"/>
              <a:ext cx="11409903" cy="1900917"/>
            </a:xfrm>
            <a:prstGeom prst="rect">
              <a:avLst/>
            </a:prstGeom>
          </p:spPr>
          <p:txBody>
            <a:bodyPr anchor="ctr" rtlCol="false" tIns="0" lIns="0" bIns="0" rIns="0"/>
            <a:lstStyle/>
            <a:p>
              <a:pPr algn="ctr">
                <a:lnSpc>
                  <a:spcPts val="4830"/>
                </a:lnSpc>
              </a:pPr>
              <a:r>
                <a:rPr lang="en-US" sz="4200" b="true">
                  <a:solidFill>
                    <a:srgbClr val="E74B2F"/>
                  </a:solidFill>
                  <a:latin typeface="Droid Serif Bold"/>
                  <a:ea typeface="Droid Serif Bold"/>
                  <a:cs typeface="Droid Serif Bold"/>
                  <a:sym typeface="Droid Serif Bold"/>
                </a:rPr>
                <a:t>Physical signs of chest injuries</a:t>
              </a:r>
            </a:p>
          </p:txBody>
        </p:sp>
      </p:grpSp>
      <p:grpSp>
        <p:nvGrpSpPr>
          <p:cNvPr name="Group 11" id="11"/>
          <p:cNvGrpSpPr/>
          <p:nvPr/>
        </p:nvGrpSpPr>
        <p:grpSpPr>
          <a:xfrm rot="0">
            <a:off x="754380" y="2119681"/>
            <a:ext cx="16667085" cy="5068236"/>
            <a:chOff x="0" y="0"/>
            <a:chExt cx="21132800" cy="6426200"/>
          </a:xfrm>
        </p:grpSpPr>
        <p:sp>
          <p:nvSpPr>
            <p:cNvPr name="Freeform 12" id="12"/>
            <p:cNvSpPr/>
            <p:nvPr/>
          </p:nvSpPr>
          <p:spPr>
            <a:xfrm flipH="false" flipV="false" rot="0">
              <a:off x="0" y="0"/>
              <a:ext cx="21132800" cy="6426200"/>
            </a:xfrm>
            <a:custGeom>
              <a:avLst/>
              <a:gdLst/>
              <a:ahLst/>
              <a:cxnLst/>
              <a:rect r="r" b="b" t="t" l="l"/>
              <a:pathLst>
                <a:path h="6426200" w="21132800">
                  <a:moveTo>
                    <a:pt x="0" y="185293"/>
                  </a:moveTo>
                  <a:cubicBezTo>
                    <a:pt x="0" y="82931"/>
                    <a:pt x="82931" y="0"/>
                    <a:pt x="185293" y="0"/>
                  </a:cubicBezTo>
                  <a:lnTo>
                    <a:pt x="20947507" y="0"/>
                  </a:lnTo>
                  <a:cubicBezTo>
                    <a:pt x="21049870" y="0"/>
                    <a:pt x="21132800" y="82931"/>
                    <a:pt x="21132800" y="185293"/>
                  </a:cubicBezTo>
                  <a:lnTo>
                    <a:pt x="21132800" y="6240907"/>
                  </a:lnTo>
                  <a:cubicBezTo>
                    <a:pt x="21132800" y="6343269"/>
                    <a:pt x="21049870" y="6426200"/>
                    <a:pt x="20947507" y="6426200"/>
                  </a:cubicBezTo>
                  <a:lnTo>
                    <a:pt x="185293" y="6426200"/>
                  </a:lnTo>
                  <a:cubicBezTo>
                    <a:pt x="82931" y="6426200"/>
                    <a:pt x="0" y="6343269"/>
                    <a:pt x="0" y="6240907"/>
                  </a:cubicBezTo>
                  <a:close/>
                </a:path>
              </a:pathLst>
            </a:custGeom>
            <a:solidFill>
              <a:srgbClr val="F2B8AC"/>
            </a:solidFill>
            <a:ln w="28575" cap="sq">
              <a:solidFill>
                <a:srgbClr val="F2B8AC"/>
              </a:solidFill>
              <a:prstDash val="solid"/>
              <a:miter/>
            </a:ln>
          </p:spPr>
        </p:sp>
      </p:grpSp>
      <p:grpSp>
        <p:nvGrpSpPr>
          <p:cNvPr name="Group 13" id="13"/>
          <p:cNvGrpSpPr/>
          <p:nvPr/>
        </p:nvGrpSpPr>
        <p:grpSpPr>
          <a:xfrm rot="0">
            <a:off x="784429" y="2159746"/>
            <a:ext cx="3706023" cy="492991"/>
            <a:chOff x="0" y="0"/>
            <a:chExt cx="4699000" cy="625081"/>
          </a:xfrm>
        </p:grpSpPr>
        <p:sp>
          <p:nvSpPr>
            <p:cNvPr name="Freeform 14" id="14"/>
            <p:cNvSpPr/>
            <p:nvPr/>
          </p:nvSpPr>
          <p:spPr>
            <a:xfrm flipH="false" flipV="false" rot="0">
              <a:off x="0" y="0"/>
              <a:ext cx="4699000" cy="625094"/>
            </a:xfrm>
            <a:custGeom>
              <a:avLst/>
              <a:gdLst/>
              <a:ahLst/>
              <a:cxnLst/>
              <a:rect r="r" b="b" t="t" l="l"/>
              <a:pathLst>
                <a:path h="625094" w="4699000">
                  <a:moveTo>
                    <a:pt x="0" y="0"/>
                  </a:moveTo>
                  <a:lnTo>
                    <a:pt x="4699000" y="0"/>
                  </a:lnTo>
                  <a:lnTo>
                    <a:pt x="4699000" y="625094"/>
                  </a:lnTo>
                  <a:lnTo>
                    <a:pt x="0" y="625094"/>
                  </a:lnTo>
                  <a:close/>
                </a:path>
              </a:pathLst>
            </a:custGeom>
            <a:solidFill>
              <a:srgbClr val="C42D29"/>
            </a:solidFill>
          </p:spPr>
        </p:sp>
        <p:sp>
          <p:nvSpPr>
            <p:cNvPr name="TextBox 15" id="15"/>
            <p:cNvSpPr txBox="true"/>
            <p:nvPr/>
          </p:nvSpPr>
          <p:spPr>
            <a:xfrm>
              <a:off x="0" y="-19050"/>
              <a:ext cx="4699000"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Condition</a:t>
              </a:r>
            </a:p>
          </p:txBody>
        </p:sp>
      </p:grpSp>
      <p:grpSp>
        <p:nvGrpSpPr>
          <p:cNvPr name="Group 16" id="16"/>
          <p:cNvGrpSpPr/>
          <p:nvPr/>
        </p:nvGrpSpPr>
        <p:grpSpPr>
          <a:xfrm rot="0">
            <a:off x="4520500" y="2159746"/>
            <a:ext cx="2288559" cy="492991"/>
            <a:chOff x="0" y="0"/>
            <a:chExt cx="2901747" cy="625081"/>
          </a:xfrm>
        </p:grpSpPr>
        <p:sp>
          <p:nvSpPr>
            <p:cNvPr name="Freeform 17" id="17"/>
            <p:cNvSpPr/>
            <p:nvPr/>
          </p:nvSpPr>
          <p:spPr>
            <a:xfrm flipH="false" flipV="false" rot="0">
              <a:off x="0" y="0"/>
              <a:ext cx="2901696" cy="625094"/>
            </a:xfrm>
            <a:custGeom>
              <a:avLst/>
              <a:gdLst/>
              <a:ahLst/>
              <a:cxnLst/>
              <a:rect r="r" b="b" t="t" l="l"/>
              <a:pathLst>
                <a:path h="625094" w="2901696">
                  <a:moveTo>
                    <a:pt x="0" y="0"/>
                  </a:moveTo>
                  <a:lnTo>
                    <a:pt x="2901696" y="0"/>
                  </a:lnTo>
                  <a:lnTo>
                    <a:pt x="2901696" y="625094"/>
                  </a:lnTo>
                  <a:lnTo>
                    <a:pt x="0" y="625094"/>
                  </a:lnTo>
                  <a:close/>
                </a:path>
              </a:pathLst>
            </a:custGeom>
            <a:solidFill>
              <a:srgbClr val="C42D29"/>
            </a:solidFill>
          </p:spPr>
        </p:sp>
        <p:sp>
          <p:nvSpPr>
            <p:cNvPr name="TextBox 18" id="18"/>
            <p:cNvSpPr txBox="true"/>
            <p:nvPr/>
          </p:nvSpPr>
          <p:spPr>
            <a:xfrm>
              <a:off x="0" y="-19050"/>
              <a:ext cx="2901747"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Breath sounds</a:t>
              </a:r>
            </a:p>
          </p:txBody>
        </p:sp>
      </p:grpSp>
      <p:grpSp>
        <p:nvGrpSpPr>
          <p:cNvPr name="Group 19" id="19"/>
          <p:cNvGrpSpPr/>
          <p:nvPr/>
        </p:nvGrpSpPr>
        <p:grpSpPr>
          <a:xfrm rot="0">
            <a:off x="6839108" y="2159746"/>
            <a:ext cx="2615500" cy="492991"/>
            <a:chOff x="0" y="0"/>
            <a:chExt cx="3316288" cy="625081"/>
          </a:xfrm>
        </p:grpSpPr>
        <p:sp>
          <p:nvSpPr>
            <p:cNvPr name="Freeform 20" id="20"/>
            <p:cNvSpPr/>
            <p:nvPr/>
          </p:nvSpPr>
          <p:spPr>
            <a:xfrm flipH="false" flipV="false" rot="0">
              <a:off x="0" y="0"/>
              <a:ext cx="3316351" cy="625094"/>
            </a:xfrm>
            <a:custGeom>
              <a:avLst/>
              <a:gdLst/>
              <a:ahLst/>
              <a:cxnLst/>
              <a:rect r="r" b="b" t="t" l="l"/>
              <a:pathLst>
                <a:path h="625094" w="3316351">
                  <a:moveTo>
                    <a:pt x="0" y="0"/>
                  </a:moveTo>
                  <a:lnTo>
                    <a:pt x="3316351" y="0"/>
                  </a:lnTo>
                  <a:lnTo>
                    <a:pt x="3316351" y="625094"/>
                  </a:lnTo>
                  <a:lnTo>
                    <a:pt x="0" y="625094"/>
                  </a:lnTo>
                  <a:close/>
                </a:path>
              </a:pathLst>
            </a:custGeom>
            <a:solidFill>
              <a:srgbClr val="C42D29"/>
            </a:solidFill>
          </p:spPr>
        </p:sp>
        <p:sp>
          <p:nvSpPr>
            <p:cNvPr name="TextBox 21" id="21"/>
            <p:cNvSpPr txBox="true"/>
            <p:nvPr/>
          </p:nvSpPr>
          <p:spPr>
            <a:xfrm>
              <a:off x="0" y="-19050"/>
              <a:ext cx="3316288"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Trachea</a:t>
              </a:r>
            </a:p>
          </p:txBody>
        </p:sp>
      </p:grpSp>
      <p:grpSp>
        <p:nvGrpSpPr>
          <p:cNvPr name="Group 22" id="22"/>
          <p:cNvGrpSpPr/>
          <p:nvPr/>
        </p:nvGrpSpPr>
        <p:grpSpPr>
          <a:xfrm rot="0">
            <a:off x="9484657" y="2159746"/>
            <a:ext cx="2125174" cy="492991"/>
            <a:chOff x="0" y="0"/>
            <a:chExt cx="2694584" cy="625081"/>
          </a:xfrm>
        </p:grpSpPr>
        <p:sp>
          <p:nvSpPr>
            <p:cNvPr name="Freeform 23" id="23"/>
            <p:cNvSpPr/>
            <p:nvPr/>
          </p:nvSpPr>
          <p:spPr>
            <a:xfrm flipH="false" flipV="false" rot="0">
              <a:off x="0" y="0"/>
              <a:ext cx="2694559" cy="625094"/>
            </a:xfrm>
            <a:custGeom>
              <a:avLst/>
              <a:gdLst/>
              <a:ahLst/>
              <a:cxnLst/>
              <a:rect r="r" b="b" t="t" l="l"/>
              <a:pathLst>
                <a:path h="625094" w="2694559">
                  <a:moveTo>
                    <a:pt x="0" y="0"/>
                  </a:moveTo>
                  <a:lnTo>
                    <a:pt x="2694559" y="0"/>
                  </a:lnTo>
                  <a:lnTo>
                    <a:pt x="2694559" y="625094"/>
                  </a:lnTo>
                  <a:lnTo>
                    <a:pt x="0" y="625094"/>
                  </a:lnTo>
                  <a:close/>
                </a:path>
              </a:pathLst>
            </a:custGeom>
            <a:solidFill>
              <a:srgbClr val="C42D29"/>
            </a:solidFill>
          </p:spPr>
        </p:sp>
        <p:sp>
          <p:nvSpPr>
            <p:cNvPr name="TextBox 24" id="24"/>
            <p:cNvSpPr txBox="true"/>
            <p:nvPr/>
          </p:nvSpPr>
          <p:spPr>
            <a:xfrm>
              <a:off x="0" y="-19050"/>
              <a:ext cx="2694584"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Neck veins</a:t>
              </a:r>
            </a:p>
          </p:txBody>
        </p:sp>
      </p:grpSp>
      <p:grpSp>
        <p:nvGrpSpPr>
          <p:cNvPr name="Group 25" id="25"/>
          <p:cNvGrpSpPr/>
          <p:nvPr/>
        </p:nvGrpSpPr>
        <p:grpSpPr>
          <a:xfrm rot="0">
            <a:off x="11639880" y="2159746"/>
            <a:ext cx="1634687" cy="492991"/>
            <a:chOff x="0" y="0"/>
            <a:chExt cx="2072678" cy="625081"/>
          </a:xfrm>
        </p:grpSpPr>
        <p:sp>
          <p:nvSpPr>
            <p:cNvPr name="Freeform 26" id="26"/>
            <p:cNvSpPr/>
            <p:nvPr/>
          </p:nvSpPr>
          <p:spPr>
            <a:xfrm flipH="false" flipV="false" rot="0">
              <a:off x="0" y="0"/>
              <a:ext cx="2072640" cy="625094"/>
            </a:xfrm>
            <a:custGeom>
              <a:avLst/>
              <a:gdLst/>
              <a:ahLst/>
              <a:cxnLst/>
              <a:rect r="r" b="b" t="t" l="l"/>
              <a:pathLst>
                <a:path h="625094" w="2072640">
                  <a:moveTo>
                    <a:pt x="0" y="0"/>
                  </a:moveTo>
                  <a:lnTo>
                    <a:pt x="2072640" y="0"/>
                  </a:lnTo>
                  <a:lnTo>
                    <a:pt x="2072640" y="625094"/>
                  </a:lnTo>
                  <a:lnTo>
                    <a:pt x="0" y="625094"/>
                  </a:lnTo>
                  <a:close/>
                </a:path>
              </a:pathLst>
            </a:custGeom>
            <a:solidFill>
              <a:srgbClr val="C42D29"/>
            </a:solidFill>
          </p:spPr>
        </p:sp>
        <p:sp>
          <p:nvSpPr>
            <p:cNvPr name="TextBox 27" id="27"/>
            <p:cNvSpPr txBox="true"/>
            <p:nvPr/>
          </p:nvSpPr>
          <p:spPr>
            <a:xfrm>
              <a:off x="0" y="-19050"/>
              <a:ext cx="2072678"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BP</a:t>
              </a:r>
            </a:p>
          </p:txBody>
        </p:sp>
      </p:grpSp>
      <p:grpSp>
        <p:nvGrpSpPr>
          <p:cNvPr name="Group 28" id="28"/>
          <p:cNvGrpSpPr/>
          <p:nvPr/>
        </p:nvGrpSpPr>
        <p:grpSpPr>
          <a:xfrm rot="0">
            <a:off x="13304615" y="2159746"/>
            <a:ext cx="4086801" cy="492991"/>
            <a:chOff x="0" y="0"/>
            <a:chExt cx="5181803" cy="625081"/>
          </a:xfrm>
        </p:grpSpPr>
        <p:sp>
          <p:nvSpPr>
            <p:cNvPr name="Freeform 29" id="29"/>
            <p:cNvSpPr/>
            <p:nvPr/>
          </p:nvSpPr>
          <p:spPr>
            <a:xfrm flipH="false" flipV="false" rot="0">
              <a:off x="0" y="0"/>
              <a:ext cx="5181854" cy="625094"/>
            </a:xfrm>
            <a:custGeom>
              <a:avLst/>
              <a:gdLst/>
              <a:ahLst/>
              <a:cxnLst/>
              <a:rect r="r" b="b" t="t" l="l"/>
              <a:pathLst>
                <a:path h="625094" w="5181854">
                  <a:moveTo>
                    <a:pt x="0" y="0"/>
                  </a:moveTo>
                  <a:lnTo>
                    <a:pt x="5181854" y="0"/>
                  </a:lnTo>
                  <a:lnTo>
                    <a:pt x="5181854" y="625094"/>
                  </a:lnTo>
                  <a:lnTo>
                    <a:pt x="0" y="625094"/>
                  </a:lnTo>
                  <a:close/>
                </a:path>
              </a:pathLst>
            </a:custGeom>
            <a:solidFill>
              <a:srgbClr val="C42D29"/>
            </a:solidFill>
          </p:spPr>
        </p:sp>
        <p:sp>
          <p:nvSpPr>
            <p:cNvPr name="TextBox 30" id="30"/>
            <p:cNvSpPr txBox="true"/>
            <p:nvPr/>
          </p:nvSpPr>
          <p:spPr>
            <a:xfrm>
              <a:off x="0" y="-19050"/>
              <a:ext cx="5181803"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Key point</a:t>
              </a:r>
            </a:p>
          </p:txBody>
        </p:sp>
      </p:grpSp>
      <p:grpSp>
        <p:nvGrpSpPr>
          <p:cNvPr name="Group 31" id="31"/>
          <p:cNvGrpSpPr/>
          <p:nvPr/>
        </p:nvGrpSpPr>
        <p:grpSpPr>
          <a:xfrm rot="0">
            <a:off x="784429" y="2682786"/>
            <a:ext cx="3706023" cy="492991"/>
            <a:chOff x="0" y="0"/>
            <a:chExt cx="4699000" cy="625081"/>
          </a:xfrm>
        </p:grpSpPr>
        <p:sp>
          <p:nvSpPr>
            <p:cNvPr name="Freeform 32" id="32"/>
            <p:cNvSpPr/>
            <p:nvPr/>
          </p:nvSpPr>
          <p:spPr>
            <a:xfrm flipH="false" flipV="false" rot="0">
              <a:off x="0" y="0"/>
              <a:ext cx="4699000" cy="625094"/>
            </a:xfrm>
            <a:custGeom>
              <a:avLst/>
              <a:gdLst/>
              <a:ahLst/>
              <a:cxnLst/>
              <a:rect r="r" b="b" t="t" l="l"/>
              <a:pathLst>
                <a:path h="625094" w="4699000">
                  <a:moveTo>
                    <a:pt x="0" y="0"/>
                  </a:moveTo>
                  <a:lnTo>
                    <a:pt x="4699000" y="0"/>
                  </a:lnTo>
                  <a:lnTo>
                    <a:pt x="4699000" y="625094"/>
                  </a:lnTo>
                  <a:lnTo>
                    <a:pt x="0" y="625094"/>
                  </a:lnTo>
                  <a:close/>
                </a:path>
              </a:pathLst>
            </a:custGeom>
            <a:solidFill>
              <a:srgbClr val="C42D29"/>
            </a:solidFill>
          </p:spPr>
        </p:sp>
        <p:sp>
          <p:nvSpPr>
            <p:cNvPr name="TextBox 33" id="33"/>
            <p:cNvSpPr txBox="true"/>
            <p:nvPr/>
          </p:nvSpPr>
          <p:spPr>
            <a:xfrm>
              <a:off x="0" y="-19050"/>
              <a:ext cx="4699000"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Tension hemo/PTX</a:t>
              </a:r>
            </a:p>
          </p:txBody>
        </p:sp>
      </p:grpSp>
      <p:grpSp>
        <p:nvGrpSpPr>
          <p:cNvPr name="Group 34" id="34"/>
          <p:cNvGrpSpPr/>
          <p:nvPr/>
        </p:nvGrpSpPr>
        <p:grpSpPr>
          <a:xfrm rot="0">
            <a:off x="4520500" y="2682786"/>
            <a:ext cx="2288559" cy="492991"/>
            <a:chOff x="0" y="0"/>
            <a:chExt cx="2901747" cy="625081"/>
          </a:xfrm>
        </p:grpSpPr>
        <p:sp>
          <p:nvSpPr>
            <p:cNvPr name="Freeform 35" id="35"/>
            <p:cNvSpPr/>
            <p:nvPr/>
          </p:nvSpPr>
          <p:spPr>
            <a:xfrm flipH="false" flipV="false" rot="0">
              <a:off x="0" y="0"/>
              <a:ext cx="2901696" cy="625094"/>
            </a:xfrm>
            <a:custGeom>
              <a:avLst/>
              <a:gdLst/>
              <a:ahLst/>
              <a:cxnLst/>
              <a:rect r="r" b="b" t="t" l="l"/>
              <a:pathLst>
                <a:path h="625094" w="2901696">
                  <a:moveTo>
                    <a:pt x="0" y="0"/>
                  </a:moveTo>
                  <a:lnTo>
                    <a:pt x="2901696" y="0"/>
                  </a:lnTo>
                  <a:lnTo>
                    <a:pt x="2901696" y="625094"/>
                  </a:lnTo>
                  <a:lnTo>
                    <a:pt x="0" y="625094"/>
                  </a:lnTo>
                  <a:close/>
                </a:path>
              </a:pathLst>
            </a:custGeom>
            <a:solidFill>
              <a:srgbClr val="FFE5B4"/>
            </a:solidFill>
          </p:spPr>
        </p:sp>
        <p:sp>
          <p:nvSpPr>
            <p:cNvPr name="TextBox 36" id="36"/>
            <p:cNvSpPr txBox="true"/>
            <p:nvPr/>
          </p:nvSpPr>
          <p:spPr>
            <a:xfrm>
              <a:off x="0" y="-19050"/>
              <a:ext cx="2901747"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 / absent</a:t>
              </a:r>
            </a:p>
          </p:txBody>
        </p:sp>
      </p:grpSp>
      <p:grpSp>
        <p:nvGrpSpPr>
          <p:cNvPr name="Group 37" id="37"/>
          <p:cNvGrpSpPr/>
          <p:nvPr/>
        </p:nvGrpSpPr>
        <p:grpSpPr>
          <a:xfrm rot="0">
            <a:off x="6839108" y="2682786"/>
            <a:ext cx="2615500" cy="492991"/>
            <a:chOff x="0" y="0"/>
            <a:chExt cx="3316288" cy="625081"/>
          </a:xfrm>
        </p:grpSpPr>
        <p:sp>
          <p:nvSpPr>
            <p:cNvPr name="Freeform 38" id="38"/>
            <p:cNvSpPr/>
            <p:nvPr/>
          </p:nvSpPr>
          <p:spPr>
            <a:xfrm flipH="false" flipV="false" rot="0">
              <a:off x="0" y="0"/>
              <a:ext cx="3316351" cy="625094"/>
            </a:xfrm>
            <a:custGeom>
              <a:avLst/>
              <a:gdLst/>
              <a:ahLst/>
              <a:cxnLst/>
              <a:rect r="r" b="b" t="t" l="l"/>
              <a:pathLst>
                <a:path h="625094" w="3316351">
                  <a:moveTo>
                    <a:pt x="0" y="0"/>
                  </a:moveTo>
                  <a:lnTo>
                    <a:pt x="3316351" y="0"/>
                  </a:lnTo>
                  <a:lnTo>
                    <a:pt x="3316351" y="625094"/>
                  </a:lnTo>
                  <a:lnTo>
                    <a:pt x="0" y="625094"/>
                  </a:lnTo>
                  <a:close/>
                </a:path>
              </a:pathLst>
            </a:custGeom>
            <a:solidFill>
              <a:srgbClr val="5CE1E6"/>
            </a:solidFill>
          </p:spPr>
        </p:sp>
        <p:sp>
          <p:nvSpPr>
            <p:cNvPr name="TextBox 39" id="39"/>
            <p:cNvSpPr txBox="true"/>
            <p:nvPr/>
          </p:nvSpPr>
          <p:spPr>
            <a:xfrm>
              <a:off x="0" y="-19050"/>
              <a:ext cx="331628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Deviated AWAY</a:t>
              </a:r>
            </a:p>
          </p:txBody>
        </p:sp>
      </p:grpSp>
      <p:grpSp>
        <p:nvGrpSpPr>
          <p:cNvPr name="Group 40" id="40"/>
          <p:cNvGrpSpPr/>
          <p:nvPr/>
        </p:nvGrpSpPr>
        <p:grpSpPr>
          <a:xfrm rot="0">
            <a:off x="9484657" y="2682786"/>
            <a:ext cx="2125174" cy="492991"/>
            <a:chOff x="0" y="0"/>
            <a:chExt cx="2694584" cy="625081"/>
          </a:xfrm>
        </p:grpSpPr>
        <p:sp>
          <p:nvSpPr>
            <p:cNvPr name="Freeform 41" id="41"/>
            <p:cNvSpPr/>
            <p:nvPr/>
          </p:nvSpPr>
          <p:spPr>
            <a:xfrm flipH="false" flipV="false" rot="0">
              <a:off x="0" y="0"/>
              <a:ext cx="2694559" cy="625094"/>
            </a:xfrm>
            <a:custGeom>
              <a:avLst/>
              <a:gdLst/>
              <a:ahLst/>
              <a:cxnLst/>
              <a:rect r="r" b="b" t="t" l="l"/>
              <a:pathLst>
                <a:path h="625094" w="2694559">
                  <a:moveTo>
                    <a:pt x="0" y="0"/>
                  </a:moveTo>
                  <a:lnTo>
                    <a:pt x="2694559" y="0"/>
                  </a:lnTo>
                  <a:lnTo>
                    <a:pt x="2694559" y="625094"/>
                  </a:lnTo>
                  <a:lnTo>
                    <a:pt x="0" y="625094"/>
                  </a:lnTo>
                  <a:close/>
                </a:path>
              </a:pathLst>
            </a:custGeom>
            <a:solidFill>
              <a:srgbClr val="5CE1E6"/>
            </a:solidFill>
          </p:spPr>
        </p:sp>
        <p:sp>
          <p:nvSpPr>
            <p:cNvPr name="TextBox 42" id="42"/>
            <p:cNvSpPr txBox="true"/>
            <p:nvPr/>
          </p:nvSpPr>
          <p:spPr>
            <a:xfrm>
              <a:off x="0" y="-19050"/>
              <a:ext cx="2694584"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Distended*</a:t>
              </a:r>
            </a:p>
          </p:txBody>
        </p:sp>
      </p:grpSp>
      <p:grpSp>
        <p:nvGrpSpPr>
          <p:cNvPr name="Group 43" id="43"/>
          <p:cNvGrpSpPr/>
          <p:nvPr/>
        </p:nvGrpSpPr>
        <p:grpSpPr>
          <a:xfrm rot="0">
            <a:off x="11639880" y="2682786"/>
            <a:ext cx="1634687" cy="492991"/>
            <a:chOff x="0" y="0"/>
            <a:chExt cx="2072678" cy="625081"/>
          </a:xfrm>
        </p:grpSpPr>
        <p:sp>
          <p:nvSpPr>
            <p:cNvPr name="Freeform 44" id="44"/>
            <p:cNvSpPr/>
            <p:nvPr/>
          </p:nvSpPr>
          <p:spPr>
            <a:xfrm flipH="false" flipV="false" rot="0">
              <a:off x="0" y="0"/>
              <a:ext cx="2072640" cy="625094"/>
            </a:xfrm>
            <a:custGeom>
              <a:avLst/>
              <a:gdLst/>
              <a:ahLst/>
              <a:cxnLst/>
              <a:rect r="r" b="b" t="t" l="l"/>
              <a:pathLst>
                <a:path h="625094" w="2072640">
                  <a:moveTo>
                    <a:pt x="0" y="0"/>
                  </a:moveTo>
                  <a:lnTo>
                    <a:pt x="2072640" y="0"/>
                  </a:lnTo>
                  <a:lnTo>
                    <a:pt x="2072640" y="625094"/>
                  </a:lnTo>
                  <a:lnTo>
                    <a:pt x="0" y="625094"/>
                  </a:lnTo>
                  <a:close/>
                </a:path>
              </a:pathLst>
            </a:custGeom>
            <a:solidFill>
              <a:srgbClr val="5CE1E6"/>
            </a:solidFill>
          </p:spPr>
        </p:sp>
        <p:sp>
          <p:nvSpPr>
            <p:cNvPr name="TextBox 45" id="45"/>
            <p:cNvSpPr txBox="true"/>
            <p:nvPr/>
          </p:nvSpPr>
          <p:spPr>
            <a:xfrm>
              <a:off x="0" y="-19050"/>
              <a:ext cx="207267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a:t>
              </a:r>
            </a:p>
          </p:txBody>
        </p:sp>
      </p:grpSp>
      <p:grpSp>
        <p:nvGrpSpPr>
          <p:cNvPr name="Group 46" id="46"/>
          <p:cNvGrpSpPr/>
          <p:nvPr/>
        </p:nvGrpSpPr>
        <p:grpSpPr>
          <a:xfrm rot="0">
            <a:off x="13304615" y="2682786"/>
            <a:ext cx="4086801" cy="492991"/>
            <a:chOff x="0" y="0"/>
            <a:chExt cx="5181803" cy="625081"/>
          </a:xfrm>
        </p:grpSpPr>
        <p:sp>
          <p:nvSpPr>
            <p:cNvPr name="Freeform 47" id="47"/>
            <p:cNvSpPr/>
            <p:nvPr/>
          </p:nvSpPr>
          <p:spPr>
            <a:xfrm flipH="false" flipV="false" rot="0">
              <a:off x="0" y="0"/>
              <a:ext cx="5181854" cy="625094"/>
            </a:xfrm>
            <a:custGeom>
              <a:avLst/>
              <a:gdLst/>
              <a:ahLst/>
              <a:cxnLst/>
              <a:rect r="r" b="b" t="t" l="l"/>
              <a:pathLst>
                <a:path h="625094" w="5181854">
                  <a:moveTo>
                    <a:pt x="0" y="0"/>
                  </a:moveTo>
                  <a:lnTo>
                    <a:pt x="5181854" y="0"/>
                  </a:lnTo>
                  <a:lnTo>
                    <a:pt x="5181854" y="625094"/>
                  </a:lnTo>
                  <a:lnTo>
                    <a:pt x="0" y="625094"/>
                  </a:lnTo>
                  <a:close/>
                </a:path>
              </a:pathLst>
            </a:custGeom>
            <a:solidFill>
              <a:srgbClr val="FFE5B4"/>
            </a:solidFill>
          </p:spPr>
        </p:sp>
        <p:sp>
          <p:nvSpPr>
            <p:cNvPr name="TextBox 48" id="48"/>
            <p:cNvSpPr txBox="true"/>
            <p:nvPr/>
          </p:nvSpPr>
          <p:spPr>
            <a:xfrm>
              <a:off x="0" y="-19050"/>
              <a:ext cx="5181803"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Critical clinical diagnosis</a:t>
              </a:r>
            </a:p>
          </p:txBody>
        </p:sp>
      </p:grpSp>
      <p:grpSp>
        <p:nvGrpSpPr>
          <p:cNvPr name="Group 49" id="49"/>
          <p:cNvGrpSpPr/>
          <p:nvPr/>
        </p:nvGrpSpPr>
        <p:grpSpPr>
          <a:xfrm rot="0">
            <a:off x="784429" y="3205816"/>
            <a:ext cx="3706023" cy="492991"/>
            <a:chOff x="0" y="0"/>
            <a:chExt cx="4699000" cy="625081"/>
          </a:xfrm>
        </p:grpSpPr>
        <p:sp>
          <p:nvSpPr>
            <p:cNvPr name="Freeform 50" id="50"/>
            <p:cNvSpPr/>
            <p:nvPr/>
          </p:nvSpPr>
          <p:spPr>
            <a:xfrm flipH="false" flipV="false" rot="0">
              <a:off x="0" y="0"/>
              <a:ext cx="4699000" cy="625094"/>
            </a:xfrm>
            <a:custGeom>
              <a:avLst/>
              <a:gdLst/>
              <a:ahLst/>
              <a:cxnLst/>
              <a:rect r="r" b="b" t="t" l="l"/>
              <a:pathLst>
                <a:path h="625094" w="4699000">
                  <a:moveTo>
                    <a:pt x="0" y="0"/>
                  </a:moveTo>
                  <a:lnTo>
                    <a:pt x="4699000" y="0"/>
                  </a:lnTo>
                  <a:lnTo>
                    <a:pt x="4699000" y="625094"/>
                  </a:lnTo>
                  <a:lnTo>
                    <a:pt x="0" y="625094"/>
                  </a:lnTo>
                  <a:close/>
                </a:path>
              </a:pathLst>
            </a:custGeom>
            <a:solidFill>
              <a:srgbClr val="C42D29"/>
            </a:solidFill>
          </p:spPr>
        </p:sp>
        <p:sp>
          <p:nvSpPr>
            <p:cNvPr name="TextBox 51" id="51"/>
            <p:cNvSpPr txBox="true"/>
            <p:nvPr/>
          </p:nvSpPr>
          <p:spPr>
            <a:xfrm>
              <a:off x="0" y="-19050"/>
              <a:ext cx="4699000"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Massive hemothorax</a:t>
              </a:r>
            </a:p>
          </p:txBody>
        </p:sp>
      </p:grpSp>
      <p:grpSp>
        <p:nvGrpSpPr>
          <p:cNvPr name="Group 52" id="52"/>
          <p:cNvGrpSpPr/>
          <p:nvPr/>
        </p:nvGrpSpPr>
        <p:grpSpPr>
          <a:xfrm rot="0">
            <a:off x="4520500" y="3205816"/>
            <a:ext cx="2288559" cy="492991"/>
            <a:chOff x="0" y="0"/>
            <a:chExt cx="2901747" cy="625081"/>
          </a:xfrm>
        </p:grpSpPr>
        <p:sp>
          <p:nvSpPr>
            <p:cNvPr name="Freeform 53" id="53"/>
            <p:cNvSpPr/>
            <p:nvPr/>
          </p:nvSpPr>
          <p:spPr>
            <a:xfrm flipH="false" flipV="false" rot="0">
              <a:off x="0" y="0"/>
              <a:ext cx="2901696" cy="625094"/>
            </a:xfrm>
            <a:custGeom>
              <a:avLst/>
              <a:gdLst/>
              <a:ahLst/>
              <a:cxnLst/>
              <a:rect r="r" b="b" t="t" l="l"/>
              <a:pathLst>
                <a:path h="625094" w="2901696">
                  <a:moveTo>
                    <a:pt x="0" y="0"/>
                  </a:moveTo>
                  <a:lnTo>
                    <a:pt x="2901696" y="0"/>
                  </a:lnTo>
                  <a:lnTo>
                    <a:pt x="2901696" y="625094"/>
                  </a:lnTo>
                  <a:lnTo>
                    <a:pt x="0" y="625094"/>
                  </a:lnTo>
                  <a:close/>
                </a:path>
              </a:pathLst>
            </a:custGeom>
            <a:solidFill>
              <a:srgbClr val="FFE5B4"/>
            </a:solidFill>
          </p:spPr>
        </p:sp>
        <p:sp>
          <p:nvSpPr>
            <p:cNvPr name="TextBox 54" id="54"/>
            <p:cNvSpPr txBox="true"/>
            <p:nvPr/>
          </p:nvSpPr>
          <p:spPr>
            <a:xfrm>
              <a:off x="0" y="-19050"/>
              <a:ext cx="2901747"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a:t>
              </a:r>
            </a:p>
          </p:txBody>
        </p:sp>
      </p:grpSp>
      <p:grpSp>
        <p:nvGrpSpPr>
          <p:cNvPr name="Group 55" id="55"/>
          <p:cNvGrpSpPr/>
          <p:nvPr/>
        </p:nvGrpSpPr>
        <p:grpSpPr>
          <a:xfrm rot="0">
            <a:off x="6839108" y="3205816"/>
            <a:ext cx="2615500" cy="492991"/>
            <a:chOff x="0" y="0"/>
            <a:chExt cx="3316288" cy="625081"/>
          </a:xfrm>
        </p:grpSpPr>
        <p:sp>
          <p:nvSpPr>
            <p:cNvPr name="Freeform 56" id="56"/>
            <p:cNvSpPr/>
            <p:nvPr/>
          </p:nvSpPr>
          <p:spPr>
            <a:xfrm flipH="false" flipV="false" rot="0">
              <a:off x="0" y="0"/>
              <a:ext cx="3316351" cy="625094"/>
            </a:xfrm>
            <a:custGeom>
              <a:avLst/>
              <a:gdLst/>
              <a:ahLst/>
              <a:cxnLst/>
              <a:rect r="r" b="b" t="t" l="l"/>
              <a:pathLst>
                <a:path h="625094" w="3316351">
                  <a:moveTo>
                    <a:pt x="0" y="0"/>
                  </a:moveTo>
                  <a:lnTo>
                    <a:pt x="3316351" y="0"/>
                  </a:lnTo>
                  <a:lnTo>
                    <a:pt x="3316351" y="625094"/>
                  </a:lnTo>
                  <a:lnTo>
                    <a:pt x="0" y="625094"/>
                  </a:lnTo>
                  <a:close/>
                </a:path>
              </a:pathLst>
            </a:custGeom>
            <a:solidFill>
              <a:srgbClr val="FFE5B4"/>
            </a:solidFill>
          </p:spPr>
        </p:sp>
        <p:sp>
          <p:nvSpPr>
            <p:cNvPr name="TextBox 57" id="57"/>
            <p:cNvSpPr txBox="true"/>
            <p:nvPr/>
          </p:nvSpPr>
          <p:spPr>
            <a:xfrm>
              <a:off x="0" y="-19050"/>
              <a:ext cx="331628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Midline**</a:t>
              </a:r>
            </a:p>
          </p:txBody>
        </p:sp>
      </p:grpSp>
      <p:grpSp>
        <p:nvGrpSpPr>
          <p:cNvPr name="Group 58" id="58"/>
          <p:cNvGrpSpPr/>
          <p:nvPr/>
        </p:nvGrpSpPr>
        <p:grpSpPr>
          <a:xfrm rot="0">
            <a:off x="9484657" y="3205816"/>
            <a:ext cx="2125174" cy="492991"/>
            <a:chOff x="0" y="0"/>
            <a:chExt cx="2694584" cy="625081"/>
          </a:xfrm>
        </p:grpSpPr>
        <p:sp>
          <p:nvSpPr>
            <p:cNvPr name="Freeform 59" id="59"/>
            <p:cNvSpPr/>
            <p:nvPr/>
          </p:nvSpPr>
          <p:spPr>
            <a:xfrm flipH="false" flipV="false" rot="0">
              <a:off x="0" y="0"/>
              <a:ext cx="2694559" cy="625094"/>
            </a:xfrm>
            <a:custGeom>
              <a:avLst/>
              <a:gdLst/>
              <a:ahLst/>
              <a:cxnLst/>
              <a:rect r="r" b="b" t="t" l="l"/>
              <a:pathLst>
                <a:path h="625094" w="2694559">
                  <a:moveTo>
                    <a:pt x="0" y="0"/>
                  </a:moveTo>
                  <a:lnTo>
                    <a:pt x="2694559" y="0"/>
                  </a:lnTo>
                  <a:lnTo>
                    <a:pt x="2694559" y="625094"/>
                  </a:lnTo>
                  <a:lnTo>
                    <a:pt x="0" y="625094"/>
                  </a:lnTo>
                  <a:close/>
                </a:path>
              </a:pathLst>
            </a:custGeom>
            <a:solidFill>
              <a:srgbClr val="FFE5B4"/>
            </a:solidFill>
          </p:spPr>
        </p:sp>
        <p:sp>
          <p:nvSpPr>
            <p:cNvPr name="TextBox 60" id="60"/>
            <p:cNvSpPr txBox="true"/>
            <p:nvPr/>
          </p:nvSpPr>
          <p:spPr>
            <a:xfrm>
              <a:off x="0" y="-19050"/>
              <a:ext cx="2694584"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Flat</a:t>
              </a:r>
            </a:p>
          </p:txBody>
        </p:sp>
      </p:grpSp>
      <p:grpSp>
        <p:nvGrpSpPr>
          <p:cNvPr name="Group 61" id="61"/>
          <p:cNvGrpSpPr/>
          <p:nvPr/>
        </p:nvGrpSpPr>
        <p:grpSpPr>
          <a:xfrm rot="0">
            <a:off x="11639880" y="3205816"/>
            <a:ext cx="1634687" cy="492991"/>
            <a:chOff x="0" y="0"/>
            <a:chExt cx="2072678" cy="625081"/>
          </a:xfrm>
        </p:grpSpPr>
        <p:sp>
          <p:nvSpPr>
            <p:cNvPr name="Freeform 62" id="62"/>
            <p:cNvSpPr/>
            <p:nvPr/>
          </p:nvSpPr>
          <p:spPr>
            <a:xfrm flipH="false" flipV="false" rot="0">
              <a:off x="0" y="0"/>
              <a:ext cx="2072640" cy="625094"/>
            </a:xfrm>
            <a:custGeom>
              <a:avLst/>
              <a:gdLst/>
              <a:ahLst/>
              <a:cxnLst/>
              <a:rect r="r" b="b" t="t" l="l"/>
              <a:pathLst>
                <a:path h="625094" w="2072640">
                  <a:moveTo>
                    <a:pt x="0" y="0"/>
                  </a:moveTo>
                  <a:lnTo>
                    <a:pt x="2072640" y="0"/>
                  </a:lnTo>
                  <a:lnTo>
                    <a:pt x="2072640" y="625094"/>
                  </a:lnTo>
                  <a:lnTo>
                    <a:pt x="0" y="625094"/>
                  </a:lnTo>
                  <a:close/>
                </a:path>
              </a:pathLst>
            </a:custGeom>
            <a:solidFill>
              <a:srgbClr val="5CE1E6"/>
            </a:solidFill>
          </p:spPr>
        </p:sp>
        <p:sp>
          <p:nvSpPr>
            <p:cNvPr name="TextBox 63" id="63"/>
            <p:cNvSpPr txBox="true"/>
            <p:nvPr/>
          </p:nvSpPr>
          <p:spPr>
            <a:xfrm>
              <a:off x="0" y="-19050"/>
              <a:ext cx="207267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a:t>
              </a:r>
            </a:p>
          </p:txBody>
        </p:sp>
      </p:grpSp>
      <p:grpSp>
        <p:nvGrpSpPr>
          <p:cNvPr name="Group 64" id="64"/>
          <p:cNvGrpSpPr/>
          <p:nvPr/>
        </p:nvGrpSpPr>
        <p:grpSpPr>
          <a:xfrm rot="0">
            <a:off x="13304615" y="3205816"/>
            <a:ext cx="4086801" cy="492991"/>
            <a:chOff x="0" y="0"/>
            <a:chExt cx="5181803" cy="625081"/>
          </a:xfrm>
        </p:grpSpPr>
        <p:sp>
          <p:nvSpPr>
            <p:cNvPr name="Freeform 65" id="65"/>
            <p:cNvSpPr/>
            <p:nvPr/>
          </p:nvSpPr>
          <p:spPr>
            <a:xfrm flipH="false" flipV="false" rot="0">
              <a:off x="0" y="0"/>
              <a:ext cx="5181854" cy="625094"/>
            </a:xfrm>
            <a:custGeom>
              <a:avLst/>
              <a:gdLst/>
              <a:ahLst/>
              <a:cxnLst/>
              <a:rect r="r" b="b" t="t" l="l"/>
              <a:pathLst>
                <a:path h="625094" w="5181854">
                  <a:moveTo>
                    <a:pt x="0" y="0"/>
                  </a:moveTo>
                  <a:lnTo>
                    <a:pt x="5181854" y="0"/>
                  </a:lnTo>
                  <a:lnTo>
                    <a:pt x="5181854" y="625094"/>
                  </a:lnTo>
                  <a:lnTo>
                    <a:pt x="0" y="625094"/>
                  </a:lnTo>
                  <a:close/>
                </a:path>
              </a:pathLst>
            </a:custGeom>
            <a:solidFill>
              <a:srgbClr val="FFE5B4"/>
            </a:solidFill>
          </p:spPr>
        </p:sp>
        <p:sp>
          <p:nvSpPr>
            <p:cNvPr name="TextBox 66" id="66"/>
            <p:cNvSpPr txBox="true"/>
            <p:nvPr/>
          </p:nvSpPr>
          <p:spPr>
            <a:xfrm>
              <a:off x="0" y="-19050"/>
              <a:ext cx="5181803"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Hemorrhagic shock</a:t>
              </a:r>
            </a:p>
          </p:txBody>
        </p:sp>
      </p:grpSp>
      <p:grpSp>
        <p:nvGrpSpPr>
          <p:cNvPr name="Group 67" id="67"/>
          <p:cNvGrpSpPr/>
          <p:nvPr/>
        </p:nvGrpSpPr>
        <p:grpSpPr>
          <a:xfrm rot="0">
            <a:off x="784429" y="3718840"/>
            <a:ext cx="3706023" cy="511141"/>
            <a:chOff x="0" y="0"/>
            <a:chExt cx="4699000" cy="648094"/>
          </a:xfrm>
        </p:grpSpPr>
        <p:sp>
          <p:nvSpPr>
            <p:cNvPr name="Freeform 68" id="68"/>
            <p:cNvSpPr/>
            <p:nvPr/>
          </p:nvSpPr>
          <p:spPr>
            <a:xfrm flipH="false" flipV="false" rot="0">
              <a:off x="0" y="0"/>
              <a:ext cx="4699000" cy="648081"/>
            </a:xfrm>
            <a:custGeom>
              <a:avLst/>
              <a:gdLst/>
              <a:ahLst/>
              <a:cxnLst/>
              <a:rect r="r" b="b" t="t" l="l"/>
              <a:pathLst>
                <a:path h="648081" w="4699000">
                  <a:moveTo>
                    <a:pt x="0" y="0"/>
                  </a:moveTo>
                  <a:lnTo>
                    <a:pt x="4699000" y="0"/>
                  </a:lnTo>
                  <a:lnTo>
                    <a:pt x="4699000" y="648081"/>
                  </a:lnTo>
                  <a:lnTo>
                    <a:pt x="0" y="648081"/>
                  </a:lnTo>
                  <a:close/>
                </a:path>
              </a:pathLst>
            </a:custGeom>
            <a:solidFill>
              <a:srgbClr val="C42D29"/>
            </a:solidFill>
          </p:spPr>
        </p:sp>
        <p:sp>
          <p:nvSpPr>
            <p:cNvPr name="TextBox 69" id="69"/>
            <p:cNvSpPr txBox="true"/>
            <p:nvPr/>
          </p:nvSpPr>
          <p:spPr>
            <a:xfrm>
              <a:off x="0" y="-19050"/>
              <a:ext cx="4699000" cy="667144"/>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Open pneumothorax</a:t>
              </a:r>
            </a:p>
          </p:txBody>
        </p:sp>
      </p:grpSp>
      <p:grpSp>
        <p:nvGrpSpPr>
          <p:cNvPr name="Group 70" id="70"/>
          <p:cNvGrpSpPr/>
          <p:nvPr/>
        </p:nvGrpSpPr>
        <p:grpSpPr>
          <a:xfrm rot="0">
            <a:off x="4520500" y="3718840"/>
            <a:ext cx="2288559" cy="511141"/>
            <a:chOff x="0" y="0"/>
            <a:chExt cx="2901747" cy="648094"/>
          </a:xfrm>
        </p:grpSpPr>
        <p:sp>
          <p:nvSpPr>
            <p:cNvPr name="Freeform 71" id="71"/>
            <p:cNvSpPr/>
            <p:nvPr/>
          </p:nvSpPr>
          <p:spPr>
            <a:xfrm flipH="false" flipV="false" rot="0">
              <a:off x="0" y="0"/>
              <a:ext cx="2901696" cy="648081"/>
            </a:xfrm>
            <a:custGeom>
              <a:avLst/>
              <a:gdLst/>
              <a:ahLst/>
              <a:cxnLst/>
              <a:rect r="r" b="b" t="t" l="l"/>
              <a:pathLst>
                <a:path h="648081" w="2901696">
                  <a:moveTo>
                    <a:pt x="0" y="0"/>
                  </a:moveTo>
                  <a:lnTo>
                    <a:pt x="2901696" y="0"/>
                  </a:lnTo>
                  <a:lnTo>
                    <a:pt x="2901696" y="648081"/>
                  </a:lnTo>
                  <a:lnTo>
                    <a:pt x="0" y="648081"/>
                  </a:lnTo>
                  <a:close/>
                </a:path>
              </a:pathLst>
            </a:custGeom>
            <a:solidFill>
              <a:srgbClr val="FFF4F1"/>
            </a:solidFill>
          </p:spPr>
        </p:sp>
        <p:sp>
          <p:nvSpPr>
            <p:cNvPr name="TextBox 72" id="72"/>
            <p:cNvSpPr txBox="true"/>
            <p:nvPr/>
          </p:nvSpPr>
          <p:spPr>
            <a:xfrm>
              <a:off x="0" y="-19050"/>
              <a:ext cx="2901747" cy="667144"/>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 abnormal</a:t>
              </a:r>
            </a:p>
          </p:txBody>
        </p:sp>
      </p:grpSp>
      <p:grpSp>
        <p:nvGrpSpPr>
          <p:cNvPr name="Group 73" id="73"/>
          <p:cNvGrpSpPr/>
          <p:nvPr/>
        </p:nvGrpSpPr>
        <p:grpSpPr>
          <a:xfrm rot="0">
            <a:off x="6839108" y="3718840"/>
            <a:ext cx="2615500" cy="511141"/>
            <a:chOff x="0" y="0"/>
            <a:chExt cx="3316288" cy="648094"/>
          </a:xfrm>
        </p:grpSpPr>
        <p:sp>
          <p:nvSpPr>
            <p:cNvPr name="Freeform 74" id="74"/>
            <p:cNvSpPr/>
            <p:nvPr/>
          </p:nvSpPr>
          <p:spPr>
            <a:xfrm flipH="false" flipV="false" rot="0">
              <a:off x="0" y="0"/>
              <a:ext cx="3316351" cy="648081"/>
            </a:xfrm>
            <a:custGeom>
              <a:avLst/>
              <a:gdLst/>
              <a:ahLst/>
              <a:cxnLst/>
              <a:rect r="r" b="b" t="t" l="l"/>
              <a:pathLst>
                <a:path h="648081" w="3316351">
                  <a:moveTo>
                    <a:pt x="0" y="0"/>
                  </a:moveTo>
                  <a:lnTo>
                    <a:pt x="3316351" y="0"/>
                  </a:lnTo>
                  <a:lnTo>
                    <a:pt x="3316351" y="648081"/>
                  </a:lnTo>
                  <a:lnTo>
                    <a:pt x="0" y="648081"/>
                  </a:lnTo>
                  <a:close/>
                </a:path>
              </a:pathLst>
            </a:custGeom>
            <a:solidFill>
              <a:srgbClr val="FFF4F1"/>
            </a:solidFill>
          </p:spPr>
        </p:sp>
        <p:sp>
          <p:nvSpPr>
            <p:cNvPr name="TextBox 75" id="75"/>
            <p:cNvSpPr txBox="true"/>
            <p:nvPr/>
          </p:nvSpPr>
          <p:spPr>
            <a:xfrm>
              <a:off x="0" y="-19050"/>
              <a:ext cx="3316288" cy="667144"/>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Midline</a:t>
              </a:r>
            </a:p>
          </p:txBody>
        </p:sp>
      </p:grpSp>
      <p:grpSp>
        <p:nvGrpSpPr>
          <p:cNvPr name="Group 76" id="76"/>
          <p:cNvGrpSpPr/>
          <p:nvPr/>
        </p:nvGrpSpPr>
        <p:grpSpPr>
          <a:xfrm rot="0">
            <a:off x="9484657" y="3718840"/>
            <a:ext cx="2125174" cy="511141"/>
            <a:chOff x="0" y="0"/>
            <a:chExt cx="2694584" cy="648094"/>
          </a:xfrm>
        </p:grpSpPr>
        <p:sp>
          <p:nvSpPr>
            <p:cNvPr name="Freeform 77" id="77"/>
            <p:cNvSpPr/>
            <p:nvPr/>
          </p:nvSpPr>
          <p:spPr>
            <a:xfrm flipH="false" flipV="false" rot="0">
              <a:off x="0" y="0"/>
              <a:ext cx="2694559" cy="648081"/>
            </a:xfrm>
            <a:custGeom>
              <a:avLst/>
              <a:gdLst/>
              <a:ahLst/>
              <a:cxnLst/>
              <a:rect r="r" b="b" t="t" l="l"/>
              <a:pathLst>
                <a:path h="648081" w="2694559">
                  <a:moveTo>
                    <a:pt x="0" y="0"/>
                  </a:moveTo>
                  <a:lnTo>
                    <a:pt x="2694559" y="0"/>
                  </a:lnTo>
                  <a:lnTo>
                    <a:pt x="2694559" y="648081"/>
                  </a:lnTo>
                  <a:lnTo>
                    <a:pt x="0" y="648081"/>
                  </a:lnTo>
                  <a:close/>
                </a:path>
              </a:pathLst>
            </a:custGeom>
            <a:solidFill>
              <a:srgbClr val="FFF4F1"/>
            </a:solidFill>
          </p:spPr>
        </p:sp>
        <p:sp>
          <p:nvSpPr>
            <p:cNvPr name="TextBox 78" id="78"/>
            <p:cNvSpPr txBox="true"/>
            <p:nvPr/>
          </p:nvSpPr>
          <p:spPr>
            <a:xfrm>
              <a:off x="0" y="-19050"/>
              <a:ext cx="2694584" cy="667144"/>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79" id="79"/>
          <p:cNvGrpSpPr/>
          <p:nvPr/>
        </p:nvGrpSpPr>
        <p:grpSpPr>
          <a:xfrm rot="0">
            <a:off x="11639880" y="3718840"/>
            <a:ext cx="1634687" cy="511141"/>
            <a:chOff x="0" y="0"/>
            <a:chExt cx="2072678" cy="648094"/>
          </a:xfrm>
        </p:grpSpPr>
        <p:sp>
          <p:nvSpPr>
            <p:cNvPr name="Freeform 80" id="80"/>
            <p:cNvSpPr/>
            <p:nvPr/>
          </p:nvSpPr>
          <p:spPr>
            <a:xfrm flipH="false" flipV="false" rot="0">
              <a:off x="0" y="0"/>
              <a:ext cx="2072640" cy="648081"/>
            </a:xfrm>
            <a:custGeom>
              <a:avLst/>
              <a:gdLst/>
              <a:ahLst/>
              <a:cxnLst/>
              <a:rect r="r" b="b" t="t" l="l"/>
              <a:pathLst>
                <a:path h="648081" w="2072640">
                  <a:moveTo>
                    <a:pt x="0" y="0"/>
                  </a:moveTo>
                  <a:lnTo>
                    <a:pt x="2072640" y="0"/>
                  </a:lnTo>
                  <a:lnTo>
                    <a:pt x="2072640" y="648081"/>
                  </a:lnTo>
                  <a:lnTo>
                    <a:pt x="0" y="648081"/>
                  </a:lnTo>
                  <a:close/>
                </a:path>
              </a:pathLst>
            </a:custGeom>
            <a:solidFill>
              <a:srgbClr val="FFF4F1"/>
            </a:solidFill>
          </p:spPr>
        </p:sp>
        <p:sp>
          <p:nvSpPr>
            <p:cNvPr name="TextBox 81" id="81"/>
            <p:cNvSpPr txBox="true"/>
            <p:nvPr/>
          </p:nvSpPr>
          <p:spPr>
            <a:xfrm>
              <a:off x="0" y="-19050"/>
              <a:ext cx="2072678" cy="667144"/>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82" id="82"/>
          <p:cNvGrpSpPr/>
          <p:nvPr/>
        </p:nvGrpSpPr>
        <p:grpSpPr>
          <a:xfrm rot="0">
            <a:off x="13304615" y="3718840"/>
            <a:ext cx="4086801" cy="511141"/>
            <a:chOff x="0" y="0"/>
            <a:chExt cx="5181803" cy="648094"/>
          </a:xfrm>
        </p:grpSpPr>
        <p:sp>
          <p:nvSpPr>
            <p:cNvPr name="Freeform 83" id="83"/>
            <p:cNvSpPr/>
            <p:nvPr/>
          </p:nvSpPr>
          <p:spPr>
            <a:xfrm flipH="false" flipV="false" rot="0">
              <a:off x="0" y="0"/>
              <a:ext cx="5181854" cy="648081"/>
            </a:xfrm>
            <a:custGeom>
              <a:avLst/>
              <a:gdLst/>
              <a:ahLst/>
              <a:cxnLst/>
              <a:rect r="r" b="b" t="t" l="l"/>
              <a:pathLst>
                <a:path h="648081" w="5181854">
                  <a:moveTo>
                    <a:pt x="0" y="0"/>
                  </a:moveTo>
                  <a:lnTo>
                    <a:pt x="5181854" y="0"/>
                  </a:lnTo>
                  <a:lnTo>
                    <a:pt x="5181854" y="648081"/>
                  </a:lnTo>
                  <a:lnTo>
                    <a:pt x="0" y="648081"/>
                  </a:lnTo>
                  <a:close/>
                </a:path>
              </a:pathLst>
            </a:custGeom>
            <a:solidFill>
              <a:srgbClr val="5CE1E6"/>
            </a:solidFill>
          </p:spPr>
        </p:sp>
        <p:sp>
          <p:nvSpPr>
            <p:cNvPr name="TextBox 84" id="84"/>
            <p:cNvSpPr txBox="true"/>
            <p:nvPr/>
          </p:nvSpPr>
          <p:spPr>
            <a:xfrm>
              <a:off x="0" y="-19050"/>
              <a:ext cx="5181803" cy="667144"/>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Chest wall wound</a:t>
              </a:r>
            </a:p>
          </p:txBody>
        </p:sp>
      </p:grpSp>
      <p:grpSp>
        <p:nvGrpSpPr>
          <p:cNvPr name="Group 85" id="85"/>
          <p:cNvGrpSpPr/>
          <p:nvPr/>
        </p:nvGrpSpPr>
        <p:grpSpPr>
          <a:xfrm rot="0">
            <a:off x="784429" y="4270056"/>
            <a:ext cx="3706023" cy="492991"/>
            <a:chOff x="0" y="0"/>
            <a:chExt cx="4699000" cy="625081"/>
          </a:xfrm>
        </p:grpSpPr>
        <p:sp>
          <p:nvSpPr>
            <p:cNvPr name="Freeform 86" id="86"/>
            <p:cNvSpPr/>
            <p:nvPr/>
          </p:nvSpPr>
          <p:spPr>
            <a:xfrm flipH="false" flipV="false" rot="0">
              <a:off x="0" y="0"/>
              <a:ext cx="4699000" cy="625094"/>
            </a:xfrm>
            <a:custGeom>
              <a:avLst/>
              <a:gdLst/>
              <a:ahLst/>
              <a:cxnLst/>
              <a:rect r="r" b="b" t="t" l="l"/>
              <a:pathLst>
                <a:path h="625094" w="4699000">
                  <a:moveTo>
                    <a:pt x="0" y="0"/>
                  </a:moveTo>
                  <a:lnTo>
                    <a:pt x="4699000" y="0"/>
                  </a:lnTo>
                  <a:lnTo>
                    <a:pt x="4699000" y="625094"/>
                  </a:lnTo>
                  <a:lnTo>
                    <a:pt x="0" y="625094"/>
                  </a:lnTo>
                  <a:close/>
                </a:path>
              </a:pathLst>
            </a:custGeom>
            <a:solidFill>
              <a:srgbClr val="C42D29"/>
            </a:solidFill>
          </p:spPr>
        </p:sp>
        <p:sp>
          <p:nvSpPr>
            <p:cNvPr name="TextBox 87" id="87"/>
            <p:cNvSpPr txBox="true"/>
            <p:nvPr/>
          </p:nvSpPr>
          <p:spPr>
            <a:xfrm>
              <a:off x="0" y="-19050"/>
              <a:ext cx="4699000"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Simple hemo/PTX</a:t>
              </a:r>
            </a:p>
          </p:txBody>
        </p:sp>
      </p:grpSp>
      <p:grpSp>
        <p:nvGrpSpPr>
          <p:cNvPr name="Group 88" id="88"/>
          <p:cNvGrpSpPr/>
          <p:nvPr/>
        </p:nvGrpSpPr>
        <p:grpSpPr>
          <a:xfrm rot="0">
            <a:off x="4520500" y="4270056"/>
            <a:ext cx="2288559" cy="492991"/>
            <a:chOff x="0" y="0"/>
            <a:chExt cx="2901747" cy="625081"/>
          </a:xfrm>
        </p:grpSpPr>
        <p:sp>
          <p:nvSpPr>
            <p:cNvPr name="Freeform 89" id="89"/>
            <p:cNvSpPr/>
            <p:nvPr/>
          </p:nvSpPr>
          <p:spPr>
            <a:xfrm flipH="false" flipV="false" rot="0">
              <a:off x="0" y="0"/>
              <a:ext cx="2901696" cy="625094"/>
            </a:xfrm>
            <a:custGeom>
              <a:avLst/>
              <a:gdLst/>
              <a:ahLst/>
              <a:cxnLst/>
              <a:rect r="r" b="b" t="t" l="l"/>
              <a:pathLst>
                <a:path h="625094" w="2901696">
                  <a:moveTo>
                    <a:pt x="0" y="0"/>
                  </a:moveTo>
                  <a:lnTo>
                    <a:pt x="2901696" y="0"/>
                  </a:lnTo>
                  <a:lnTo>
                    <a:pt x="2901696" y="625094"/>
                  </a:lnTo>
                  <a:lnTo>
                    <a:pt x="0" y="625094"/>
                  </a:lnTo>
                  <a:close/>
                </a:path>
              </a:pathLst>
            </a:custGeom>
            <a:solidFill>
              <a:srgbClr val="FFF4F1"/>
            </a:solidFill>
          </p:spPr>
        </p:sp>
        <p:sp>
          <p:nvSpPr>
            <p:cNvPr name="TextBox 90" id="90"/>
            <p:cNvSpPr txBox="true"/>
            <p:nvPr/>
          </p:nvSpPr>
          <p:spPr>
            <a:xfrm>
              <a:off x="0" y="-19050"/>
              <a:ext cx="2901747"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Normal to ↓</a:t>
              </a:r>
            </a:p>
          </p:txBody>
        </p:sp>
      </p:grpSp>
      <p:grpSp>
        <p:nvGrpSpPr>
          <p:cNvPr name="Group 91" id="91"/>
          <p:cNvGrpSpPr/>
          <p:nvPr/>
        </p:nvGrpSpPr>
        <p:grpSpPr>
          <a:xfrm rot="0">
            <a:off x="6839108" y="4270056"/>
            <a:ext cx="2615500" cy="492991"/>
            <a:chOff x="0" y="0"/>
            <a:chExt cx="3316288" cy="625081"/>
          </a:xfrm>
        </p:grpSpPr>
        <p:sp>
          <p:nvSpPr>
            <p:cNvPr name="Freeform 92" id="92"/>
            <p:cNvSpPr/>
            <p:nvPr/>
          </p:nvSpPr>
          <p:spPr>
            <a:xfrm flipH="false" flipV="false" rot="0">
              <a:off x="0" y="0"/>
              <a:ext cx="3316351" cy="625094"/>
            </a:xfrm>
            <a:custGeom>
              <a:avLst/>
              <a:gdLst/>
              <a:ahLst/>
              <a:cxnLst/>
              <a:rect r="r" b="b" t="t" l="l"/>
              <a:pathLst>
                <a:path h="625094" w="3316351">
                  <a:moveTo>
                    <a:pt x="0" y="0"/>
                  </a:moveTo>
                  <a:lnTo>
                    <a:pt x="3316351" y="0"/>
                  </a:lnTo>
                  <a:lnTo>
                    <a:pt x="3316351" y="625094"/>
                  </a:lnTo>
                  <a:lnTo>
                    <a:pt x="0" y="625094"/>
                  </a:lnTo>
                  <a:close/>
                </a:path>
              </a:pathLst>
            </a:custGeom>
            <a:solidFill>
              <a:srgbClr val="FFF4F1"/>
            </a:solidFill>
          </p:spPr>
        </p:sp>
        <p:sp>
          <p:nvSpPr>
            <p:cNvPr name="TextBox 93" id="93"/>
            <p:cNvSpPr txBox="true"/>
            <p:nvPr/>
          </p:nvSpPr>
          <p:spPr>
            <a:xfrm>
              <a:off x="0" y="-19050"/>
              <a:ext cx="331628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Midline</a:t>
              </a:r>
            </a:p>
          </p:txBody>
        </p:sp>
      </p:grpSp>
      <p:grpSp>
        <p:nvGrpSpPr>
          <p:cNvPr name="Group 94" id="94"/>
          <p:cNvGrpSpPr/>
          <p:nvPr/>
        </p:nvGrpSpPr>
        <p:grpSpPr>
          <a:xfrm rot="0">
            <a:off x="9484657" y="4270056"/>
            <a:ext cx="2125174" cy="492991"/>
            <a:chOff x="0" y="0"/>
            <a:chExt cx="2694584" cy="625081"/>
          </a:xfrm>
        </p:grpSpPr>
        <p:sp>
          <p:nvSpPr>
            <p:cNvPr name="Freeform 95" id="95"/>
            <p:cNvSpPr/>
            <p:nvPr/>
          </p:nvSpPr>
          <p:spPr>
            <a:xfrm flipH="false" flipV="false" rot="0">
              <a:off x="0" y="0"/>
              <a:ext cx="2694559" cy="625094"/>
            </a:xfrm>
            <a:custGeom>
              <a:avLst/>
              <a:gdLst/>
              <a:ahLst/>
              <a:cxnLst/>
              <a:rect r="r" b="b" t="t" l="l"/>
              <a:pathLst>
                <a:path h="625094" w="2694559">
                  <a:moveTo>
                    <a:pt x="0" y="0"/>
                  </a:moveTo>
                  <a:lnTo>
                    <a:pt x="2694559" y="0"/>
                  </a:lnTo>
                  <a:lnTo>
                    <a:pt x="2694559" y="625094"/>
                  </a:lnTo>
                  <a:lnTo>
                    <a:pt x="0" y="625094"/>
                  </a:lnTo>
                  <a:close/>
                </a:path>
              </a:pathLst>
            </a:custGeom>
            <a:solidFill>
              <a:srgbClr val="FFF4F1"/>
            </a:solidFill>
          </p:spPr>
        </p:sp>
        <p:sp>
          <p:nvSpPr>
            <p:cNvPr name="TextBox 96" id="96"/>
            <p:cNvSpPr txBox="true"/>
            <p:nvPr/>
          </p:nvSpPr>
          <p:spPr>
            <a:xfrm>
              <a:off x="0" y="-19050"/>
              <a:ext cx="2694584"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97" id="97"/>
          <p:cNvGrpSpPr/>
          <p:nvPr/>
        </p:nvGrpSpPr>
        <p:grpSpPr>
          <a:xfrm rot="0">
            <a:off x="11639880" y="4270056"/>
            <a:ext cx="1634687" cy="492991"/>
            <a:chOff x="0" y="0"/>
            <a:chExt cx="2072678" cy="625081"/>
          </a:xfrm>
        </p:grpSpPr>
        <p:sp>
          <p:nvSpPr>
            <p:cNvPr name="Freeform 98" id="98"/>
            <p:cNvSpPr/>
            <p:nvPr/>
          </p:nvSpPr>
          <p:spPr>
            <a:xfrm flipH="false" flipV="false" rot="0">
              <a:off x="0" y="0"/>
              <a:ext cx="2072640" cy="625094"/>
            </a:xfrm>
            <a:custGeom>
              <a:avLst/>
              <a:gdLst/>
              <a:ahLst/>
              <a:cxnLst/>
              <a:rect r="r" b="b" t="t" l="l"/>
              <a:pathLst>
                <a:path h="625094" w="2072640">
                  <a:moveTo>
                    <a:pt x="0" y="0"/>
                  </a:moveTo>
                  <a:lnTo>
                    <a:pt x="2072640" y="0"/>
                  </a:lnTo>
                  <a:lnTo>
                    <a:pt x="2072640" y="625094"/>
                  </a:lnTo>
                  <a:lnTo>
                    <a:pt x="0" y="625094"/>
                  </a:lnTo>
                  <a:close/>
                </a:path>
              </a:pathLst>
            </a:custGeom>
            <a:solidFill>
              <a:srgbClr val="FFF4F1"/>
            </a:solidFill>
          </p:spPr>
        </p:sp>
        <p:sp>
          <p:nvSpPr>
            <p:cNvPr name="TextBox 99" id="99"/>
            <p:cNvSpPr txBox="true"/>
            <p:nvPr/>
          </p:nvSpPr>
          <p:spPr>
            <a:xfrm>
              <a:off x="0" y="-19050"/>
              <a:ext cx="207267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00" id="100"/>
          <p:cNvGrpSpPr/>
          <p:nvPr/>
        </p:nvGrpSpPr>
        <p:grpSpPr>
          <a:xfrm rot="0">
            <a:off x="13304615" y="4270056"/>
            <a:ext cx="4086801" cy="492991"/>
            <a:chOff x="0" y="0"/>
            <a:chExt cx="5181803" cy="625081"/>
          </a:xfrm>
        </p:grpSpPr>
        <p:sp>
          <p:nvSpPr>
            <p:cNvPr name="Freeform 101" id="101"/>
            <p:cNvSpPr/>
            <p:nvPr/>
          </p:nvSpPr>
          <p:spPr>
            <a:xfrm flipH="false" flipV="false" rot="0">
              <a:off x="0" y="0"/>
              <a:ext cx="5181854" cy="625094"/>
            </a:xfrm>
            <a:custGeom>
              <a:avLst/>
              <a:gdLst/>
              <a:ahLst/>
              <a:cxnLst/>
              <a:rect r="r" b="b" t="t" l="l"/>
              <a:pathLst>
                <a:path h="625094" w="5181854">
                  <a:moveTo>
                    <a:pt x="0" y="0"/>
                  </a:moveTo>
                  <a:lnTo>
                    <a:pt x="5181854" y="0"/>
                  </a:lnTo>
                  <a:lnTo>
                    <a:pt x="5181854" y="625094"/>
                  </a:lnTo>
                  <a:lnTo>
                    <a:pt x="0" y="625094"/>
                  </a:lnTo>
                  <a:close/>
                </a:path>
              </a:pathLst>
            </a:custGeom>
            <a:solidFill>
              <a:srgbClr val="FFF4F1"/>
            </a:solidFill>
          </p:spPr>
        </p:sp>
        <p:sp>
          <p:nvSpPr>
            <p:cNvPr name="TextBox 102" id="102"/>
            <p:cNvSpPr txBox="true"/>
            <p:nvPr/>
          </p:nvSpPr>
          <p:spPr>
            <a:xfrm>
              <a:off x="0" y="-19050"/>
              <a:ext cx="5181803"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Signs vary with severity</a:t>
              </a:r>
            </a:p>
          </p:txBody>
        </p:sp>
      </p:grpSp>
      <p:grpSp>
        <p:nvGrpSpPr>
          <p:cNvPr name="Group 103" id="103"/>
          <p:cNvGrpSpPr/>
          <p:nvPr/>
        </p:nvGrpSpPr>
        <p:grpSpPr>
          <a:xfrm rot="0">
            <a:off x="784429" y="4793086"/>
            <a:ext cx="3706023" cy="492991"/>
            <a:chOff x="0" y="0"/>
            <a:chExt cx="4699000" cy="625081"/>
          </a:xfrm>
        </p:grpSpPr>
        <p:sp>
          <p:nvSpPr>
            <p:cNvPr name="Freeform 104" id="104"/>
            <p:cNvSpPr/>
            <p:nvPr/>
          </p:nvSpPr>
          <p:spPr>
            <a:xfrm flipH="false" flipV="false" rot="0">
              <a:off x="0" y="0"/>
              <a:ext cx="4699000" cy="625094"/>
            </a:xfrm>
            <a:custGeom>
              <a:avLst/>
              <a:gdLst/>
              <a:ahLst/>
              <a:cxnLst/>
              <a:rect r="r" b="b" t="t" l="l"/>
              <a:pathLst>
                <a:path h="625094" w="4699000">
                  <a:moveTo>
                    <a:pt x="0" y="0"/>
                  </a:moveTo>
                  <a:lnTo>
                    <a:pt x="4699000" y="0"/>
                  </a:lnTo>
                  <a:lnTo>
                    <a:pt x="4699000" y="625094"/>
                  </a:lnTo>
                  <a:lnTo>
                    <a:pt x="0" y="625094"/>
                  </a:lnTo>
                  <a:close/>
                </a:path>
              </a:pathLst>
            </a:custGeom>
            <a:solidFill>
              <a:srgbClr val="C42D29"/>
            </a:solidFill>
          </p:spPr>
        </p:sp>
        <p:sp>
          <p:nvSpPr>
            <p:cNvPr name="TextBox 105" id="105"/>
            <p:cNvSpPr txBox="true"/>
            <p:nvPr/>
          </p:nvSpPr>
          <p:spPr>
            <a:xfrm>
              <a:off x="0" y="-19050"/>
              <a:ext cx="4699000"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Pulmonary contusion</a:t>
              </a:r>
            </a:p>
          </p:txBody>
        </p:sp>
      </p:grpSp>
      <p:grpSp>
        <p:nvGrpSpPr>
          <p:cNvPr name="Group 106" id="106"/>
          <p:cNvGrpSpPr/>
          <p:nvPr/>
        </p:nvGrpSpPr>
        <p:grpSpPr>
          <a:xfrm rot="0">
            <a:off x="4520500" y="4793086"/>
            <a:ext cx="2288559" cy="492991"/>
            <a:chOff x="0" y="0"/>
            <a:chExt cx="2901747" cy="625081"/>
          </a:xfrm>
        </p:grpSpPr>
        <p:sp>
          <p:nvSpPr>
            <p:cNvPr name="Freeform 107" id="107"/>
            <p:cNvSpPr/>
            <p:nvPr/>
          </p:nvSpPr>
          <p:spPr>
            <a:xfrm flipH="false" flipV="false" rot="0">
              <a:off x="0" y="0"/>
              <a:ext cx="2901696" cy="625094"/>
            </a:xfrm>
            <a:custGeom>
              <a:avLst/>
              <a:gdLst/>
              <a:ahLst/>
              <a:cxnLst/>
              <a:rect r="r" b="b" t="t" l="l"/>
              <a:pathLst>
                <a:path h="625094" w="2901696">
                  <a:moveTo>
                    <a:pt x="0" y="0"/>
                  </a:moveTo>
                  <a:lnTo>
                    <a:pt x="2901696" y="0"/>
                  </a:lnTo>
                  <a:lnTo>
                    <a:pt x="2901696" y="625094"/>
                  </a:lnTo>
                  <a:lnTo>
                    <a:pt x="0" y="625094"/>
                  </a:lnTo>
                  <a:close/>
                </a:path>
              </a:pathLst>
            </a:custGeom>
            <a:solidFill>
              <a:srgbClr val="FFF4F1"/>
            </a:solidFill>
          </p:spPr>
        </p:sp>
        <p:sp>
          <p:nvSpPr>
            <p:cNvPr name="TextBox 108" id="108"/>
            <p:cNvSpPr txBox="true"/>
            <p:nvPr/>
          </p:nvSpPr>
          <p:spPr>
            <a:xfrm>
              <a:off x="0" y="-19050"/>
              <a:ext cx="2901747"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Normal to ↓</a:t>
              </a:r>
            </a:p>
          </p:txBody>
        </p:sp>
      </p:grpSp>
      <p:grpSp>
        <p:nvGrpSpPr>
          <p:cNvPr name="Group 109" id="109"/>
          <p:cNvGrpSpPr/>
          <p:nvPr/>
        </p:nvGrpSpPr>
        <p:grpSpPr>
          <a:xfrm rot="0">
            <a:off x="6839108" y="4793086"/>
            <a:ext cx="2615500" cy="492991"/>
            <a:chOff x="0" y="0"/>
            <a:chExt cx="3316288" cy="625081"/>
          </a:xfrm>
        </p:grpSpPr>
        <p:sp>
          <p:nvSpPr>
            <p:cNvPr name="Freeform 110" id="110"/>
            <p:cNvSpPr/>
            <p:nvPr/>
          </p:nvSpPr>
          <p:spPr>
            <a:xfrm flipH="false" flipV="false" rot="0">
              <a:off x="0" y="0"/>
              <a:ext cx="3316351" cy="625094"/>
            </a:xfrm>
            <a:custGeom>
              <a:avLst/>
              <a:gdLst/>
              <a:ahLst/>
              <a:cxnLst/>
              <a:rect r="r" b="b" t="t" l="l"/>
              <a:pathLst>
                <a:path h="625094" w="3316351">
                  <a:moveTo>
                    <a:pt x="0" y="0"/>
                  </a:moveTo>
                  <a:lnTo>
                    <a:pt x="3316351" y="0"/>
                  </a:lnTo>
                  <a:lnTo>
                    <a:pt x="3316351" y="625094"/>
                  </a:lnTo>
                  <a:lnTo>
                    <a:pt x="0" y="625094"/>
                  </a:lnTo>
                  <a:close/>
                </a:path>
              </a:pathLst>
            </a:custGeom>
            <a:solidFill>
              <a:srgbClr val="FFF4F1"/>
            </a:solidFill>
          </p:spPr>
        </p:sp>
        <p:sp>
          <p:nvSpPr>
            <p:cNvPr name="TextBox 111" id="111"/>
            <p:cNvSpPr txBox="true"/>
            <p:nvPr/>
          </p:nvSpPr>
          <p:spPr>
            <a:xfrm>
              <a:off x="0" y="-19050"/>
              <a:ext cx="331628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Midline</a:t>
              </a:r>
            </a:p>
          </p:txBody>
        </p:sp>
      </p:grpSp>
      <p:grpSp>
        <p:nvGrpSpPr>
          <p:cNvPr name="Group 112" id="112"/>
          <p:cNvGrpSpPr/>
          <p:nvPr/>
        </p:nvGrpSpPr>
        <p:grpSpPr>
          <a:xfrm rot="0">
            <a:off x="9484657" y="4793086"/>
            <a:ext cx="2125174" cy="492991"/>
            <a:chOff x="0" y="0"/>
            <a:chExt cx="2694584" cy="625081"/>
          </a:xfrm>
        </p:grpSpPr>
        <p:sp>
          <p:nvSpPr>
            <p:cNvPr name="Freeform 113" id="113"/>
            <p:cNvSpPr/>
            <p:nvPr/>
          </p:nvSpPr>
          <p:spPr>
            <a:xfrm flipH="false" flipV="false" rot="0">
              <a:off x="0" y="0"/>
              <a:ext cx="2694559" cy="625094"/>
            </a:xfrm>
            <a:custGeom>
              <a:avLst/>
              <a:gdLst/>
              <a:ahLst/>
              <a:cxnLst/>
              <a:rect r="r" b="b" t="t" l="l"/>
              <a:pathLst>
                <a:path h="625094" w="2694559">
                  <a:moveTo>
                    <a:pt x="0" y="0"/>
                  </a:moveTo>
                  <a:lnTo>
                    <a:pt x="2694559" y="0"/>
                  </a:lnTo>
                  <a:lnTo>
                    <a:pt x="2694559" y="625094"/>
                  </a:lnTo>
                  <a:lnTo>
                    <a:pt x="0" y="625094"/>
                  </a:lnTo>
                  <a:close/>
                </a:path>
              </a:pathLst>
            </a:custGeom>
            <a:solidFill>
              <a:srgbClr val="FFF4F1"/>
            </a:solidFill>
          </p:spPr>
        </p:sp>
        <p:sp>
          <p:nvSpPr>
            <p:cNvPr name="TextBox 114" id="114"/>
            <p:cNvSpPr txBox="true"/>
            <p:nvPr/>
          </p:nvSpPr>
          <p:spPr>
            <a:xfrm>
              <a:off x="0" y="-19050"/>
              <a:ext cx="2694584"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15" id="115"/>
          <p:cNvGrpSpPr/>
          <p:nvPr/>
        </p:nvGrpSpPr>
        <p:grpSpPr>
          <a:xfrm rot="0">
            <a:off x="11639880" y="4793086"/>
            <a:ext cx="1634687" cy="492991"/>
            <a:chOff x="0" y="0"/>
            <a:chExt cx="2072678" cy="625081"/>
          </a:xfrm>
        </p:grpSpPr>
        <p:sp>
          <p:nvSpPr>
            <p:cNvPr name="Freeform 116" id="116"/>
            <p:cNvSpPr/>
            <p:nvPr/>
          </p:nvSpPr>
          <p:spPr>
            <a:xfrm flipH="false" flipV="false" rot="0">
              <a:off x="0" y="0"/>
              <a:ext cx="2072640" cy="625094"/>
            </a:xfrm>
            <a:custGeom>
              <a:avLst/>
              <a:gdLst/>
              <a:ahLst/>
              <a:cxnLst/>
              <a:rect r="r" b="b" t="t" l="l"/>
              <a:pathLst>
                <a:path h="625094" w="2072640">
                  <a:moveTo>
                    <a:pt x="0" y="0"/>
                  </a:moveTo>
                  <a:lnTo>
                    <a:pt x="2072640" y="0"/>
                  </a:lnTo>
                  <a:lnTo>
                    <a:pt x="2072640" y="625094"/>
                  </a:lnTo>
                  <a:lnTo>
                    <a:pt x="0" y="625094"/>
                  </a:lnTo>
                  <a:close/>
                </a:path>
              </a:pathLst>
            </a:custGeom>
            <a:solidFill>
              <a:srgbClr val="FFF4F1"/>
            </a:solidFill>
          </p:spPr>
        </p:sp>
        <p:sp>
          <p:nvSpPr>
            <p:cNvPr name="TextBox 117" id="117"/>
            <p:cNvSpPr txBox="true"/>
            <p:nvPr/>
          </p:nvSpPr>
          <p:spPr>
            <a:xfrm>
              <a:off x="0" y="-19050"/>
              <a:ext cx="207267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18" id="118"/>
          <p:cNvGrpSpPr/>
          <p:nvPr/>
        </p:nvGrpSpPr>
        <p:grpSpPr>
          <a:xfrm rot="0">
            <a:off x="13304615" y="4793086"/>
            <a:ext cx="4086801" cy="492991"/>
            <a:chOff x="0" y="0"/>
            <a:chExt cx="5181803" cy="625081"/>
          </a:xfrm>
        </p:grpSpPr>
        <p:sp>
          <p:nvSpPr>
            <p:cNvPr name="Freeform 119" id="119"/>
            <p:cNvSpPr/>
            <p:nvPr/>
          </p:nvSpPr>
          <p:spPr>
            <a:xfrm flipH="false" flipV="false" rot="0">
              <a:off x="0" y="0"/>
              <a:ext cx="5181854" cy="625094"/>
            </a:xfrm>
            <a:custGeom>
              <a:avLst/>
              <a:gdLst/>
              <a:ahLst/>
              <a:cxnLst/>
              <a:rect r="r" b="b" t="t" l="l"/>
              <a:pathLst>
                <a:path h="625094" w="5181854">
                  <a:moveTo>
                    <a:pt x="0" y="0"/>
                  </a:moveTo>
                  <a:lnTo>
                    <a:pt x="5181854" y="0"/>
                  </a:lnTo>
                  <a:lnTo>
                    <a:pt x="5181854" y="625094"/>
                  </a:lnTo>
                  <a:lnTo>
                    <a:pt x="0" y="625094"/>
                  </a:lnTo>
                  <a:close/>
                </a:path>
              </a:pathLst>
            </a:custGeom>
            <a:solidFill>
              <a:srgbClr val="FFF4F1"/>
            </a:solidFill>
          </p:spPr>
        </p:sp>
        <p:sp>
          <p:nvSpPr>
            <p:cNvPr name="TextBox 120" id="120"/>
            <p:cNvSpPr txBox="true"/>
            <p:nvPr/>
          </p:nvSpPr>
          <p:spPr>
            <a:xfrm>
              <a:off x="0" y="-19050"/>
              <a:ext cx="5181803"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Worsens over 24–72 h</a:t>
              </a:r>
            </a:p>
          </p:txBody>
        </p:sp>
      </p:grpSp>
      <p:grpSp>
        <p:nvGrpSpPr>
          <p:cNvPr name="Group 121" id="121"/>
          <p:cNvGrpSpPr/>
          <p:nvPr/>
        </p:nvGrpSpPr>
        <p:grpSpPr>
          <a:xfrm rot="0">
            <a:off x="784429" y="5316126"/>
            <a:ext cx="3706023" cy="492991"/>
            <a:chOff x="0" y="0"/>
            <a:chExt cx="4699000" cy="625081"/>
          </a:xfrm>
        </p:grpSpPr>
        <p:sp>
          <p:nvSpPr>
            <p:cNvPr name="Freeform 122" id="122"/>
            <p:cNvSpPr/>
            <p:nvPr/>
          </p:nvSpPr>
          <p:spPr>
            <a:xfrm flipH="false" flipV="false" rot="0">
              <a:off x="0" y="0"/>
              <a:ext cx="4699000" cy="625094"/>
            </a:xfrm>
            <a:custGeom>
              <a:avLst/>
              <a:gdLst/>
              <a:ahLst/>
              <a:cxnLst/>
              <a:rect r="r" b="b" t="t" l="l"/>
              <a:pathLst>
                <a:path h="625094" w="4699000">
                  <a:moveTo>
                    <a:pt x="0" y="0"/>
                  </a:moveTo>
                  <a:lnTo>
                    <a:pt x="4699000" y="0"/>
                  </a:lnTo>
                  <a:lnTo>
                    <a:pt x="4699000" y="625094"/>
                  </a:lnTo>
                  <a:lnTo>
                    <a:pt x="0" y="625094"/>
                  </a:lnTo>
                  <a:close/>
                </a:path>
              </a:pathLst>
            </a:custGeom>
            <a:solidFill>
              <a:srgbClr val="C42D29"/>
            </a:solidFill>
          </p:spPr>
        </p:sp>
        <p:sp>
          <p:nvSpPr>
            <p:cNvPr name="TextBox 123" id="123"/>
            <p:cNvSpPr txBox="true"/>
            <p:nvPr/>
          </p:nvSpPr>
          <p:spPr>
            <a:xfrm>
              <a:off x="0" y="-19050"/>
              <a:ext cx="4699000" cy="644131"/>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Flail chest</a:t>
              </a:r>
            </a:p>
          </p:txBody>
        </p:sp>
      </p:grpSp>
      <p:grpSp>
        <p:nvGrpSpPr>
          <p:cNvPr name="Group 124" id="124"/>
          <p:cNvGrpSpPr/>
          <p:nvPr/>
        </p:nvGrpSpPr>
        <p:grpSpPr>
          <a:xfrm rot="0">
            <a:off x="4520500" y="5316126"/>
            <a:ext cx="2288559" cy="492991"/>
            <a:chOff x="0" y="0"/>
            <a:chExt cx="2901747" cy="625081"/>
          </a:xfrm>
        </p:grpSpPr>
        <p:sp>
          <p:nvSpPr>
            <p:cNvPr name="Freeform 125" id="125"/>
            <p:cNvSpPr/>
            <p:nvPr/>
          </p:nvSpPr>
          <p:spPr>
            <a:xfrm flipH="false" flipV="false" rot="0">
              <a:off x="0" y="0"/>
              <a:ext cx="2901696" cy="625094"/>
            </a:xfrm>
            <a:custGeom>
              <a:avLst/>
              <a:gdLst/>
              <a:ahLst/>
              <a:cxnLst/>
              <a:rect r="r" b="b" t="t" l="l"/>
              <a:pathLst>
                <a:path h="625094" w="2901696">
                  <a:moveTo>
                    <a:pt x="0" y="0"/>
                  </a:moveTo>
                  <a:lnTo>
                    <a:pt x="2901696" y="0"/>
                  </a:lnTo>
                  <a:lnTo>
                    <a:pt x="2901696" y="625094"/>
                  </a:lnTo>
                  <a:lnTo>
                    <a:pt x="0" y="625094"/>
                  </a:lnTo>
                  <a:close/>
                </a:path>
              </a:pathLst>
            </a:custGeom>
            <a:solidFill>
              <a:srgbClr val="FFF4F1"/>
            </a:solidFill>
          </p:spPr>
        </p:sp>
        <p:sp>
          <p:nvSpPr>
            <p:cNvPr name="TextBox 126" id="126"/>
            <p:cNvSpPr txBox="true"/>
            <p:nvPr/>
          </p:nvSpPr>
          <p:spPr>
            <a:xfrm>
              <a:off x="0" y="-19050"/>
              <a:ext cx="2901747"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a:t>
              </a:r>
            </a:p>
          </p:txBody>
        </p:sp>
      </p:grpSp>
      <p:grpSp>
        <p:nvGrpSpPr>
          <p:cNvPr name="Group 127" id="127"/>
          <p:cNvGrpSpPr/>
          <p:nvPr/>
        </p:nvGrpSpPr>
        <p:grpSpPr>
          <a:xfrm rot="0">
            <a:off x="6839108" y="5316126"/>
            <a:ext cx="2615500" cy="492991"/>
            <a:chOff x="0" y="0"/>
            <a:chExt cx="3316288" cy="625081"/>
          </a:xfrm>
        </p:grpSpPr>
        <p:sp>
          <p:nvSpPr>
            <p:cNvPr name="Freeform 128" id="128"/>
            <p:cNvSpPr/>
            <p:nvPr/>
          </p:nvSpPr>
          <p:spPr>
            <a:xfrm flipH="false" flipV="false" rot="0">
              <a:off x="0" y="0"/>
              <a:ext cx="3316351" cy="625094"/>
            </a:xfrm>
            <a:custGeom>
              <a:avLst/>
              <a:gdLst/>
              <a:ahLst/>
              <a:cxnLst/>
              <a:rect r="r" b="b" t="t" l="l"/>
              <a:pathLst>
                <a:path h="625094" w="3316351">
                  <a:moveTo>
                    <a:pt x="0" y="0"/>
                  </a:moveTo>
                  <a:lnTo>
                    <a:pt x="3316351" y="0"/>
                  </a:lnTo>
                  <a:lnTo>
                    <a:pt x="3316351" y="625094"/>
                  </a:lnTo>
                  <a:lnTo>
                    <a:pt x="0" y="625094"/>
                  </a:lnTo>
                  <a:close/>
                </a:path>
              </a:pathLst>
            </a:custGeom>
            <a:solidFill>
              <a:srgbClr val="FFF4F1"/>
            </a:solidFill>
          </p:spPr>
        </p:sp>
        <p:sp>
          <p:nvSpPr>
            <p:cNvPr name="TextBox 129" id="129"/>
            <p:cNvSpPr txBox="true"/>
            <p:nvPr/>
          </p:nvSpPr>
          <p:spPr>
            <a:xfrm>
              <a:off x="0" y="-19050"/>
              <a:ext cx="331628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Midline</a:t>
              </a:r>
            </a:p>
          </p:txBody>
        </p:sp>
      </p:grpSp>
      <p:grpSp>
        <p:nvGrpSpPr>
          <p:cNvPr name="Group 130" id="130"/>
          <p:cNvGrpSpPr/>
          <p:nvPr/>
        </p:nvGrpSpPr>
        <p:grpSpPr>
          <a:xfrm rot="0">
            <a:off x="9484657" y="5316126"/>
            <a:ext cx="2125174" cy="492991"/>
            <a:chOff x="0" y="0"/>
            <a:chExt cx="2694584" cy="625081"/>
          </a:xfrm>
        </p:grpSpPr>
        <p:sp>
          <p:nvSpPr>
            <p:cNvPr name="Freeform 131" id="131"/>
            <p:cNvSpPr/>
            <p:nvPr/>
          </p:nvSpPr>
          <p:spPr>
            <a:xfrm flipH="false" flipV="false" rot="0">
              <a:off x="0" y="0"/>
              <a:ext cx="2694559" cy="625094"/>
            </a:xfrm>
            <a:custGeom>
              <a:avLst/>
              <a:gdLst/>
              <a:ahLst/>
              <a:cxnLst/>
              <a:rect r="r" b="b" t="t" l="l"/>
              <a:pathLst>
                <a:path h="625094" w="2694559">
                  <a:moveTo>
                    <a:pt x="0" y="0"/>
                  </a:moveTo>
                  <a:lnTo>
                    <a:pt x="2694559" y="0"/>
                  </a:lnTo>
                  <a:lnTo>
                    <a:pt x="2694559" y="625094"/>
                  </a:lnTo>
                  <a:lnTo>
                    <a:pt x="0" y="625094"/>
                  </a:lnTo>
                  <a:close/>
                </a:path>
              </a:pathLst>
            </a:custGeom>
            <a:solidFill>
              <a:srgbClr val="FFF4F1"/>
            </a:solidFill>
          </p:spPr>
        </p:sp>
        <p:sp>
          <p:nvSpPr>
            <p:cNvPr name="TextBox 132" id="132"/>
            <p:cNvSpPr txBox="true"/>
            <p:nvPr/>
          </p:nvSpPr>
          <p:spPr>
            <a:xfrm>
              <a:off x="0" y="-19050"/>
              <a:ext cx="2694584"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33" id="133"/>
          <p:cNvGrpSpPr/>
          <p:nvPr/>
        </p:nvGrpSpPr>
        <p:grpSpPr>
          <a:xfrm rot="0">
            <a:off x="11639880" y="5316126"/>
            <a:ext cx="1634687" cy="492991"/>
            <a:chOff x="0" y="0"/>
            <a:chExt cx="2072678" cy="625081"/>
          </a:xfrm>
        </p:grpSpPr>
        <p:sp>
          <p:nvSpPr>
            <p:cNvPr name="Freeform 134" id="134"/>
            <p:cNvSpPr/>
            <p:nvPr/>
          </p:nvSpPr>
          <p:spPr>
            <a:xfrm flipH="false" flipV="false" rot="0">
              <a:off x="0" y="0"/>
              <a:ext cx="2072640" cy="625094"/>
            </a:xfrm>
            <a:custGeom>
              <a:avLst/>
              <a:gdLst/>
              <a:ahLst/>
              <a:cxnLst/>
              <a:rect r="r" b="b" t="t" l="l"/>
              <a:pathLst>
                <a:path h="625094" w="2072640">
                  <a:moveTo>
                    <a:pt x="0" y="0"/>
                  </a:moveTo>
                  <a:lnTo>
                    <a:pt x="2072640" y="0"/>
                  </a:lnTo>
                  <a:lnTo>
                    <a:pt x="2072640" y="625094"/>
                  </a:lnTo>
                  <a:lnTo>
                    <a:pt x="0" y="625094"/>
                  </a:lnTo>
                  <a:close/>
                </a:path>
              </a:pathLst>
            </a:custGeom>
            <a:solidFill>
              <a:srgbClr val="FFF4F1"/>
            </a:solidFill>
          </p:spPr>
        </p:sp>
        <p:sp>
          <p:nvSpPr>
            <p:cNvPr name="TextBox 135" id="135"/>
            <p:cNvSpPr txBox="true"/>
            <p:nvPr/>
          </p:nvSpPr>
          <p:spPr>
            <a:xfrm>
              <a:off x="0" y="-19050"/>
              <a:ext cx="2072678"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36" id="136"/>
          <p:cNvGrpSpPr/>
          <p:nvPr/>
        </p:nvGrpSpPr>
        <p:grpSpPr>
          <a:xfrm rot="0">
            <a:off x="13304615" y="5316126"/>
            <a:ext cx="4086801" cy="492991"/>
            <a:chOff x="0" y="0"/>
            <a:chExt cx="5181803" cy="625081"/>
          </a:xfrm>
        </p:grpSpPr>
        <p:sp>
          <p:nvSpPr>
            <p:cNvPr name="Freeform 137" id="137"/>
            <p:cNvSpPr/>
            <p:nvPr/>
          </p:nvSpPr>
          <p:spPr>
            <a:xfrm flipH="false" flipV="false" rot="0">
              <a:off x="0" y="0"/>
              <a:ext cx="5181854" cy="625094"/>
            </a:xfrm>
            <a:custGeom>
              <a:avLst/>
              <a:gdLst/>
              <a:ahLst/>
              <a:cxnLst/>
              <a:rect r="r" b="b" t="t" l="l"/>
              <a:pathLst>
                <a:path h="625094" w="5181854">
                  <a:moveTo>
                    <a:pt x="0" y="0"/>
                  </a:moveTo>
                  <a:lnTo>
                    <a:pt x="5181854" y="0"/>
                  </a:lnTo>
                  <a:lnTo>
                    <a:pt x="5181854" y="625094"/>
                  </a:lnTo>
                  <a:lnTo>
                    <a:pt x="0" y="625094"/>
                  </a:lnTo>
                  <a:close/>
                </a:path>
              </a:pathLst>
            </a:custGeom>
            <a:solidFill>
              <a:srgbClr val="FFF4F1"/>
            </a:solidFill>
          </p:spPr>
        </p:sp>
        <p:sp>
          <p:nvSpPr>
            <p:cNvPr name="TextBox 138" id="138"/>
            <p:cNvSpPr txBox="true"/>
            <p:nvPr/>
          </p:nvSpPr>
          <p:spPr>
            <a:xfrm>
              <a:off x="0" y="-19050"/>
              <a:ext cx="5181803" cy="644131"/>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Contusion sets the hypoxia</a:t>
              </a:r>
            </a:p>
          </p:txBody>
        </p:sp>
      </p:grpSp>
      <p:grpSp>
        <p:nvGrpSpPr>
          <p:cNvPr name="Group 139" id="139"/>
          <p:cNvGrpSpPr/>
          <p:nvPr/>
        </p:nvGrpSpPr>
        <p:grpSpPr>
          <a:xfrm rot="0">
            <a:off x="784429" y="5839166"/>
            <a:ext cx="3706023" cy="805529"/>
            <a:chOff x="0" y="0"/>
            <a:chExt cx="4699000" cy="1021359"/>
          </a:xfrm>
        </p:grpSpPr>
        <p:sp>
          <p:nvSpPr>
            <p:cNvPr name="Freeform 140" id="140"/>
            <p:cNvSpPr/>
            <p:nvPr/>
          </p:nvSpPr>
          <p:spPr>
            <a:xfrm flipH="false" flipV="false" rot="0">
              <a:off x="0" y="0"/>
              <a:ext cx="4699000" cy="1021334"/>
            </a:xfrm>
            <a:custGeom>
              <a:avLst/>
              <a:gdLst/>
              <a:ahLst/>
              <a:cxnLst/>
              <a:rect r="r" b="b" t="t" l="l"/>
              <a:pathLst>
                <a:path h="1021334" w="4699000">
                  <a:moveTo>
                    <a:pt x="0" y="0"/>
                  </a:moveTo>
                  <a:lnTo>
                    <a:pt x="4699000" y="0"/>
                  </a:lnTo>
                  <a:lnTo>
                    <a:pt x="4699000" y="1021334"/>
                  </a:lnTo>
                  <a:lnTo>
                    <a:pt x="0" y="1021334"/>
                  </a:lnTo>
                  <a:close/>
                </a:path>
              </a:pathLst>
            </a:custGeom>
            <a:solidFill>
              <a:srgbClr val="C42D29"/>
            </a:solidFill>
          </p:spPr>
        </p:sp>
        <p:sp>
          <p:nvSpPr>
            <p:cNvPr name="TextBox 141" id="141"/>
            <p:cNvSpPr txBox="true"/>
            <p:nvPr/>
          </p:nvSpPr>
          <p:spPr>
            <a:xfrm>
              <a:off x="0" y="-19050"/>
              <a:ext cx="4699000" cy="1040409"/>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Diaphragm injury</a:t>
              </a:r>
            </a:p>
          </p:txBody>
        </p:sp>
      </p:grpSp>
      <p:grpSp>
        <p:nvGrpSpPr>
          <p:cNvPr name="Group 142" id="142"/>
          <p:cNvGrpSpPr/>
          <p:nvPr/>
        </p:nvGrpSpPr>
        <p:grpSpPr>
          <a:xfrm rot="0">
            <a:off x="4520500" y="5839166"/>
            <a:ext cx="2288559" cy="805529"/>
            <a:chOff x="0" y="0"/>
            <a:chExt cx="2901747" cy="1021359"/>
          </a:xfrm>
        </p:grpSpPr>
        <p:sp>
          <p:nvSpPr>
            <p:cNvPr name="Freeform 143" id="143"/>
            <p:cNvSpPr/>
            <p:nvPr/>
          </p:nvSpPr>
          <p:spPr>
            <a:xfrm flipH="false" flipV="false" rot="0">
              <a:off x="0" y="0"/>
              <a:ext cx="2901696" cy="1021334"/>
            </a:xfrm>
            <a:custGeom>
              <a:avLst/>
              <a:gdLst/>
              <a:ahLst/>
              <a:cxnLst/>
              <a:rect r="r" b="b" t="t" l="l"/>
              <a:pathLst>
                <a:path h="1021334" w="2901696">
                  <a:moveTo>
                    <a:pt x="0" y="0"/>
                  </a:moveTo>
                  <a:lnTo>
                    <a:pt x="2901696" y="0"/>
                  </a:lnTo>
                  <a:lnTo>
                    <a:pt x="2901696" y="1021334"/>
                  </a:lnTo>
                  <a:lnTo>
                    <a:pt x="0" y="1021334"/>
                  </a:lnTo>
                  <a:close/>
                </a:path>
              </a:pathLst>
            </a:custGeom>
            <a:solidFill>
              <a:srgbClr val="FFF4F1"/>
            </a:solidFill>
          </p:spPr>
        </p:sp>
        <p:sp>
          <p:nvSpPr>
            <p:cNvPr name="TextBox 144" id="144"/>
            <p:cNvSpPr txBox="true"/>
            <p:nvPr/>
          </p:nvSpPr>
          <p:spPr>
            <a:xfrm>
              <a:off x="0" y="-19050"/>
              <a:ext cx="2901747" cy="1040409"/>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a:t>
              </a:r>
            </a:p>
          </p:txBody>
        </p:sp>
      </p:grpSp>
      <p:grpSp>
        <p:nvGrpSpPr>
          <p:cNvPr name="Group 145" id="145"/>
          <p:cNvGrpSpPr/>
          <p:nvPr/>
        </p:nvGrpSpPr>
        <p:grpSpPr>
          <a:xfrm rot="0">
            <a:off x="6839108" y="5839166"/>
            <a:ext cx="2615500" cy="805529"/>
            <a:chOff x="0" y="0"/>
            <a:chExt cx="3316288" cy="1021359"/>
          </a:xfrm>
        </p:grpSpPr>
        <p:sp>
          <p:nvSpPr>
            <p:cNvPr name="Freeform 146" id="146"/>
            <p:cNvSpPr/>
            <p:nvPr/>
          </p:nvSpPr>
          <p:spPr>
            <a:xfrm flipH="false" flipV="false" rot="0">
              <a:off x="0" y="0"/>
              <a:ext cx="3316351" cy="1021334"/>
            </a:xfrm>
            <a:custGeom>
              <a:avLst/>
              <a:gdLst/>
              <a:ahLst/>
              <a:cxnLst/>
              <a:rect r="r" b="b" t="t" l="l"/>
              <a:pathLst>
                <a:path h="1021334" w="3316351">
                  <a:moveTo>
                    <a:pt x="0" y="0"/>
                  </a:moveTo>
                  <a:lnTo>
                    <a:pt x="3316351" y="0"/>
                  </a:lnTo>
                  <a:lnTo>
                    <a:pt x="3316351" y="1021334"/>
                  </a:lnTo>
                  <a:lnTo>
                    <a:pt x="0" y="1021334"/>
                  </a:lnTo>
                  <a:close/>
                </a:path>
              </a:pathLst>
            </a:custGeom>
            <a:solidFill>
              <a:srgbClr val="FFF4F1"/>
            </a:solidFill>
          </p:spPr>
        </p:sp>
        <p:sp>
          <p:nvSpPr>
            <p:cNvPr name="TextBox 147" id="147"/>
            <p:cNvSpPr txBox="true"/>
            <p:nvPr/>
          </p:nvSpPr>
          <p:spPr>
            <a:xfrm>
              <a:off x="0" y="-19050"/>
              <a:ext cx="3316288" cy="1040409"/>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Midline**</a:t>
              </a:r>
            </a:p>
          </p:txBody>
        </p:sp>
      </p:grpSp>
      <p:grpSp>
        <p:nvGrpSpPr>
          <p:cNvPr name="Group 148" id="148"/>
          <p:cNvGrpSpPr/>
          <p:nvPr/>
        </p:nvGrpSpPr>
        <p:grpSpPr>
          <a:xfrm rot="0">
            <a:off x="9484657" y="5839166"/>
            <a:ext cx="2125174" cy="805529"/>
            <a:chOff x="0" y="0"/>
            <a:chExt cx="2694584" cy="1021359"/>
          </a:xfrm>
        </p:grpSpPr>
        <p:sp>
          <p:nvSpPr>
            <p:cNvPr name="Freeform 149" id="149"/>
            <p:cNvSpPr/>
            <p:nvPr/>
          </p:nvSpPr>
          <p:spPr>
            <a:xfrm flipH="false" flipV="false" rot="0">
              <a:off x="0" y="0"/>
              <a:ext cx="2694559" cy="1021334"/>
            </a:xfrm>
            <a:custGeom>
              <a:avLst/>
              <a:gdLst/>
              <a:ahLst/>
              <a:cxnLst/>
              <a:rect r="r" b="b" t="t" l="l"/>
              <a:pathLst>
                <a:path h="1021334" w="2694559">
                  <a:moveTo>
                    <a:pt x="0" y="0"/>
                  </a:moveTo>
                  <a:lnTo>
                    <a:pt x="2694559" y="0"/>
                  </a:lnTo>
                  <a:lnTo>
                    <a:pt x="2694559" y="1021334"/>
                  </a:lnTo>
                  <a:lnTo>
                    <a:pt x="0" y="1021334"/>
                  </a:lnTo>
                  <a:close/>
                </a:path>
              </a:pathLst>
            </a:custGeom>
            <a:solidFill>
              <a:srgbClr val="FFF4F1"/>
            </a:solidFill>
          </p:spPr>
        </p:sp>
        <p:sp>
          <p:nvSpPr>
            <p:cNvPr name="TextBox 150" id="150"/>
            <p:cNvSpPr txBox="true"/>
            <p:nvPr/>
          </p:nvSpPr>
          <p:spPr>
            <a:xfrm>
              <a:off x="0" y="-19050"/>
              <a:ext cx="2694584" cy="1040409"/>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51" id="151"/>
          <p:cNvGrpSpPr/>
          <p:nvPr/>
        </p:nvGrpSpPr>
        <p:grpSpPr>
          <a:xfrm rot="0">
            <a:off x="11639880" y="5839166"/>
            <a:ext cx="1634687" cy="805529"/>
            <a:chOff x="0" y="0"/>
            <a:chExt cx="2072678" cy="1021359"/>
          </a:xfrm>
        </p:grpSpPr>
        <p:sp>
          <p:nvSpPr>
            <p:cNvPr name="Freeform 152" id="152"/>
            <p:cNvSpPr/>
            <p:nvPr/>
          </p:nvSpPr>
          <p:spPr>
            <a:xfrm flipH="false" flipV="false" rot="0">
              <a:off x="0" y="0"/>
              <a:ext cx="2072640" cy="1021334"/>
            </a:xfrm>
            <a:custGeom>
              <a:avLst/>
              <a:gdLst/>
              <a:ahLst/>
              <a:cxnLst/>
              <a:rect r="r" b="b" t="t" l="l"/>
              <a:pathLst>
                <a:path h="1021334" w="2072640">
                  <a:moveTo>
                    <a:pt x="0" y="0"/>
                  </a:moveTo>
                  <a:lnTo>
                    <a:pt x="2072640" y="0"/>
                  </a:lnTo>
                  <a:lnTo>
                    <a:pt x="2072640" y="1021334"/>
                  </a:lnTo>
                  <a:lnTo>
                    <a:pt x="0" y="1021334"/>
                  </a:lnTo>
                  <a:close/>
                </a:path>
              </a:pathLst>
            </a:custGeom>
            <a:solidFill>
              <a:srgbClr val="FFF4F1"/>
            </a:solidFill>
          </p:spPr>
        </p:sp>
        <p:sp>
          <p:nvSpPr>
            <p:cNvPr name="TextBox 153" id="153"/>
            <p:cNvSpPr txBox="true"/>
            <p:nvPr/>
          </p:nvSpPr>
          <p:spPr>
            <a:xfrm>
              <a:off x="0" y="-19050"/>
              <a:ext cx="2072678" cy="1040409"/>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54" id="154"/>
          <p:cNvGrpSpPr/>
          <p:nvPr/>
        </p:nvGrpSpPr>
        <p:grpSpPr>
          <a:xfrm rot="0">
            <a:off x="13304615" y="5839166"/>
            <a:ext cx="4086801" cy="805529"/>
            <a:chOff x="0" y="0"/>
            <a:chExt cx="5181803" cy="1021359"/>
          </a:xfrm>
        </p:grpSpPr>
        <p:sp>
          <p:nvSpPr>
            <p:cNvPr name="Freeform 155" id="155"/>
            <p:cNvSpPr/>
            <p:nvPr/>
          </p:nvSpPr>
          <p:spPr>
            <a:xfrm flipH="false" flipV="false" rot="0">
              <a:off x="0" y="0"/>
              <a:ext cx="5181854" cy="1021334"/>
            </a:xfrm>
            <a:custGeom>
              <a:avLst/>
              <a:gdLst/>
              <a:ahLst/>
              <a:cxnLst/>
              <a:rect r="r" b="b" t="t" l="l"/>
              <a:pathLst>
                <a:path h="1021334" w="5181854">
                  <a:moveTo>
                    <a:pt x="0" y="0"/>
                  </a:moveTo>
                  <a:lnTo>
                    <a:pt x="5181854" y="0"/>
                  </a:lnTo>
                  <a:lnTo>
                    <a:pt x="5181854" y="1021334"/>
                  </a:lnTo>
                  <a:lnTo>
                    <a:pt x="0" y="1021334"/>
                  </a:lnTo>
                  <a:close/>
                </a:path>
              </a:pathLst>
            </a:custGeom>
            <a:solidFill>
              <a:srgbClr val="FFF4F1"/>
            </a:solidFill>
          </p:spPr>
        </p:sp>
        <p:sp>
          <p:nvSpPr>
            <p:cNvPr name="TextBox 156" id="156"/>
            <p:cNvSpPr txBox="true"/>
            <p:nvPr/>
          </p:nvSpPr>
          <p:spPr>
            <a:xfrm>
              <a:off x="0" y="-19050"/>
              <a:ext cx="5181803" cy="1040409"/>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Bowel herniates into chest</a:t>
              </a:r>
            </a:p>
          </p:txBody>
        </p:sp>
      </p:grpSp>
      <p:grpSp>
        <p:nvGrpSpPr>
          <p:cNvPr name="Group 157" id="157"/>
          <p:cNvGrpSpPr/>
          <p:nvPr/>
        </p:nvGrpSpPr>
        <p:grpSpPr>
          <a:xfrm rot="0">
            <a:off x="784429" y="6674743"/>
            <a:ext cx="3706023" cy="493141"/>
            <a:chOff x="0" y="0"/>
            <a:chExt cx="4699000" cy="625272"/>
          </a:xfrm>
        </p:grpSpPr>
        <p:sp>
          <p:nvSpPr>
            <p:cNvPr name="Freeform 158" id="158"/>
            <p:cNvSpPr/>
            <p:nvPr/>
          </p:nvSpPr>
          <p:spPr>
            <a:xfrm flipH="false" flipV="false" rot="0">
              <a:off x="0" y="0"/>
              <a:ext cx="4699000" cy="625221"/>
            </a:xfrm>
            <a:custGeom>
              <a:avLst/>
              <a:gdLst/>
              <a:ahLst/>
              <a:cxnLst/>
              <a:rect r="r" b="b" t="t" l="l"/>
              <a:pathLst>
                <a:path h="625221" w="4699000">
                  <a:moveTo>
                    <a:pt x="0" y="0"/>
                  </a:moveTo>
                  <a:lnTo>
                    <a:pt x="4699000" y="0"/>
                  </a:lnTo>
                  <a:lnTo>
                    <a:pt x="4699000" y="625221"/>
                  </a:lnTo>
                  <a:lnTo>
                    <a:pt x="0" y="625221"/>
                  </a:lnTo>
                  <a:close/>
                </a:path>
              </a:pathLst>
            </a:custGeom>
            <a:solidFill>
              <a:srgbClr val="C42D29"/>
            </a:solidFill>
          </p:spPr>
        </p:sp>
        <p:sp>
          <p:nvSpPr>
            <p:cNvPr name="TextBox 159" id="159"/>
            <p:cNvSpPr txBox="true"/>
            <p:nvPr/>
          </p:nvSpPr>
          <p:spPr>
            <a:xfrm>
              <a:off x="0" y="-19050"/>
              <a:ext cx="4699000" cy="644322"/>
            </a:xfrm>
            <a:prstGeom prst="rect">
              <a:avLst/>
            </a:prstGeom>
          </p:spPr>
          <p:txBody>
            <a:bodyPr anchor="t" rtlCol="false" tIns="50800" lIns="50800" bIns="50800" rIns="50800"/>
            <a:lstStyle/>
            <a:p>
              <a:pPr algn="l">
                <a:lnSpc>
                  <a:spcPts val="2340"/>
                </a:lnSpc>
              </a:pPr>
              <a:r>
                <a:rPr lang="en-US" sz="1800" b="true">
                  <a:solidFill>
                    <a:srgbClr val="FFFFFF"/>
                  </a:solidFill>
                  <a:latin typeface="DM Sans Bold"/>
                  <a:ea typeface="DM Sans Bold"/>
                  <a:cs typeface="DM Sans Bold"/>
                  <a:sym typeface="DM Sans Bold"/>
                </a:rPr>
                <a:t>Tracheobronchial</a:t>
              </a:r>
            </a:p>
          </p:txBody>
        </p:sp>
      </p:grpSp>
      <p:grpSp>
        <p:nvGrpSpPr>
          <p:cNvPr name="Group 160" id="160"/>
          <p:cNvGrpSpPr/>
          <p:nvPr/>
        </p:nvGrpSpPr>
        <p:grpSpPr>
          <a:xfrm rot="0">
            <a:off x="4520500" y="6674743"/>
            <a:ext cx="2288559" cy="493141"/>
            <a:chOff x="0" y="0"/>
            <a:chExt cx="2901747" cy="625272"/>
          </a:xfrm>
        </p:grpSpPr>
        <p:sp>
          <p:nvSpPr>
            <p:cNvPr name="Freeform 161" id="161"/>
            <p:cNvSpPr/>
            <p:nvPr/>
          </p:nvSpPr>
          <p:spPr>
            <a:xfrm flipH="false" flipV="false" rot="0">
              <a:off x="0" y="0"/>
              <a:ext cx="2901696" cy="625221"/>
            </a:xfrm>
            <a:custGeom>
              <a:avLst/>
              <a:gdLst/>
              <a:ahLst/>
              <a:cxnLst/>
              <a:rect r="r" b="b" t="t" l="l"/>
              <a:pathLst>
                <a:path h="625221" w="2901696">
                  <a:moveTo>
                    <a:pt x="0" y="0"/>
                  </a:moveTo>
                  <a:lnTo>
                    <a:pt x="2901696" y="0"/>
                  </a:lnTo>
                  <a:lnTo>
                    <a:pt x="2901696" y="625221"/>
                  </a:lnTo>
                  <a:lnTo>
                    <a:pt x="0" y="625221"/>
                  </a:lnTo>
                  <a:close/>
                </a:path>
              </a:pathLst>
            </a:custGeom>
            <a:solidFill>
              <a:srgbClr val="FFF4F1"/>
            </a:solidFill>
          </p:spPr>
        </p:sp>
        <p:sp>
          <p:nvSpPr>
            <p:cNvPr name="TextBox 162" id="162"/>
            <p:cNvSpPr txBox="true"/>
            <p:nvPr/>
          </p:nvSpPr>
          <p:spPr>
            <a:xfrm>
              <a:off x="0" y="-19050"/>
              <a:ext cx="2901747" cy="644322"/>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 abnormal</a:t>
              </a:r>
            </a:p>
          </p:txBody>
        </p:sp>
      </p:grpSp>
      <p:grpSp>
        <p:nvGrpSpPr>
          <p:cNvPr name="Group 163" id="163"/>
          <p:cNvGrpSpPr/>
          <p:nvPr/>
        </p:nvGrpSpPr>
        <p:grpSpPr>
          <a:xfrm rot="0">
            <a:off x="6839108" y="6674743"/>
            <a:ext cx="2615500" cy="493141"/>
            <a:chOff x="0" y="0"/>
            <a:chExt cx="3316288" cy="625272"/>
          </a:xfrm>
        </p:grpSpPr>
        <p:sp>
          <p:nvSpPr>
            <p:cNvPr name="Freeform 164" id="164"/>
            <p:cNvSpPr/>
            <p:nvPr/>
          </p:nvSpPr>
          <p:spPr>
            <a:xfrm flipH="false" flipV="false" rot="0">
              <a:off x="0" y="0"/>
              <a:ext cx="3316351" cy="625221"/>
            </a:xfrm>
            <a:custGeom>
              <a:avLst/>
              <a:gdLst/>
              <a:ahLst/>
              <a:cxnLst/>
              <a:rect r="r" b="b" t="t" l="l"/>
              <a:pathLst>
                <a:path h="625221" w="3316351">
                  <a:moveTo>
                    <a:pt x="0" y="0"/>
                  </a:moveTo>
                  <a:lnTo>
                    <a:pt x="3316351" y="0"/>
                  </a:lnTo>
                  <a:lnTo>
                    <a:pt x="3316351" y="625221"/>
                  </a:lnTo>
                  <a:lnTo>
                    <a:pt x="0" y="625221"/>
                  </a:lnTo>
                  <a:close/>
                </a:path>
              </a:pathLst>
            </a:custGeom>
            <a:solidFill>
              <a:srgbClr val="FFF4F1"/>
            </a:solidFill>
          </p:spPr>
        </p:sp>
        <p:sp>
          <p:nvSpPr>
            <p:cNvPr name="TextBox 165" id="165"/>
            <p:cNvSpPr txBox="true"/>
            <p:nvPr/>
          </p:nvSpPr>
          <p:spPr>
            <a:xfrm>
              <a:off x="0" y="-19050"/>
              <a:ext cx="3316288" cy="644322"/>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Midline**</a:t>
              </a:r>
            </a:p>
          </p:txBody>
        </p:sp>
      </p:grpSp>
      <p:grpSp>
        <p:nvGrpSpPr>
          <p:cNvPr name="Group 166" id="166"/>
          <p:cNvGrpSpPr/>
          <p:nvPr/>
        </p:nvGrpSpPr>
        <p:grpSpPr>
          <a:xfrm rot="0">
            <a:off x="9484657" y="6674743"/>
            <a:ext cx="2125174" cy="493141"/>
            <a:chOff x="0" y="0"/>
            <a:chExt cx="2694584" cy="625272"/>
          </a:xfrm>
        </p:grpSpPr>
        <p:sp>
          <p:nvSpPr>
            <p:cNvPr name="Freeform 167" id="167"/>
            <p:cNvSpPr/>
            <p:nvPr/>
          </p:nvSpPr>
          <p:spPr>
            <a:xfrm flipH="false" flipV="false" rot="0">
              <a:off x="0" y="0"/>
              <a:ext cx="2694559" cy="625221"/>
            </a:xfrm>
            <a:custGeom>
              <a:avLst/>
              <a:gdLst/>
              <a:ahLst/>
              <a:cxnLst/>
              <a:rect r="r" b="b" t="t" l="l"/>
              <a:pathLst>
                <a:path h="625221" w="2694559">
                  <a:moveTo>
                    <a:pt x="0" y="0"/>
                  </a:moveTo>
                  <a:lnTo>
                    <a:pt x="2694559" y="0"/>
                  </a:lnTo>
                  <a:lnTo>
                    <a:pt x="2694559" y="625221"/>
                  </a:lnTo>
                  <a:lnTo>
                    <a:pt x="0" y="625221"/>
                  </a:lnTo>
                  <a:close/>
                </a:path>
              </a:pathLst>
            </a:custGeom>
            <a:solidFill>
              <a:srgbClr val="FFF4F1"/>
            </a:solidFill>
          </p:spPr>
        </p:sp>
        <p:sp>
          <p:nvSpPr>
            <p:cNvPr name="TextBox 168" id="168"/>
            <p:cNvSpPr txBox="true"/>
            <p:nvPr/>
          </p:nvSpPr>
          <p:spPr>
            <a:xfrm>
              <a:off x="0" y="-19050"/>
              <a:ext cx="2694584" cy="644322"/>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69" id="169"/>
          <p:cNvGrpSpPr/>
          <p:nvPr/>
        </p:nvGrpSpPr>
        <p:grpSpPr>
          <a:xfrm rot="0">
            <a:off x="11639880" y="6674743"/>
            <a:ext cx="1634687" cy="493141"/>
            <a:chOff x="0" y="0"/>
            <a:chExt cx="2072678" cy="625272"/>
          </a:xfrm>
        </p:grpSpPr>
        <p:sp>
          <p:nvSpPr>
            <p:cNvPr name="Freeform 170" id="170"/>
            <p:cNvSpPr/>
            <p:nvPr/>
          </p:nvSpPr>
          <p:spPr>
            <a:xfrm flipH="false" flipV="false" rot="0">
              <a:off x="0" y="0"/>
              <a:ext cx="2072640" cy="625221"/>
            </a:xfrm>
            <a:custGeom>
              <a:avLst/>
              <a:gdLst/>
              <a:ahLst/>
              <a:cxnLst/>
              <a:rect r="r" b="b" t="t" l="l"/>
              <a:pathLst>
                <a:path h="625221" w="2072640">
                  <a:moveTo>
                    <a:pt x="0" y="0"/>
                  </a:moveTo>
                  <a:lnTo>
                    <a:pt x="2072640" y="0"/>
                  </a:lnTo>
                  <a:lnTo>
                    <a:pt x="2072640" y="625221"/>
                  </a:lnTo>
                  <a:lnTo>
                    <a:pt x="0" y="625221"/>
                  </a:lnTo>
                  <a:close/>
                </a:path>
              </a:pathLst>
            </a:custGeom>
            <a:solidFill>
              <a:srgbClr val="FFF4F1"/>
            </a:solidFill>
          </p:spPr>
        </p:sp>
        <p:sp>
          <p:nvSpPr>
            <p:cNvPr name="TextBox 171" id="171"/>
            <p:cNvSpPr txBox="true"/>
            <p:nvPr/>
          </p:nvSpPr>
          <p:spPr>
            <a:xfrm>
              <a:off x="0" y="-19050"/>
              <a:ext cx="2072678" cy="644322"/>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Unaffected</a:t>
              </a:r>
            </a:p>
          </p:txBody>
        </p:sp>
      </p:grpSp>
      <p:grpSp>
        <p:nvGrpSpPr>
          <p:cNvPr name="Group 172" id="172"/>
          <p:cNvGrpSpPr/>
          <p:nvPr/>
        </p:nvGrpSpPr>
        <p:grpSpPr>
          <a:xfrm rot="0">
            <a:off x="13304615" y="6674743"/>
            <a:ext cx="4086801" cy="493141"/>
            <a:chOff x="0" y="0"/>
            <a:chExt cx="5181803" cy="625272"/>
          </a:xfrm>
        </p:grpSpPr>
        <p:sp>
          <p:nvSpPr>
            <p:cNvPr name="Freeform 173" id="173"/>
            <p:cNvSpPr/>
            <p:nvPr/>
          </p:nvSpPr>
          <p:spPr>
            <a:xfrm flipH="false" flipV="false" rot="0">
              <a:off x="0" y="0"/>
              <a:ext cx="5181854" cy="625221"/>
            </a:xfrm>
            <a:custGeom>
              <a:avLst/>
              <a:gdLst/>
              <a:ahLst/>
              <a:cxnLst/>
              <a:rect r="r" b="b" t="t" l="l"/>
              <a:pathLst>
                <a:path h="625221" w="5181854">
                  <a:moveTo>
                    <a:pt x="0" y="0"/>
                  </a:moveTo>
                  <a:lnTo>
                    <a:pt x="5181854" y="0"/>
                  </a:lnTo>
                  <a:lnTo>
                    <a:pt x="5181854" y="625221"/>
                  </a:lnTo>
                  <a:lnTo>
                    <a:pt x="0" y="625221"/>
                  </a:lnTo>
                  <a:close/>
                </a:path>
              </a:pathLst>
            </a:custGeom>
            <a:solidFill>
              <a:srgbClr val="FFF4F1"/>
            </a:solidFill>
          </p:spPr>
        </p:sp>
        <p:sp>
          <p:nvSpPr>
            <p:cNvPr name="TextBox 174" id="174"/>
            <p:cNvSpPr txBox="true"/>
            <p:nvPr/>
          </p:nvSpPr>
          <p:spPr>
            <a:xfrm>
              <a:off x="0" y="-19050"/>
              <a:ext cx="5181803" cy="644322"/>
            </a:xfrm>
            <a:prstGeom prst="rect">
              <a:avLst/>
            </a:prstGeom>
          </p:spPr>
          <p:txBody>
            <a:bodyPr anchor="t" rtlCol="false" tIns="50800" lIns="50800" bIns="50800" rIns="50800"/>
            <a:lstStyle/>
            <a:p>
              <a:pPr algn="l">
                <a:lnSpc>
                  <a:spcPts val="2340"/>
                </a:lnSpc>
              </a:pPr>
              <a:r>
                <a:rPr lang="en-US" sz="1800">
                  <a:solidFill>
                    <a:srgbClr val="1F1210"/>
                  </a:solidFill>
                  <a:latin typeface="DM Sans"/>
                  <a:ea typeface="DM Sans"/>
                  <a:cs typeface="DM Sans"/>
                  <a:sym typeface="DM Sans"/>
                </a:rPr>
                <a:t>Air leak after chest tube</a:t>
              </a:r>
            </a:p>
          </p:txBody>
        </p:sp>
      </p:grpSp>
      <p:sp>
        <p:nvSpPr>
          <p:cNvPr name="TextBox 175" id="175"/>
          <p:cNvSpPr txBox="true"/>
          <p:nvPr/>
        </p:nvSpPr>
        <p:spPr>
          <a:xfrm rot="0">
            <a:off x="5505835" y="7328428"/>
            <a:ext cx="7276330" cy="1274714"/>
          </a:xfrm>
          <a:prstGeom prst="rect">
            <a:avLst/>
          </a:prstGeom>
        </p:spPr>
        <p:txBody>
          <a:bodyPr anchor="t" rtlCol="false" tIns="0" lIns="0" bIns="0" rIns="0">
            <a:spAutoFit/>
          </a:bodyPr>
          <a:lstStyle/>
          <a:p>
            <a:pPr algn="l">
              <a:lnSpc>
                <a:spcPts val="2555"/>
              </a:lnSpc>
            </a:pPr>
            <a:r>
              <a:rPr lang="en-US" sz="1892">
                <a:solidFill>
                  <a:srgbClr val="6E3B33"/>
                </a:solidFill>
                <a:latin typeface="DM Sans"/>
                <a:ea typeface="DM Sans"/>
                <a:cs typeface="DM Sans"/>
                <a:sym typeface="DM Sans"/>
              </a:rPr>
              <a:t>* may be absent with concurrent hemorrhagic shock · </a:t>
            </a:r>
          </a:p>
          <a:p>
            <a:pPr algn="l">
              <a:lnSpc>
                <a:spcPts val="2555"/>
              </a:lnSpc>
            </a:pPr>
            <a:r>
              <a:rPr lang="en-US" sz="1892">
                <a:solidFill>
                  <a:srgbClr val="6E3B33"/>
                </a:solidFill>
                <a:latin typeface="DM Sans"/>
                <a:ea typeface="DM Sans"/>
                <a:cs typeface="DM Sans"/>
                <a:sym typeface="DM Sans"/>
              </a:rPr>
              <a:t>** may shift away if tension physiology · </a:t>
            </a:r>
          </a:p>
          <a:p>
            <a:pPr algn="l">
              <a:lnSpc>
                <a:spcPts val="2555"/>
              </a:lnSpc>
            </a:pPr>
            <a:r>
              <a:rPr lang="en-US" sz="1892">
                <a:solidFill>
                  <a:srgbClr val="6E3B33"/>
                </a:solidFill>
                <a:latin typeface="DM Sans"/>
                <a:ea typeface="DM Sans"/>
                <a:cs typeface="DM Sans"/>
                <a:sym typeface="DM Sans"/>
              </a:rPr>
              <a:t>*** distended / ↓BP if massive left-chest herniation (tension) · </a:t>
            </a:r>
          </a:p>
          <a:p>
            <a:pPr algn="l">
              <a:lnSpc>
                <a:spcPts val="2555"/>
              </a:lnSpc>
            </a:pPr>
            <a:r>
              <a:rPr lang="en-US" sz="1892">
                <a:solidFill>
                  <a:srgbClr val="6E3B33"/>
                </a:solidFill>
                <a:latin typeface="DM Sans"/>
                <a:ea typeface="DM Sans"/>
                <a:cs typeface="DM Sans"/>
                <a:sym typeface="DM Sans"/>
              </a:rPr>
              <a:t>**** distended if concurrent tension PTX</a:t>
            </a:r>
          </a:p>
        </p:txBody>
      </p:sp>
      <p:grpSp>
        <p:nvGrpSpPr>
          <p:cNvPr name="Group 176" id="176"/>
          <p:cNvGrpSpPr/>
          <p:nvPr/>
        </p:nvGrpSpPr>
        <p:grpSpPr>
          <a:xfrm rot="0">
            <a:off x="0" y="164592"/>
            <a:ext cx="754380" cy="384048"/>
            <a:chOff x="0" y="0"/>
            <a:chExt cx="1005840" cy="512064"/>
          </a:xfrm>
        </p:grpSpPr>
        <p:sp>
          <p:nvSpPr>
            <p:cNvPr name="Freeform 177" id="177"/>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178" id="178"/>
          <p:cNvGrpSpPr/>
          <p:nvPr/>
        </p:nvGrpSpPr>
        <p:grpSpPr>
          <a:xfrm rot="0">
            <a:off x="932688" y="288036"/>
            <a:ext cx="137160" cy="137160"/>
            <a:chOff x="0" y="0"/>
            <a:chExt cx="182880" cy="182880"/>
          </a:xfrm>
        </p:grpSpPr>
        <p:sp>
          <p:nvSpPr>
            <p:cNvPr name="Freeform 179" id="17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180" id="180"/>
          <p:cNvGrpSpPr/>
          <p:nvPr/>
        </p:nvGrpSpPr>
        <p:grpSpPr>
          <a:xfrm rot="0">
            <a:off x="1193292" y="288036"/>
            <a:ext cx="137160" cy="137160"/>
            <a:chOff x="0" y="0"/>
            <a:chExt cx="182880" cy="182880"/>
          </a:xfrm>
        </p:grpSpPr>
        <p:sp>
          <p:nvSpPr>
            <p:cNvPr name="Freeform 181" id="18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182" id="182"/>
          <p:cNvGrpSpPr/>
          <p:nvPr/>
        </p:nvGrpSpPr>
        <p:grpSpPr>
          <a:xfrm rot="0">
            <a:off x="1453896" y="288036"/>
            <a:ext cx="137160" cy="137160"/>
            <a:chOff x="0" y="0"/>
            <a:chExt cx="182880" cy="182880"/>
          </a:xfrm>
        </p:grpSpPr>
        <p:sp>
          <p:nvSpPr>
            <p:cNvPr name="Freeform 183" id="18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184" id="184"/>
          <p:cNvGrpSpPr/>
          <p:nvPr/>
        </p:nvGrpSpPr>
        <p:grpSpPr>
          <a:xfrm rot="0">
            <a:off x="1714500" y="288036"/>
            <a:ext cx="137160" cy="137160"/>
            <a:chOff x="0" y="0"/>
            <a:chExt cx="182880" cy="182880"/>
          </a:xfrm>
        </p:grpSpPr>
        <p:sp>
          <p:nvSpPr>
            <p:cNvPr name="Freeform 185" id="18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186" id="186"/>
          <p:cNvGrpSpPr/>
          <p:nvPr/>
        </p:nvGrpSpPr>
        <p:grpSpPr>
          <a:xfrm rot="0">
            <a:off x="1975104" y="288036"/>
            <a:ext cx="137160" cy="137160"/>
            <a:chOff x="0" y="0"/>
            <a:chExt cx="182880" cy="182880"/>
          </a:xfrm>
        </p:grpSpPr>
        <p:sp>
          <p:nvSpPr>
            <p:cNvPr name="Freeform 187" id="18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188" id="188"/>
          <p:cNvGrpSpPr/>
          <p:nvPr/>
        </p:nvGrpSpPr>
        <p:grpSpPr>
          <a:xfrm rot="0">
            <a:off x="2235708" y="288036"/>
            <a:ext cx="137160" cy="137160"/>
            <a:chOff x="0" y="0"/>
            <a:chExt cx="182880" cy="182880"/>
          </a:xfrm>
        </p:grpSpPr>
        <p:sp>
          <p:nvSpPr>
            <p:cNvPr name="Freeform 189" id="18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190" id="190"/>
          <p:cNvGrpSpPr/>
          <p:nvPr/>
        </p:nvGrpSpPr>
        <p:grpSpPr>
          <a:xfrm rot="0">
            <a:off x="2496312" y="288036"/>
            <a:ext cx="137160" cy="137160"/>
            <a:chOff x="0" y="0"/>
            <a:chExt cx="182880" cy="182880"/>
          </a:xfrm>
        </p:grpSpPr>
        <p:sp>
          <p:nvSpPr>
            <p:cNvPr name="Freeform 191" id="19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p. 71-74; Chapter 6, Figure 6-4.</a:t>
            </a:r>
          </a:p>
        </p:txBody>
      </p:sp>
      <p:grpSp>
        <p:nvGrpSpPr>
          <p:cNvPr name="Group 6" id="6"/>
          <p:cNvGrpSpPr/>
          <p:nvPr/>
        </p:nvGrpSpPr>
        <p:grpSpPr>
          <a:xfrm rot="0">
            <a:off x="7206405" y="762000"/>
            <a:ext cx="3875189" cy="885825"/>
            <a:chOff x="0" y="0"/>
            <a:chExt cx="5166919" cy="1181100"/>
          </a:xfrm>
        </p:grpSpPr>
        <p:sp>
          <p:nvSpPr>
            <p:cNvPr name="Freeform 7" id="7"/>
            <p:cNvSpPr/>
            <p:nvPr/>
          </p:nvSpPr>
          <p:spPr>
            <a:xfrm flipH="false" flipV="false" rot="0">
              <a:off x="0" y="0"/>
              <a:ext cx="5166868" cy="1181100"/>
            </a:xfrm>
            <a:custGeom>
              <a:avLst/>
              <a:gdLst/>
              <a:ahLst/>
              <a:cxnLst/>
              <a:rect r="r" b="b" t="t" l="l"/>
              <a:pathLst>
                <a:path h="1181100" w="5166868">
                  <a:moveTo>
                    <a:pt x="0" y="355600"/>
                  </a:moveTo>
                  <a:cubicBezTo>
                    <a:pt x="0" y="159258"/>
                    <a:pt x="159258" y="0"/>
                    <a:pt x="355600" y="0"/>
                  </a:cubicBezTo>
                  <a:lnTo>
                    <a:pt x="4811268" y="0"/>
                  </a:lnTo>
                  <a:cubicBezTo>
                    <a:pt x="5007610" y="0"/>
                    <a:pt x="5166868" y="159258"/>
                    <a:pt x="5166868" y="355600"/>
                  </a:cubicBezTo>
                  <a:lnTo>
                    <a:pt x="5166868" y="825500"/>
                  </a:lnTo>
                  <a:cubicBezTo>
                    <a:pt x="5166868" y="1021842"/>
                    <a:pt x="5007610" y="1181100"/>
                    <a:pt x="4811268" y="1181100"/>
                  </a:cubicBezTo>
                  <a:lnTo>
                    <a:pt x="355600" y="1181100"/>
                  </a:lnTo>
                  <a:cubicBezTo>
                    <a:pt x="159258" y="1181100"/>
                    <a:pt x="0" y="1021842"/>
                    <a:pt x="0" y="825500"/>
                  </a:cubicBezTo>
                  <a:close/>
                </a:path>
              </a:pathLst>
            </a:custGeom>
            <a:solidFill>
              <a:srgbClr val="FFD0C4"/>
            </a:solidFill>
          </p:spPr>
        </p:sp>
      </p:grpSp>
      <p:grpSp>
        <p:nvGrpSpPr>
          <p:cNvPr name="Group 8" id="8"/>
          <p:cNvGrpSpPr/>
          <p:nvPr/>
        </p:nvGrpSpPr>
        <p:grpSpPr>
          <a:xfrm rot="0">
            <a:off x="7206405" y="762000"/>
            <a:ext cx="3875189" cy="885825"/>
            <a:chOff x="0" y="0"/>
            <a:chExt cx="5166919" cy="1181100"/>
          </a:xfrm>
        </p:grpSpPr>
        <p:sp>
          <p:nvSpPr>
            <p:cNvPr name="Freeform 9" id="9"/>
            <p:cNvSpPr/>
            <p:nvPr/>
          </p:nvSpPr>
          <p:spPr>
            <a:xfrm flipH="false" flipV="false" rot="0">
              <a:off x="0" y="0"/>
              <a:ext cx="5166916" cy="1181100"/>
            </a:xfrm>
            <a:custGeom>
              <a:avLst/>
              <a:gdLst/>
              <a:ahLst/>
              <a:cxnLst/>
              <a:rect r="r" b="b" t="t" l="l"/>
              <a:pathLst>
                <a:path h="1181100" w="5166916">
                  <a:moveTo>
                    <a:pt x="0" y="0"/>
                  </a:moveTo>
                  <a:lnTo>
                    <a:pt x="5166916" y="0"/>
                  </a:lnTo>
                  <a:lnTo>
                    <a:pt x="5166916" y="1181100"/>
                  </a:lnTo>
                  <a:lnTo>
                    <a:pt x="0" y="1181100"/>
                  </a:lnTo>
                  <a:close/>
                </a:path>
              </a:pathLst>
            </a:custGeom>
            <a:blipFill>
              <a:blip r:embed="rId3">
                <a:alphaModFix amt="0"/>
              </a:blip>
              <a:stretch>
                <a:fillRect l="0" t="-35240" r="0" b="-35240"/>
              </a:stretch>
            </a:blipFill>
          </p:spPr>
        </p:sp>
        <p:sp>
          <p:nvSpPr>
            <p:cNvPr name="TextBox 10" id="10"/>
            <p:cNvSpPr txBox="true"/>
            <p:nvPr/>
          </p:nvSpPr>
          <p:spPr>
            <a:xfrm>
              <a:off x="0" y="9525"/>
              <a:ext cx="5166919" cy="1171575"/>
            </a:xfrm>
            <a:prstGeom prst="rect">
              <a:avLst/>
            </a:prstGeom>
          </p:spPr>
          <p:txBody>
            <a:bodyPr anchor="ctr" rtlCol="false" tIns="0" lIns="0" bIns="0" rIns="0"/>
            <a:lstStyle/>
            <a:p>
              <a:pPr algn="ctr">
                <a:lnSpc>
                  <a:spcPts val="5174"/>
                </a:lnSpc>
              </a:pPr>
              <a:r>
                <a:rPr lang="en-US" sz="4500" b="true">
                  <a:solidFill>
                    <a:srgbClr val="E74B2F"/>
                  </a:solidFill>
                  <a:latin typeface="Droid Serif Bold"/>
                  <a:ea typeface="Droid Serif Bold"/>
                  <a:cs typeface="Droid Serif Bold"/>
                  <a:sym typeface="Droid Serif Bold"/>
                </a:rPr>
                <a:t>ADJUNCTS</a:t>
              </a:r>
            </a:p>
          </p:txBody>
        </p:sp>
      </p:grpSp>
      <p:sp>
        <p:nvSpPr>
          <p:cNvPr id="901" name="Number 901"/>
          <p:cNvSpPr/>
          <p:nvPr/>
        </p:nvSpPr>
        <p:spPr>
          <a:xfrm>
            <a:off x="1216152" y="1874519"/>
            <a:ext cx="640080" cy="640080"/>
          </a:xfrm>
          <a:prstGeom prst="ellipse">
            <a:avLst/>
          </a:prstGeom>
          <a:solidFill>
            <a:srgbClr val="F8D462"/>
          </a:solidFill>
          <a:ln>
            <a:noFill/>
          </a:ln>
        </p:spPr>
        <p:txBody>
          <a:bodyPr lIns="0" tIns="0" rIns="0" bIns="0" anchor="ctr"/>
          <a:lstStyle/>
          <a:p>
            <a:pPr algn="ctr">
              <a:lnSpc>
                <a:spcPct val="100000"/>
              </a:lnSpc>
              <a:spcAft>
                <a:spcPts val="0"/>
              </a:spcAft>
              <a:buNone/>
            </a:pPr>
            <a:r>
              <a:rPr lang="en-US" sz="2600" b="1">
                <a:solidFill>
                  <a:srgbClr val="C42D29"/>
                </a:solidFill>
                <a:latin typeface="DM Sans Bold"/>
                <a:ea typeface="DM Sans Bold"/>
                <a:cs typeface="DM Sans Bold"/>
                <a:sym typeface="DM Sans Bold"/>
              </a:rPr>
              <a:t xml:space="preserve">1</a:t>
            </a:r>
          </a:p>
        </p:txBody>
      </p:sp>
      <p:sp>
        <p:nvSpPr>
          <p:cNvPr id="902" name="TextBox 902"/>
          <p:cNvSpPr txBox="1"/>
          <p:nvPr/>
        </p:nvSpPr>
        <p:spPr>
          <a:xfrm>
            <a:off x="2039112" y="1874519"/>
            <a:ext cx="4279392" cy="640080"/>
          </a:xfrm>
          <a:prstGeom prst="rect">
            <a:avLst/>
          </a:prstGeom>
          <a:noFill/>
        </p:spPr>
        <p:txBody>
          <a:bodyPr wrap="square" lIns="0" tIns="0" rIns="0" bIns="0" anchor="ctr"/>
          <a:lstStyle/>
          <a:p>
            <a:pPr algn="l">
              <a:lnSpc>
                <a:spcPct val="100000"/>
              </a:lnSpc>
              <a:spcAft>
                <a:spcPts val="0"/>
              </a:spcAft>
              <a:buNone/>
            </a:pPr>
            <a:r>
              <a:rPr lang="en-US" sz="2800" b="1">
                <a:solidFill>
                  <a:srgbClr val="1F1210"/>
                </a:solidFill>
                <a:latin typeface="DM Sans Bold"/>
                <a:ea typeface="DM Sans Bold"/>
                <a:cs typeface="DM Sans Bold"/>
                <a:sym typeface="DM Sans Bold"/>
              </a:rPr>
              <a:t xml:space="preserve">Monitoring</a:t>
            </a:r>
          </a:p>
        </p:txBody>
      </p:sp>
      <p:sp>
        <p:nvSpPr>
          <p:cNvPr id="903" name="Card 903"/>
          <p:cNvSpPr/>
          <p:nvPr/>
        </p:nvSpPr>
        <p:spPr>
          <a:xfrm>
            <a:off x="1216152" y="2697480"/>
            <a:ext cx="5102352" cy="4937759"/>
          </a:xfrm>
          <a:prstGeom prst="roundRect">
            <a:avLst>
              <a:gd name="adj" fmla="val 6000"/>
            </a:avLst>
          </a:prstGeom>
          <a:solidFill>
            <a:srgbClr val="FFF4F1"/>
          </a:solidFill>
          <a:ln>
            <a:noFill/>
          </a:ln>
        </p:spPr>
        <p:txBody>
          <a:bodyPr/>
          <a:lstStyle/>
          <a:p>
            <a:endParaRPr lang="en-US"/>
          </a:p>
        </p:txBody>
      </p:sp>
      <p:sp>
        <p:nvSpPr>
          <p:cNvPr id="904" name="Number 904"/>
          <p:cNvSpPr/>
          <p:nvPr/>
        </p:nvSpPr>
        <p:spPr>
          <a:xfrm>
            <a:off x="6592824" y="1874519"/>
            <a:ext cx="640080" cy="640080"/>
          </a:xfrm>
          <a:prstGeom prst="ellipse">
            <a:avLst/>
          </a:prstGeom>
          <a:solidFill>
            <a:srgbClr val="F8D462"/>
          </a:solidFill>
          <a:ln>
            <a:noFill/>
          </a:ln>
        </p:spPr>
        <p:txBody>
          <a:bodyPr lIns="0" tIns="0" rIns="0" bIns="0" anchor="ctr"/>
          <a:lstStyle/>
          <a:p>
            <a:pPr algn="ctr">
              <a:lnSpc>
                <a:spcPct val="100000"/>
              </a:lnSpc>
              <a:spcAft>
                <a:spcPts val="0"/>
              </a:spcAft>
              <a:buNone/>
            </a:pPr>
            <a:r>
              <a:rPr lang="en-US" sz="2600" b="1">
                <a:solidFill>
                  <a:srgbClr val="C42D29"/>
                </a:solidFill>
                <a:latin typeface="DM Sans Bold"/>
                <a:ea typeface="DM Sans Bold"/>
                <a:cs typeface="DM Sans Bold"/>
                <a:sym typeface="DM Sans Bold"/>
              </a:rPr>
              <a:t xml:space="preserve">2</a:t>
            </a:r>
          </a:p>
        </p:txBody>
      </p:sp>
      <p:sp>
        <p:nvSpPr>
          <p:cNvPr id="905" name="TextBox 905"/>
          <p:cNvSpPr txBox="1"/>
          <p:nvPr/>
        </p:nvSpPr>
        <p:spPr>
          <a:xfrm>
            <a:off x="7415783" y="1874519"/>
            <a:ext cx="4279392" cy="640080"/>
          </a:xfrm>
          <a:prstGeom prst="rect">
            <a:avLst/>
          </a:prstGeom>
          <a:noFill/>
        </p:spPr>
        <p:txBody>
          <a:bodyPr wrap="square" lIns="0" tIns="0" rIns="0" bIns="0" anchor="ctr"/>
          <a:lstStyle/>
          <a:p>
            <a:pPr algn="l">
              <a:lnSpc>
                <a:spcPct val="100000"/>
              </a:lnSpc>
              <a:spcAft>
                <a:spcPts val="0"/>
              </a:spcAft>
              <a:buNone/>
            </a:pPr>
            <a:r>
              <a:rPr lang="en-US" sz="2800" b="1">
                <a:solidFill>
                  <a:srgbClr val="1F1210"/>
                </a:solidFill>
                <a:latin typeface="DM Sans Bold"/>
                <a:ea typeface="DM Sans Bold"/>
                <a:cs typeface="DM Sans Bold"/>
                <a:sym typeface="DM Sans Bold"/>
              </a:rPr>
              <a:t xml:space="preserve">Portable AP CXR</a:t>
            </a:r>
          </a:p>
        </p:txBody>
      </p:sp>
      <p:sp>
        <p:nvSpPr>
          <p:cNvPr id="906" name="Card 906"/>
          <p:cNvSpPr/>
          <p:nvPr/>
        </p:nvSpPr>
        <p:spPr>
          <a:xfrm>
            <a:off x="6592824" y="2697480"/>
            <a:ext cx="5102352" cy="4937759"/>
          </a:xfrm>
          <a:prstGeom prst="roundRect">
            <a:avLst>
              <a:gd name="adj" fmla="val 6000"/>
            </a:avLst>
          </a:prstGeom>
          <a:solidFill>
            <a:srgbClr val="FFF4F1"/>
          </a:solidFill>
          <a:ln>
            <a:noFill/>
          </a:ln>
        </p:spPr>
        <p:txBody>
          <a:bodyPr/>
          <a:lstStyle/>
          <a:p>
            <a:endParaRPr lang="en-US"/>
          </a:p>
        </p:txBody>
      </p:sp>
      <p:sp>
        <p:nvSpPr>
          <p:cNvPr id="907" name="Number 907"/>
          <p:cNvSpPr/>
          <p:nvPr/>
        </p:nvSpPr>
        <p:spPr>
          <a:xfrm>
            <a:off x="11960352" y="1874519"/>
            <a:ext cx="640080" cy="640080"/>
          </a:xfrm>
          <a:prstGeom prst="ellipse">
            <a:avLst/>
          </a:prstGeom>
          <a:solidFill>
            <a:srgbClr val="F8D462"/>
          </a:solidFill>
          <a:ln>
            <a:noFill/>
          </a:ln>
        </p:spPr>
        <p:txBody>
          <a:bodyPr lIns="0" tIns="0" rIns="0" bIns="0" anchor="ctr"/>
          <a:lstStyle/>
          <a:p>
            <a:pPr algn="ctr">
              <a:lnSpc>
                <a:spcPct val="100000"/>
              </a:lnSpc>
              <a:spcAft>
                <a:spcPts val="0"/>
              </a:spcAft>
              <a:buNone/>
            </a:pPr>
            <a:r>
              <a:rPr lang="en-US" sz="2600" b="1">
                <a:solidFill>
                  <a:srgbClr val="C42D29"/>
                </a:solidFill>
                <a:latin typeface="DM Sans Bold"/>
                <a:ea typeface="DM Sans Bold"/>
                <a:cs typeface="DM Sans Bold"/>
                <a:sym typeface="DM Sans Bold"/>
              </a:rPr>
              <a:t xml:space="preserve">3</a:t>
            </a:r>
          </a:p>
        </p:txBody>
      </p:sp>
      <p:sp>
        <p:nvSpPr>
          <p:cNvPr id="908" name="TextBox 908"/>
          <p:cNvSpPr txBox="1"/>
          <p:nvPr/>
        </p:nvSpPr>
        <p:spPr>
          <a:xfrm>
            <a:off x="12783312" y="1874519"/>
            <a:ext cx="4279392" cy="640080"/>
          </a:xfrm>
          <a:prstGeom prst="rect">
            <a:avLst/>
          </a:prstGeom>
          <a:noFill/>
        </p:spPr>
        <p:txBody>
          <a:bodyPr wrap="square" lIns="0" tIns="0" rIns="0" bIns="0" anchor="ctr"/>
          <a:lstStyle/>
          <a:p>
            <a:pPr algn="l">
              <a:lnSpc>
                <a:spcPct val="100000"/>
              </a:lnSpc>
              <a:spcAft>
                <a:spcPts val="0"/>
              </a:spcAft>
              <a:buNone/>
            </a:pPr>
            <a:r>
              <a:rPr lang="en-US" sz="2800" b="1">
                <a:solidFill>
                  <a:srgbClr val="1F1210"/>
                </a:solidFill>
                <a:latin typeface="DM Sans Bold"/>
                <a:ea typeface="DM Sans Bold"/>
                <a:cs typeface="DM Sans Bold"/>
                <a:sym typeface="DM Sans Bold"/>
              </a:rPr>
              <a:t xml:space="preserve">eFAST &amp; CT</a:t>
            </a:r>
          </a:p>
        </p:txBody>
      </p:sp>
      <p:sp>
        <p:nvSpPr>
          <p:cNvPr id="909" name="Card 909"/>
          <p:cNvSpPr/>
          <p:nvPr/>
        </p:nvSpPr>
        <p:spPr>
          <a:xfrm>
            <a:off x="11960352" y="2697480"/>
            <a:ext cx="5102352" cy="4937759"/>
          </a:xfrm>
          <a:prstGeom prst="roundRect">
            <a:avLst>
              <a:gd name="adj" fmla="val 6000"/>
            </a:avLst>
          </a:prstGeom>
          <a:solidFill>
            <a:srgbClr val="FFF4F1"/>
          </a:solidFill>
          <a:ln>
            <a:noFill/>
          </a:ln>
        </p:spPr>
        <p:txBody>
          <a:bodyPr/>
          <a:lstStyle/>
          <a:p>
            <a:endParaRPr lang="en-US"/>
          </a:p>
        </p:txBody>
      </p:sp>
      <p:sp>
        <p:nvSpPr>
          <p:cNvPr id="910" name="TextBox 910"/>
          <p:cNvSpPr txBox="1"/>
          <p:nvPr/>
        </p:nvSpPr>
        <p:spPr>
          <a:xfrm>
            <a:off x="1490472" y="2926080"/>
            <a:ext cx="4553712" cy="4571999"/>
          </a:xfrm>
          <a:prstGeom prst="rect">
            <a:avLst/>
          </a:prstGeom>
          <a:noFill/>
        </p:spPr>
        <p:txBody>
          <a:bodyPr wrap="square" lIns="0" tIns="0" rIns="0" bIns="0" anchor="t"/>
          <a:lstStyle/>
          <a:p>
            <a:pPr algn="l">
              <a:lnSpc>
                <a:spcPct val="100000"/>
              </a:lnSpc>
              <a:spcAft>
                <a:spcPts val="300"/>
              </a:spcAft>
              <a:buNone/>
            </a:pPr>
            <a:r>
              <a:rPr lang="en-US" sz="2200" b="1">
                <a:solidFill>
                  <a:srgbClr val="E74B2F"/>
                </a:solidFill>
                <a:latin typeface="DM Sans Bold"/>
                <a:ea typeface="DM Sans Bold"/>
                <a:cs typeface="DM Sans Bold"/>
                <a:sym typeface="DM Sans Bold"/>
              </a:rPr>
              <a:t xml:space="preserve">Pulse oximetry (SpO₂)</a:t>
            </a:r>
          </a:p>
          <a:p>
            <a:pPr algn="l" marL="342900" indent="-228600">
              <a:lnSpc>
                <a:spcPct val="100000"/>
              </a:lnSpc>
              <a:spcAft>
                <a:spcPts val="200"/>
              </a:spcAft>
              <a:buFont typeface="Arial"/>
              <a:buChar char="•"/>
            </a:pPr>
            <a:r>
              <a:rPr lang="en-US" sz="1900">
                <a:solidFill>
                  <a:srgbClr val="1F1210"/>
                </a:solidFill>
                <a:latin typeface="DM Sans"/>
                <a:ea typeface="DM Sans"/>
                <a:cs typeface="DM Sans"/>
                <a:sym typeface="DM Sans"/>
              </a:rPr>
              <a:t xml:space="preserve">Continuous monitoring</a:t>
            </a:r>
          </a:p>
          <a:p>
            <a:pPr algn="l" marL="342900" indent="-228600">
              <a:lnSpc>
                <a:spcPct val="100000"/>
              </a:lnSpc>
              <a:spcAft>
                <a:spcPts val="1000"/>
              </a:spcAft>
              <a:buFont typeface="Arial"/>
              <a:buChar char="•"/>
            </a:pPr>
            <a:r>
              <a:rPr lang="en-US" sz="1900">
                <a:solidFill>
                  <a:srgbClr val="1F1210"/>
                </a:solidFill>
                <a:latin typeface="DM Sans"/>
                <a:ea typeface="DM Sans"/>
                <a:cs typeface="DM Sans"/>
                <a:sym typeface="DM Sans"/>
              </a:rPr>
              <a:t xml:space="preserve">Low = </a:t>
            </a:r>
            <a:r>
              <a:rPr lang="en-US" sz="1900" b="1">
                <a:solidFill>
                  <a:srgbClr val="1F1210"/>
                </a:solidFill>
                <a:latin typeface="DM Sans Bold"/>
                <a:ea typeface="DM Sans Bold"/>
                <a:cs typeface="DM Sans Bold"/>
                <a:sym typeface="DM Sans Bold"/>
              </a:rPr>
              <a:t xml:space="preserve">poor perfusion</a:t>
            </a:r>
            <a:r>
              <a:rPr lang="en-US" sz="1900">
                <a:solidFill>
                  <a:srgbClr val="1F1210"/>
                </a:solidFill>
                <a:latin typeface="DM Sans"/>
                <a:ea typeface="DM Sans"/>
                <a:cs typeface="DM Sans"/>
                <a:sym typeface="DM Sans"/>
              </a:rPr>
              <a:t xml:space="preserve"> or lung injury</a:t>
            </a:r>
          </a:p>
          <a:p>
            <a:pPr algn="l">
              <a:lnSpc>
                <a:spcPct val="100000"/>
              </a:lnSpc>
              <a:spcAft>
                <a:spcPts val="300"/>
              </a:spcAft>
              <a:buNone/>
            </a:pPr>
            <a:r>
              <a:rPr lang="en-US" sz="2200" b="1">
                <a:solidFill>
                  <a:srgbClr val="E74B2F"/>
                </a:solidFill>
                <a:latin typeface="DM Sans Bold"/>
                <a:ea typeface="DM Sans Bold"/>
                <a:cs typeface="DM Sans Bold"/>
                <a:sym typeface="DM Sans Bold"/>
              </a:rPr>
              <a:t xml:space="preserve">ETCO₂</a:t>
            </a:r>
          </a:p>
          <a:p>
            <a:pPr algn="l" marL="342900" indent="-228600">
              <a:lnSpc>
                <a:spcPct val="100000"/>
              </a:lnSpc>
              <a:spcAft>
                <a:spcPts val="200"/>
              </a:spcAft>
              <a:buFont typeface="Arial"/>
              <a:buChar char="•"/>
            </a:pPr>
            <a:r>
              <a:rPr lang="en-US" sz="1900">
                <a:solidFill>
                  <a:srgbClr val="1F1210"/>
                </a:solidFill>
                <a:latin typeface="DM Sans"/>
                <a:ea typeface="DM Sans"/>
                <a:cs typeface="DM Sans"/>
                <a:sym typeface="DM Sans"/>
              </a:rPr>
              <a:t xml:space="preserve">Reflects </a:t>
            </a:r>
            <a:r>
              <a:rPr lang="en-US" sz="1900" b="1">
                <a:solidFill>
                  <a:srgbClr val="1F1210"/>
                </a:solidFill>
                <a:latin typeface="DM Sans Bold"/>
                <a:ea typeface="DM Sans Bold"/>
                <a:cs typeface="DM Sans Bold"/>
                <a:sym typeface="DM Sans Bold"/>
              </a:rPr>
              <a:t xml:space="preserve">ventilation</a:t>
            </a:r>
          </a:p>
          <a:p>
            <a:pPr algn="l" marL="342900" indent="-228600">
              <a:lnSpc>
                <a:spcPct val="100000"/>
              </a:lnSpc>
              <a:spcAft>
                <a:spcPts val="1000"/>
              </a:spcAft>
              <a:buFont typeface="Arial"/>
              <a:buChar char="•"/>
            </a:pPr>
            <a:r>
              <a:rPr lang="en-US" sz="1900">
                <a:solidFill>
                  <a:srgbClr val="1F1210"/>
                </a:solidFill>
                <a:latin typeface="DM Sans"/>
                <a:ea typeface="DM Sans"/>
                <a:cs typeface="DM Sans"/>
                <a:sym typeface="DM Sans"/>
              </a:rPr>
              <a:t xml:space="preserve">Also falls with ↓ </a:t>
            </a:r>
            <a:r>
              <a:rPr lang="en-US" sz="1900" b="1">
                <a:solidFill>
                  <a:srgbClr val="1F1210"/>
                </a:solidFill>
                <a:latin typeface="DM Sans Bold"/>
                <a:ea typeface="DM Sans Bold"/>
                <a:cs typeface="DM Sans Bold"/>
                <a:sym typeface="DM Sans Bold"/>
              </a:rPr>
              <a:t xml:space="preserve">pulmonary perfusion</a:t>
            </a:r>
          </a:p>
          <a:p>
            <a:pPr algn="l">
              <a:lnSpc>
                <a:spcPct val="100000"/>
              </a:lnSpc>
              <a:spcAft>
                <a:spcPts val="300"/>
              </a:spcAft>
              <a:buNone/>
            </a:pPr>
            <a:r>
              <a:rPr lang="en-US" sz="2200" b="1">
                <a:solidFill>
                  <a:srgbClr val="E74B2F"/>
                </a:solidFill>
                <a:latin typeface="DM Sans Bold"/>
                <a:ea typeface="DM Sans Bold"/>
                <a:cs typeface="DM Sans Bold"/>
                <a:sym typeface="DM Sans Bold"/>
              </a:rPr>
              <a:t xml:space="preserve">Arterial blood gas</a:t>
            </a:r>
          </a:p>
          <a:p>
            <a:pPr algn="l" marL="342900" indent="-228600">
              <a:lnSpc>
                <a:spcPct val="100000"/>
              </a:lnSpc>
              <a:spcAft>
                <a:spcPts val="200"/>
              </a:spcAft>
              <a:buFont typeface="Arial"/>
              <a:buChar char="•"/>
            </a:pPr>
            <a:r>
              <a:rPr lang="en-US" sz="1900" b="1">
                <a:solidFill>
                  <a:srgbClr val="1F1210"/>
                </a:solidFill>
                <a:latin typeface="DM Sans Bold"/>
                <a:ea typeface="DM Sans Bold"/>
                <a:cs typeface="DM Sans Bold"/>
                <a:sym typeface="DM Sans Bold"/>
              </a:rPr>
              <a:t xml:space="preserve">Most precise</a:t>
            </a:r>
            <a:r>
              <a:rPr lang="en-US" sz="1900">
                <a:solidFill>
                  <a:srgbClr val="1F1210"/>
                </a:solidFill>
                <a:latin typeface="DM Sans"/>
                <a:ea typeface="DM Sans"/>
                <a:cs typeface="DM Sans"/>
                <a:sym typeface="DM Sans"/>
              </a:rPr>
              <a:t xml:space="preserve">: hypoxemia, hypercapnia</a:t>
            </a:r>
          </a:p>
          <a:p>
            <a:pPr algn="l" marL="342900" indent="-228600">
              <a:lnSpc>
                <a:spcPct val="100000"/>
              </a:lnSpc>
              <a:spcAft>
                <a:spcPts val="0"/>
              </a:spcAft>
              <a:buFont typeface="Arial"/>
              <a:buChar char="•"/>
            </a:pPr>
            <a:r>
              <a:rPr lang="en-US" sz="1900">
                <a:solidFill>
                  <a:srgbClr val="1F1210"/>
                </a:solidFill>
                <a:latin typeface="DM Sans"/>
                <a:ea typeface="DM Sans"/>
                <a:cs typeface="DM Sans"/>
                <a:sym typeface="DM Sans"/>
              </a:rPr>
              <a:t xml:space="preserve">Gives </a:t>
            </a:r>
            <a:r>
              <a:rPr lang="en-US" sz="1900" b="1">
                <a:solidFill>
                  <a:srgbClr val="1F1210"/>
                </a:solidFill>
                <a:latin typeface="DM Sans Bold"/>
                <a:ea typeface="DM Sans Bold"/>
                <a:cs typeface="DM Sans Bold"/>
                <a:sym typeface="DM Sans Bold"/>
              </a:rPr>
              <a:t xml:space="preserve">acid–base</a:t>
            </a:r>
            <a:r>
              <a:rPr lang="en-US" sz="1900">
                <a:solidFill>
                  <a:srgbClr val="1F1210"/>
                </a:solidFill>
                <a:latin typeface="DM Sans"/>
                <a:ea typeface="DM Sans"/>
                <a:cs typeface="DM Sans"/>
                <a:sym typeface="DM Sans"/>
              </a:rPr>
              <a:t xml:space="preserve"> status</a:t>
            </a:r>
          </a:p>
        </p:txBody>
      </p:sp>
      <p:sp>
        <p:nvSpPr>
          <p:cNvPr id="911" name="TextBox 911"/>
          <p:cNvSpPr txBox="1"/>
          <p:nvPr/>
        </p:nvSpPr>
        <p:spPr>
          <a:xfrm>
            <a:off x="6867144" y="2926080"/>
            <a:ext cx="4553712" cy="3017520"/>
          </a:xfrm>
          <a:prstGeom prst="rect">
            <a:avLst/>
          </a:prstGeom>
          <a:noFill/>
        </p:spPr>
        <p:txBody>
          <a:bodyPr wrap="square" lIns="0" tIns="0" rIns="0" bIns="0" anchor="t"/>
          <a:lstStyle/>
          <a:p>
            <a:pPr algn="l">
              <a:lnSpc>
                <a:spcPct val="100000"/>
              </a:lnSpc>
              <a:spcAft>
                <a:spcPts val="300"/>
              </a:spcAft>
              <a:buNone/>
            </a:pPr>
            <a:r>
              <a:rPr lang="en-US" sz="2200" b="1">
                <a:solidFill>
                  <a:srgbClr val="E74B2F"/>
                </a:solidFill>
                <a:latin typeface="DM Sans Bold"/>
                <a:ea typeface="DM Sans Bold"/>
                <a:cs typeface="DM Sans Bold"/>
                <a:sym typeface="DM Sans Bold"/>
              </a:rPr>
              <a:t xml:space="preserve">Look for</a:t>
            </a:r>
          </a:p>
          <a:p>
            <a:pPr algn="l" marL="342900" indent="-228600">
              <a:lnSpc>
                <a:spcPct val="100000"/>
              </a:lnSpc>
              <a:spcAft>
                <a:spcPts val="200"/>
              </a:spcAft>
              <a:buFont typeface="Arial"/>
              <a:buChar char="•"/>
            </a:pPr>
            <a:r>
              <a:rPr lang="en-US" sz="1900" b="1">
                <a:solidFill>
                  <a:srgbClr val="1F1210"/>
                </a:solidFill>
                <a:latin typeface="DM Sans Bold"/>
                <a:ea typeface="DM Sans Bold"/>
                <a:cs typeface="DM Sans Bold"/>
                <a:sym typeface="DM Sans Bold"/>
              </a:rPr>
              <a:t xml:space="preserve">Lung expansion</a:t>
            </a:r>
            <a:r>
              <a:rPr lang="en-US" sz="1900">
                <a:solidFill>
                  <a:srgbClr val="1F1210"/>
                </a:solidFill>
                <a:latin typeface="DM Sans"/>
                <a:ea typeface="DM Sans"/>
                <a:cs typeface="DM Sans"/>
                <a:sym typeface="DM Sans"/>
              </a:rPr>
              <a:t xml:space="preserve"> &amp; pleural fluid</a:t>
            </a:r>
          </a:p>
          <a:p>
            <a:pPr algn="l" marL="342900" indent="-228600">
              <a:lnSpc>
                <a:spcPct val="100000"/>
              </a:lnSpc>
              <a:spcAft>
                <a:spcPts val="200"/>
              </a:spcAft>
              <a:buFont typeface="Arial"/>
              <a:buChar char="•"/>
            </a:pPr>
            <a:r>
              <a:rPr lang="en-US" sz="1900" b="1">
                <a:solidFill>
                  <a:srgbClr val="1F1210"/>
                </a:solidFill>
                <a:latin typeface="DM Sans Bold"/>
                <a:ea typeface="DM Sans Bold"/>
                <a:cs typeface="DM Sans Bold"/>
                <a:sym typeface="DM Sans Bold"/>
              </a:rPr>
              <a:t xml:space="preserve">Subcut. / mediastinal air</a:t>
            </a:r>
          </a:p>
          <a:p>
            <a:pPr algn="l" marL="342900" indent="-228600">
              <a:lnSpc>
                <a:spcPct val="100000"/>
              </a:lnSpc>
              <a:spcAft>
                <a:spcPts val="200"/>
              </a:spcAft>
              <a:buFont typeface="Arial"/>
              <a:buChar char="•"/>
            </a:pPr>
            <a:r>
              <a:rPr lang="en-US" sz="1900" b="1">
                <a:solidFill>
                  <a:srgbClr val="1F1210"/>
                </a:solidFill>
                <a:latin typeface="DM Sans Bold"/>
                <a:ea typeface="DM Sans Bold"/>
                <a:cs typeface="DM Sans Bold"/>
                <a:sym typeface="DM Sans Bold"/>
              </a:rPr>
              <a:t xml:space="preserve">Tracheal shift</a:t>
            </a:r>
            <a:r>
              <a:rPr lang="en-US" sz="1900">
                <a:solidFill>
                  <a:srgbClr val="1F1210"/>
                </a:solidFill>
                <a:latin typeface="DM Sans"/>
                <a:ea typeface="DM Sans"/>
                <a:cs typeface="DM Sans"/>
                <a:sym typeface="DM Sans"/>
              </a:rPr>
              <a:t xml:space="preserve">, wide mediastinum</a:t>
            </a:r>
          </a:p>
          <a:p>
            <a:pPr algn="l" marL="342900" indent="-228600">
              <a:lnSpc>
                <a:spcPct val="100000"/>
              </a:lnSpc>
              <a:spcAft>
                <a:spcPts val="200"/>
              </a:spcAft>
              <a:buFont typeface="Arial"/>
              <a:buChar char="•"/>
            </a:pPr>
            <a:r>
              <a:rPr lang="en-US" sz="1900" b="1">
                <a:solidFill>
                  <a:srgbClr val="1F1210"/>
                </a:solidFill>
                <a:latin typeface="DM Sans Bold"/>
                <a:ea typeface="DM Sans Bold"/>
                <a:cs typeface="DM Sans Bold"/>
                <a:sym typeface="DM Sans Bold"/>
              </a:rPr>
              <a:t xml:space="preserve">Gastric air / NGT</a:t>
            </a:r>
            <a:r>
              <a:rPr lang="en-US" sz="1900">
                <a:solidFill>
                  <a:srgbClr val="1F1210"/>
                </a:solidFill>
                <a:latin typeface="DM Sans"/>
                <a:ea typeface="DM Sans"/>
                <a:cs typeface="DM Sans"/>
                <a:sym typeface="DM Sans"/>
              </a:rPr>
              <a:t xml:space="preserve"> in left chest</a:t>
            </a:r>
          </a:p>
          <a:p>
            <a:pPr algn="l" marL="342900" indent="-228600">
              <a:lnSpc>
                <a:spcPct val="100000"/>
              </a:lnSpc>
              <a:spcAft>
                <a:spcPts val="0"/>
              </a:spcAft>
              <a:buFont typeface="Arial"/>
              <a:buChar char="•"/>
            </a:pPr>
            <a:r>
              <a:rPr lang="en-US" sz="1900" b="1">
                <a:solidFill>
                  <a:srgbClr val="1F1210"/>
                </a:solidFill>
                <a:latin typeface="DM Sans Bold"/>
                <a:ea typeface="DM Sans Bold"/>
                <a:cs typeface="DM Sans Bold"/>
                <a:sym typeface="DM Sans Bold"/>
              </a:rPr>
              <a:t xml:space="preserve">1st–2nd or many rib fx</a:t>
            </a:r>
            <a:r>
              <a:rPr lang="en-US" sz="1900">
                <a:solidFill>
                  <a:srgbClr val="1F1210"/>
                </a:solidFill>
                <a:latin typeface="DM Sans"/>
                <a:ea typeface="DM Sans"/>
                <a:cs typeface="DM Sans"/>
                <a:sym typeface="DM Sans"/>
              </a:rPr>
              <a:t xml:space="preserve"> = big force</a:t>
            </a:r>
          </a:p>
        </p:txBody>
      </p:sp>
      <p:sp>
        <p:nvSpPr>
          <p:cNvPr id="912" name="Card 912"/>
          <p:cNvSpPr/>
          <p:nvPr/>
        </p:nvSpPr>
        <p:spPr>
          <a:xfrm>
            <a:off x="6821424" y="5486400"/>
            <a:ext cx="4645152" cy="1920240"/>
          </a:xfrm>
          <a:prstGeom prst="roundRect">
            <a:avLst>
              <a:gd name="adj" fmla="val 8000"/>
            </a:avLst>
          </a:prstGeom>
          <a:solidFill>
            <a:srgbClr val="C42D29"/>
          </a:solidFill>
          <a:ln>
            <a:noFill/>
          </a:ln>
        </p:spPr>
        <p:txBody>
          <a:bodyPr/>
          <a:lstStyle/>
          <a:p>
            <a:endParaRPr lang="en-US"/>
          </a:p>
        </p:txBody>
      </p:sp>
      <p:sp>
        <p:nvSpPr>
          <p:cNvPr id="913" name="TextBox 913"/>
          <p:cNvSpPr txBox="1"/>
          <p:nvPr/>
        </p:nvSpPr>
        <p:spPr>
          <a:xfrm>
            <a:off x="6821424" y="5486400"/>
            <a:ext cx="4645152" cy="1920240"/>
          </a:xfrm>
          <a:prstGeom prst="rect">
            <a:avLst/>
          </a:prstGeom>
          <a:noFill/>
        </p:spPr>
        <p:txBody>
          <a:bodyPr wrap="square" lIns="201168" tIns="201168" rIns="201168" bIns="201168" anchor="ctr"/>
          <a:lstStyle/>
          <a:p>
            <a:pPr algn="l">
              <a:lnSpc>
                <a:spcPct val="100000"/>
              </a:lnSpc>
              <a:spcAft>
                <a:spcPts val="300"/>
              </a:spcAft>
              <a:buNone/>
            </a:pPr>
            <a:r>
              <a:rPr lang="en-US" sz="2000" b="1">
                <a:solidFill>
                  <a:srgbClr val="F8D462"/>
                </a:solidFill>
                <a:latin typeface="DM Sans Bold"/>
                <a:ea typeface="DM Sans Bold"/>
                <a:cs typeface="DM Sans Bold"/>
                <a:sym typeface="DM Sans Bold"/>
              </a:rPr>
              <a:t xml:space="preserve">Supine film pitfalls</a:t>
            </a:r>
          </a:p>
          <a:p>
            <a:pPr algn="l" marL="342900" indent="-228600">
              <a:lnSpc>
                <a:spcPct val="100000"/>
              </a:lnSpc>
              <a:spcAft>
                <a:spcPts val="150"/>
              </a:spcAft>
              <a:buFont typeface="Arial"/>
              <a:buChar char="•"/>
            </a:pPr>
            <a:r>
              <a:rPr lang="en-US" sz="1800" b="1">
                <a:solidFill>
                  <a:srgbClr val="FFFFFF"/>
                </a:solidFill>
                <a:latin typeface="DM Sans Bold"/>
                <a:ea typeface="DM Sans Bold"/>
                <a:cs typeface="DM Sans Bold"/>
                <a:sym typeface="DM Sans Bold"/>
              </a:rPr>
              <a:t xml:space="preserve">Hemothorax</a:t>
            </a:r>
            <a:r>
              <a:rPr lang="en-US" sz="1800">
                <a:solidFill>
                  <a:srgbClr val="FFFFFF"/>
                </a:solidFill>
                <a:latin typeface="DM Sans"/>
                <a:ea typeface="DM Sans"/>
                <a:cs typeface="DM Sans"/>
                <a:sym typeface="DM Sans"/>
              </a:rPr>
              <a:t xml:space="preserve"> → only hazy opacity</a:t>
            </a:r>
          </a:p>
          <a:p>
            <a:pPr algn="l" marL="342900" indent="-228600">
              <a:lnSpc>
                <a:spcPct val="100000"/>
              </a:lnSpc>
              <a:spcAft>
                <a:spcPts val="0"/>
              </a:spcAft>
              <a:buFont typeface="Arial"/>
              <a:buChar char="•"/>
            </a:pPr>
            <a:r>
              <a:rPr lang="en-US" sz="1800" b="1">
                <a:solidFill>
                  <a:srgbClr val="FFFFFF"/>
                </a:solidFill>
                <a:latin typeface="DM Sans Bold"/>
                <a:ea typeface="DM Sans Bold"/>
                <a:cs typeface="DM Sans Bold"/>
                <a:sym typeface="DM Sans Bold"/>
              </a:rPr>
              <a:t xml:space="preserve">PTX</a:t>
            </a:r>
            <a:r>
              <a:rPr lang="en-US" sz="1800">
                <a:solidFill>
                  <a:srgbClr val="FFFFFF"/>
                </a:solidFill>
                <a:latin typeface="DM Sans"/>
                <a:ea typeface="DM Sans"/>
                <a:cs typeface="DM Sans"/>
                <a:sym typeface="DM Sans"/>
              </a:rPr>
              <a:t xml:space="preserve"> rises anteriorly → may be missed</a:t>
            </a:r>
          </a:p>
        </p:txBody>
      </p:sp>
      <p:grpSp>
        <p:nvGrpSpPr>
          <p:cNvPr name="Group 15" id="15"/>
          <p:cNvGrpSpPr/>
          <p:nvPr/>
        </p:nvGrpSpPr>
        <p:grpSpPr>
          <a:xfrm rot="0">
            <a:off x="13574268" y="2898648"/>
            <a:ext cx="1874519" cy="1758967"/>
            <a:chOff x="0" y="0"/>
            <a:chExt cx="5340096" cy="5010912"/>
          </a:xfrm>
        </p:grpSpPr>
        <p:sp>
          <p:nvSpPr>
            <p:cNvPr name="Freeform 16" id="16"/>
            <p:cNvSpPr/>
            <p:nvPr/>
          </p:nvSpPr>
          <p:spPr>
            <a:xfrm flipH="false" flipV="false" rot="0">
              <a:off x="0" y="0"/>
              <a:ext cx="5340096" cy="5010912"/>
            </a:xfrm>
            <a:custGeom>
              <a:avLst/>
              <a:gdLst/>
              <a:ahLst/>
              <a:cxnLst/>
              <a:rect r="r" b="b" t="t" l="l"/>
              <a:pathLst>
                <a:path h="5010912" w="5340096">
                  <a:moveTo>
                    <a:pt x="0" y="238633"/>
                  </a:moveTo>
                  <a:cubicBezTo>
                    <a:pt x="0" y="106807"/>
                    <a:pt x="106807" y="0"/>
                    <a:pt x="238633" y="0"/>
                  </a:cubicBezTo>
                  <a:lnTo>
                    <a:pt x="5101463" y="0"/>
                  </a:lnTo>
                  <a:cubicBezTo>
                    <a:pt x="5233289" y="0"/>
                    <a:pt x="5340096" y="106807"/>
                    <a:pt x="5340096" y="238633"/>
                  </a:cubicBezTo>
                  <a:lnTo>
                    <a:pt x="5340096" y="4772279"/>
                  </a:lnTo>
                  <a:cubicBezTo>
                    <a:pt x="5340096" y="4904105"/>
                    <a:pt x="5233289" y="5010912"/>
                    <a:pt x="5101463" y="5010912"/>
                  </a:cubicBezTo>
                  <a:lnTo>
                    <a:pt x="238633" y="5010912"/>
                  </a:lnTo>
                  <a:cubicBezTo>
                    <a:pt x="106807" y="5010912"/>
                    <a:pt x="0" y="4904105"/>
                    <a:pt x="0" y="4772279"/>
                  </a:cubicBezTo>
                  <a:close/>
                </a:path>
              </a:pathLst>
            </a:custGeom>
            <a:solidFill>
              <a:srgbClr val="FFFFFF"/>
            </a:solidFill>
          </p:spPr>
        </p:sp>
      </p:grpSp>
      <p:grpSp>
        <p:nvGrpSpPr>
          <p:cNvPr name="Group 17" id="17"/>
          <p:cNvGrpSpPr/>
          <p:nvPr/>
        </p:nvGrpSpPr>
        <p:grpSpPr>
          <a:xfrm rot="0">
            <a:off x="13632044" y="2987938"/>
            <a:ext cx="1758967" cy="1580382"/>
            <a:chOff x="0" y="0"/>
            <a:chExt cx="5010912" cy="4502163"/>
          </a:xfrm>
        </p:grpSpPr>
        <p:sp>
          <p:nvSpPr>
            <p:cNvPr name="Freeform 18" id="18" descr="FAST probe positions on the torso"/>
            <p:cNvSpPr/>
            <p:nvPr/>
          </p:nvSpPr>
          <p:spPr>
            <a:xfrm flipH="false" flipV="false" rot="0">
              <a:off x="0" y="0"/>
              <a:ext cx="5010912" cy="4502150"/>
            </a:xfrm>
            <a:custGeom>
              <a:avLst/>
              <a:gdLst/>
              <a:ahLst/>
              <a:cxnLst/>
              <a:rect r="r" b="b" t="t" l="l"/>
              <a:pathLst>
                <a:path h="4502150" w="5010912">
                  <a:moveTo>
                    <a:pt x="0" y="0"/>
                  </a:moveTo>
                  <a:lnTo>
                    <a:pt x="5010912" y="0"/>
                  </a:lnTo>
                  <a:lnTo>
                    <a:pt x="5010912" y="4502150"/>
                  </a:lnTo>
                  <a:lnTo>
                    <a:pt x="0" y="4502150"/>
                  </a:lnTo>
                  <a:lnTo>
                    <a:pt x="0" y="0"/>
                  </a:lnTo>
                  <a:close/>
                </a:path>
              </a:pathLst>
            </a:custGeom>
            <a:blipFill>
              <a:blip r:embed="rId4"/>
              <a:stretch>
                <a:fillRect l="-14" t="0" r="-14" b="0"/>
              </a:stretch>
            </a:blipFill>
          </p:spPr>
        </p:sp>
      </p:grpSp>
      <p:sp>
        <p:nvSpPr>
          <p:cNvPr name="TextBox 19" id="19"/>
          <p:cNvSpPr txBox="true"/>
          <p:nvPr/>
        </p:nvSpPr>
        <p:spPr>
          <a:xfrm rot="0">
            <a:off x="11960352" y="4681728"/>
            <a:ext cx="5102352" cy="396183"/>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FAST probe positions (Fig 6-4A)</a:t>
            </a:r>
          </a:p>
        </p:txBody>
      </p:sp>
      <p:sp>
        <p:nvSpPr>
          <p:cNvPr id="914" name="TextBox 914"/>
          <p:cNvSpPr txBox="1"/>
          <p:nvPr/>
        </p:nvSpPr>
        <p:spPr>
          <a:xfrm>
            <a:off x="12234672" y="5074920"/>
            <a:ext cx="4553712" cy="2468879"/>
          </a:xfrm>
          <a:prstGeom prst="rect">
            <a:avLst/>
          </a:prstGeom>
          <a:noFill/>
        </p:spPr>
        <p:txBody>
          <a:bodyPr wrap="square" lIns="0" tIns="0" rIns="0" bIns="0" anchor="t"/>
          <a:lstStyle/>
          <a:p>
            <a:pPr algn="l">
              <a:lnSpc>
                <a:spcPct val="100000"/>
              </a:lnSpc>
              <a:spcAft>
                <a:spcPts val="200"/>
              </a:spcAft>
              <a:buNone/>
            </a:pPr>
            <a:r>
              <a:rPr lang="en-US" sz="2200" b="1">
                <a:solidFill>
                  <a:srgbClr val="E74B2F"/>
                </a:solidFill>
                <a:latin typeface="DM Sans Bold"/>
                <a:ea typeface="DM Sans Bold"/>
                <a:cs typeface="DM Sans Bold"/>
                <a:sym typeface="DM Sans Bold"/>
              </a:rPr>
              <a:t xml:space="preserve">eFAST</a:t>
            </a:r>
          </a:p>
          <a:p>
            <a:pPr algn="l" marL="342900" indent="-228600">
              <a:lnSpc>
                <a:spcPct val="100000"/>
              </a:lnSpc>
              <a:spcAft>
                <a:spcPts val="150"/>
              </a:spcAft>
              <a:buFont typeface="Arial"/>
              <a:buChar char="•"/>
            </a:pPr>
            <a:r>
              <a:rPr lang="en-US" sz="1900" b="1">
                <a:solidFill>
                  <a:srgbClr val="1F1210"/>
                </a:solidFill>
                <a:latin typeface="DM Sans Bold"/>
                <a:ea typeface="DM Sans Bold"/>
                <a:cs typeface="DM Sans Bold"/>
                <a:sym typeface="DM Sans Bold"/>
              </a:rPr>
              <a:t xml:space="preserve">PTX · HTX · hemopericardium</a:t>
            </a:r>
          </a:p>
          <a:p>
            <a:pPr algn="l" marL="342900" indent="-228600">
              <a:lnSpc>
                <a:spcPct val="100000"/>
              </a:lnSpc>
              <a:spcAft>
                <a:spcPts val="600"/>
              </a:spcAft>
              <a:buFont typeface="Arial"/>
              <a:buChar char="•"/>
            </a:pPr>
            <a:r>
              <a:rPr lang="en-US" sz="1900">
                <a:solidFill>
                  <a:srgbClr val="1F1210"/>
                </a:solidFill>
                <a:latin typeface="DM Sans"/>
                <a:ea typeface="DM Sans"/>
                <a:cs typeface="DM Sans"/>
                <a:sym typeface="DM Sans"/>
              </a:rPr>
              <a:t xml:space="preserve">Bedside, repeatable, no radiation</a:t>
            </a:r>
          </a:p>
          <a:p>
            <a:pPr algn="l">
              <a:lnSpc>
                <a:spcPct val="100000"/>
              </a:lnSpc>
              <a:spcAft>
                <a:spcPts val="200"/>
              </a:spcAft>
              <a:buNone/>
            </a:pPr>
            <a:r>
              <a:rPr lang="en-US" sz="2200" b="1">
                <a:solidFill>
                  <a:srgbClr val="E74B2F"/>
                </a:solidFill>
                <a:latin typeface="DM Sans Bold"/>
                <a:ea typeface="DM Sans Bold"/>
                <a:cs typeface="DM Sans Bold"/>
                <a:sym typeface="DM Sans Bold"/>
              </a:rPr>
              <a:t xml:space="preserve">CT scan</a:t>
            </a:r>
          </a:p>
          <a:p>
            <a:pPr algn="l" marL="342900" indent="-228600">
              <a:lnSpc>
                <a:spcPct val="100000"/>
              </a:lnSpc>
              <a:spcAft>
                <a:spcPts val="150"/>
              </a:spcAft>
              <a:buFont typeface="Arial"/>
              <a:buChar char="•"/>
            </a:pPr>
            <a:r>
              <a:rPr lang="en-US" sz="1900" b="1">
                <a:solidFill>
                  <a:srgbClr val="1F1210"/>
                </a:solidFill>
                <a:latin typeface="DM Sans Bold"/>
                <a:ea typeface="DM Sans Bold"/>
                <a:cs typeface="DM Sans Bold"/>
                <a:sym typeface="DM Sans Bold"/>
              </a:rPr>
              <a:t xml:space="preserve">Most sensitive</a:t>
            </a:r>
            <a:r>
              <a:rPr lang="en-US" sz="1900">
                <a:solidFill>
                  <a:srgbClr val="1F1210"/>
                </a:solidFill>
                <a:latin typeface="DM Sans"/>
                <a:ea typeface="DM Sans"/>
                <a:cs typeface="DM Sans"/>
                <a:sym typeface="DM Sans"/>
              </a:rPr>
              <a:t xml:space="preserve">: occult PTX, rib fx</a:t>
            </a:r>
          </a:p>
          <a:p>
            <a:pPr algn="l" marL="342900" indent="-228600">
              <a:lnSpc>
                <a:spcPct val="100000"/>
              </a:lnSpc>
              <a:spcAft>
                <a:spcPts val="0"/>
              </a:spcAft>
              <a:buFont typeface="Arial"/>
              <a:buChar char="•"/>
            </a:pPr>
            <a:r>
              <a:rPr lang="en-US" sz="1900" b="1">
                <a:solidFill>
                  <a:srgbClr val="1F1210"/>
                </a:solidFill>
                <a:latin typeface="DM Sans Bold"/>
                <a:ea typeface="DM Sans Bold"/>
                <a:cs typeface="DM Sans Bold"/>
                <a:sym typeface="DM Sans Bold"/>
              </a:rPr>
              <a:t xml:space="preserve">Stable patients only</a:t>
            </a:r>
          </a:p>
        </p:txBody>
      </p:sp>
      <p:sp>
        <p:nvSpPr>
          <p:cNvPr id="915" name="Card 915"/>
          <p:cNvSpPr/>
          <p:nvPr/>
        </p:nvSpPr>
        <p:spPr>
          <a:xfrm>
            <a:off x="1216152" y="7863840"/>
            <a:ext cx="15846551" cy="868680"/>
          </a:xfrm>
          <a:prstGeom prst="roundRect">
            <a:avLst>
              <a:gd name="adj" fmla="val 20000"/>
            </a:avLst>
          </a:prstGeom>
          <a:solidFill>
            <a:srgbClr val="C42D29"/>
          </a:solidFill>
          <a:ln>
            <a:noFill/>
          </a:ln>
        </p:spPr>
        <p:txBody>
          <a:bodyPr/>
          <a:lstStyle/>
          <a:p>
            <a:endParaRPr lang="en-US"/>
          </a:p>
        </p:txBody>
      </p:sp>
      <p:sp>
        <p:nvSpPr>
          <p:cNvPr id="916" name="TextBox 916"/>
          <p:cNvSpPr txBox="1"/>
          <p:nvPr/>
        </p:nvSpPr>
        <p:spPr>
          <a:xfrm>
            <a:off x="1216152" y="7863840"/>
            <a:ext cx="15846551" cy="868680"/>
          </a:xfrm>
          <a:prstGeom prst="rect">
            <a:avLst/>
          </a:prstGeom>
          <a:noFill/>
        </p:spPr>
        <p:txBody>
          <a:bodyPr wrap="square" lIns="274320" tIns="274320" rIns="274320" bIns="274320" anchor="ctr"/>
          <a:lstStyle/>
          <a:p>
            <a:pPr algn="l">
              <a:lnSpc>
                <a:spcPct val="100000"/>
              </a:lnSpc>
              <a:spcAft>
                <a:spcPts val="0"/>
              </a:spcAft>
              <a:buNone/>
            </a:pPr>
            <a:r>
              <a:rPr lang="en-US" sz="2100" b="1">
                <a:solidFill>
                  <a:srgbClr val="FFFFFF"/>
                </a:solidFill>
                <a:latin typeface="DM Sans Bold"/>
                <a:ea typeface="DM Sans Bold"/>
                <a:cs typeface="DM Sans Bold"/>
                <a:sym typeface="DM Sans Bold"/>
              </a:rPr>
              <a:t xml:space="preserve">Key point: </a:t>
            </a:r>
            <a:r>
              <a:rPr lang="en-US" sz="2100">
                <a:solidFill>
                  <a:srgbClr val="FFFFFF"/>
                </a:solidFill>
                <a:latin typeface="DM Sans"/>
                <a:ea typeface="DM Sans"/>
                <a:cs typeface="DM Sans"/>
                <a:sym typeface="DM Sans"/>
              </a:rPr>
              <a:t xml:space="preserve">unstable patient → treat on clinical findings; </a:t>
            </a:r>
            <a:r>
              <a:rPr lang="en-US" sz="2100" b="1">
                <a:solidFill>
                  <a:srgbClr val="FFFFFF"/>
                </a:solidFill>
                <a:latin typeface="DM Sans Bold"/>
                <a:ea typeface="DM Sans Bold"/>
                <a:cs typeface="DM Sans Bold"/>
                <a:sym typeface="DM Sans Bold"/>
              </a:rPr>
              <a:t xml:space="preserve">do not wait for imaging</a:t>
            </a:r>
            <a:r>
              <a:rPr lang="en-US" sz="2100">
                <a:solidFill>
                  <a:srgbClr val="FFFFFF"/>
                </a:solidFill>
                <a:latin typeface="DM Sans"/>
                <a:ea typeface="DM Sans"/>
                <a:cs typeface="DM Sans"/>
                <a:sym typeface="DM Sans"/>
              </a:rPr>
              <a:t xml:space="preserve"> (e.g., tension PTX)</a:t>
            </a:r>
          </a:p>
        </p:txBody>
      </p:sp>
      <p:grpSp>
        <p:nvGrpSpPr>
          <p:cNvPr name="Group 31" id="31"/>
          <p:cNvGrpSpPr/>
          <p:nvPr/>
        </p:nvGrpSpPr>
        <p:grpSpPr>
          <a:xfrm rot="0">
            <a:off x="0" y="164592"/>
            <a:ext cx="754380" cy="384048"/>
            <a:chOff x="0" y="0"/>
            <a:chExt cx="1005840" cy="512064"/>
          </a:xfrm>
        </p:grpSpPr>
        <p:sp>
          <p:nvSpPr>
            <p:cNvPr name="Freeform 32" id="32"/>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3" id="33"/>
          <p:cNvGrpSpPr/>
          <p:nvPr/>
        </p:nvGrpSpPr>
        <p:grpSpPr>
          <a:xfrm rot="0">
            <a:off x="932688"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5" id="35"/>
          <p:cNvGrpSpPr/>
          <p:nvPr/>
        </p:nvGrpSpPr>
        <p:grpSpPr>
          <a:xfrm rot="0">
            <a:off x="1193292" y="288036"/>
            <a:ext cx="137160" cy="137160"/>
            <a:chOff x="0" y="0"/>
            <a:chExt cx="182880" cy="182880"/>
          </a:xfrm>
        </p:grpSpPr>
        <p:sp>
          <p:nvSpPr>
            <p:cNvPr name="Freeform 36" id="3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7" id="37"/>
          <p:cNvGrpSpPr/>
          <p:nvPr/>
        </p:nvGrpSpPr>
        <p:grpSpPr>
          <a:xfrm rot="0">
            <a:off x="1453896" y="288036"/>
            <a:ext cx="137160" cy="137160"/>
            <a:chOff x="0" y="0"/>
            <a:chExt cx="182880" cy="182880"/>
          </a:xfrm>
        </p:grpSpPr>
        <p:sp>
          <p:nvSpPr>
            <p:cNvPr name="Freeform 38" id="3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9" id="39"/>
          <p:cNvGrpSpPr/>
          <p:nvPr/>
        </p:nvGrpSpPr>
        <p:grpSpPr>
          <a:xfrm rot="0">
            <a:off x="1714500" y="288036"/>
            <a:ext cx="137160" cy="137160"/>
            <a:chOff x="0" y="0"/>
            <a:chExt cx="182880" cy="182880"/>
          </a:xfrm>
        </p:grpSpPr>
        <p:sp>
          <p:nvSpPr>
            <p:cNvPr name="Freeform 40" id="4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1" id="41"/>
          <p:cNvGrpSpPr/>
          <p:nvPr/>
        </p:nvGrpSpPr>
        <p:grpSpPr>
          <a:xfrm rot="0">
            <a:off x="1975104" y="288036"/>
            <a:ext cx="137160" cy="137160"/>
            <a:chOff x="0" y="0"/>
            <a:chExt cx="182880" cy="182880"/>
          </a:xfrm>
        </p:grpSpPr>
        <p:sp>
          <p:nvSpPr>
            <p:cNvPr name="Freeform 42" id="4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3" id="43"/>
          <p:cNvGrpSpPr/>
          <p:nvPr/>
        </p:nvGrpSpPr>
        <p:grpSpPr>
          <a:xfrm rot="0">
            <a:off x="2235708" y="288036"/>
            <a:ext cx="137160" cy="137160"/>
            <a:chOff x="0" y="0"/>
            <a:chExt cx="182880" cy="182880"/>
          </a:xfrm>
        </p:grpSpPr>
        <p:sp>
          <p:nvSpPr>
            <p:cNvPr name="Freeform 44" id="4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5" id="45"/>
          <p:cNvGrpSpPr/>
          <p:nvPr/>
        </p:nvGrpSpPr>
        <p:grpSpPr>
          <a:xfrm rot="0">
            <a:off x="2496312" y="288036"/>
            <a:ext cx="137160" cy="137160"/>
            <a:chOff x="0" y="0"/>
            <a:chExt cx="182880" cy="182880"/>
          </a:xfrm>
        </p:grpSpPr>
        <p:sp>
          <p:nvSpPr>
            <p:cNvPr name="Freeform 46" id="4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5-4. p. 68-77.</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47625"/>
              <a:ext cx="6858000" cy="1364361"/>
            </a:xfrm>
            <a:prstGeom prst="rect">
              <a:avLst/>
            </a:prstGeom>
          </p:spPr>
          <p:txBody>
            <a:bodyPr anchor="ctr" rtlCol="false" tIns="50800" lIns="50800" bIns="50800" rIns="50800"/>
            <a:lstStyle/>
            <a:p>
              <a:pPr algn="ctr">
                <a:lnSpc>
                  <a:spcPts val="3239"/>
                </a:lnSpc>
              </a:pPr>
              <a:r>
                <a:rPr lang="en-US" sz="2475" b="true">
                  <a:solidFill>
                    <a:srgbClr val="FFFFFF"/>
                  </a:solidFill>
                  <a:latin typeface="Droid Serif Bold"/>
                  <a:ea typeface="Droid Serif Bold"/>
                  <a:cs typeface="Droid Serif Bold"/>
                  <a:sym typeface="Droid Serif Bold"/>
                </a:rPr>
                <a:t>Simple &amp; Occult Pneumothorax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Pleural air</a:t>
              </a:r>
              <a:r>
                <a:rPr lang="en-US" sz="2100">
                  <a:solidFill>
                    <a:srgbClr val="E74B2F"/>
                  </a:solidFill>
                  <a:latin typeface="Droid Serif"/>
                  <a:ea typeface="Droid Serif"/>
                  <a:cs typeface="Droid Serif"/>
                  <a:sym typeface="Droid Serif"/>
                </a:rPr>
                <a:t> collapsing lung </a:t>
              </a:r>
              <a:r>
                <a:rPr lang="en-US" sz="2100" b="true">
                  <a:solidFill>
                    <a:srgbClr val="E74B2F"/>
                  </a:solidFill>
                  <a:latin typeface="Droid Serif Bold"/>
                  <a:ea typeface="Droid Serif Bold"/>
                  <a:cs typeface="Droid Serif Bold"/>
                  <a:sym typeface="Droid Serif Bold"/>
                </a:rPr>
                <a:t>without</a:t>
              </a:r>
              <a:r>
                <a:rPr lang="en-US" sz="2100">
                  <a:solidFill>
                    <a:srgbClr val="E74B2F"/>
                  </a:solidFill>
                  <a:latin typeface="Droid Serif"/>
                  <a:ea typeface="Droid Serif"/>
                  <a:cs typeface="Droid Serif"/>
                  <a:sym typeface="Droid Serif"/>
                </a:rPr>
                <a:t> mediastinal shift or hypotension</a:t>
              </a:r>
            </a:p>
          </p:txBody>
        </p:sp>
      </p:grpSp>
      <p:grpSp>
        <p:nvGrpSpPr>
          <p:cNvPr name="Group 12" id="12"/>
          <p:cNvGrpSpPr/>
          <p:nvPr/>
        </p:nvGrpSpPr>
        <p:grpSpPr>
          <a:xfrm rot="0">
            <a:off x="1591056" y="2270522"/>
            <a:ext cx="4210812" cy="2551176"/>
            <a:chOff x="0" y="0"/>
            <a:chExt cx="5614416" cy="3401568"/>
          </a:xfrm>
        </p:grpSpPr>
        <p:sp>
          <p:nvSpPr>
            <p:cNvPr name="Freeform 13" id="13"/>
            <p:cNvSpPr/>
            <p:nvPr/>
          </p:nvSpPr>
          <p:spPr>
            <a:xfrm flipH="false" flipV="false" rot="0">
              <a:off x="0" y="0"/>
              <a:ext cx="5614416" cy="3401568"/>
            </a:xfrm>
            <a:custGeom>
              <a:avLst/>
              <a:gdLst/>
              <a:ahLst/>
              <a:cxnLst/>
              <a:rect r="r" b="b" t="t" l="l"/>
              <a:pathLst>
                <a:path h="3401568" w="5614416">
                  <a:moveTo>
                    <a:pt x="0" y="266827"/>
                  </a:moveTo>
                  <a:cubicBezTo>
                    <a:pt x="0" y="119507"/>
                    <a:pt x="119507" y="0"/>
                    <a:pt x="266827" y="0"/>
                  </a:cubicBezTo>
                  <a:lnTo>
                    <a:pt x="5347589" y="0"/>
                  </a:lnTo>
                  <a:cubicBezTo>
                    <a:pt x="5494909" y="0"/>
                    <a:pt x="5614416" y="119507"/>
                    <a:pt x="5614416" y="266827"/>
                  </a:cubicBezTo>
                  <a:lnTo>
                    <a:pt x="5614416" y="3134741"/>
                  </a:lnTo>
                  <a:cubicBezTo>
                    <a:pt x="5614416" y="3282061"/>
                    <a:pt x="5494909" y="3401568"/>
                    <a:pt x="5347589"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1659636" y="2339102"/>
            <a:ext cx="4073652" cy="2414016"/>
            <a:chOff x="0" y="0"/>
            <a:chExt cx="5431536" cy="3218688"/>
          </a:xfrm>
        </p:grpSpPr>
        <p:sp>
          <p:nvSpPr>
            <p:cNvPr name="Freeform 15" id="15" descr="Diagram of a simple pneumothorax: air between visceral and parietal pleura with a collapsed lung"/>
            <p:cNvSpPr/>
            <p:nvPr/>
          </p:nvSpPr>
          <p:spPr>
            <a:xfrm flipH="false" flipV="false" rot="0">
              <a:off x="0" y="0"/>
              <a:ext cx="5431536" cy="3218688"/>
            </a:xfrm>
            <a:custGeom>
              <a:avLst/>
              <a:gdLst/>
              <a:ahLst/>
              <a:cxnLst/>
              <a:rect r="r" b="b" t="t" l="l"/>
              <a:pathLst>
                <a:path h="3218688" w="5431536">
                  <a:moveTo>
                    <a:pt x="0" y="0"/>
                  </a:moveTo>
                  <a:lnTo>
                    <a:pt x="5431536" y="0"/>
                  </a:lnTo>
                  <a:lnTo>
                    <a:pt x="5431536" y="3218688"/>
                  </a:lnTo>
                  <a:lnTo>
                    <a:pt x="0" y="3218688"/>
                  </a:lnTo>
                  <a:lnTo>
                    <a:pt x="0" y="0"/>
                  </a:lnTo>
                  <a:close/>
                </a:path>
              </a:pathLst>
            </a:custGeom>
            <a:blipFill>
              <a:blip r:embed="rId3"/>
              <a:stretch>
                <a:fillRect l="0" t="0" r="0" b="0"/>
              </a:stretch>
            </a:blipFill>
          </p:spPr>
        </p:sp>
      </p:grpSp>
      <p:sp>
        <p:nvSpPr>
          <p:cNvPr name="TextBox 16" id="16"/>
          <p:cNvSpPr txBox="true"/>
          <p:nvPr/>
        </p:nvSpPr>
        <p:spPr>
          <a:xfrm rot="0">
            <a:off x="1062990" y="483846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Air between the pleurae (Fig 5-4A)</a:t>
            </a:r>
          </a:p>
        </p:txBody>
      </p:sp>
      <p:grpSp>
        <p:nvGrpSpPr>
          <p:cNvPr name="Group 17" id="17"/>
          <p:cNvGrpSpPr/>
          <p:nvPr/>
        </p:nvGrpSpPr>
        <p:grpSpPr>
          <a:xfrm rot="0">
            <a:off x="2133171" y="5288042"/>
            <a:ext cx="3126572" cy="2551176"/>
            <a:chOff x="0" y="0"/>
            <a:chExt cx="4168762" cy="3401568"/>
          </a:xfrm>
        </p:grpSpPr>
        <p:sp>
          <p:nvSpPr>
            <p:cNvPr name="Freeform 18" id="18"/>
            <p:cNvSpPr/>
            <p:nvPr/>
          </p:nvSpPr>
          <p:spPr>
            <a:xfrm flipH="false" flipV="false" rot="0">
              <a:off x="0" y="0"/>
              <a:ext cx="4168775" cy="3401568"/>
            </a:xfrm>
            <a:custGeom>
              <a:avLst/>
              <a:gdLst/>
              <a:ahLst/>
              <a:cxnLst/>
              <a:rect r="r" b="b" t="t" l="l"/>
              <a:pathLst>
                <a:path h="3401568" w="4168775">
                  <a:moveTo>
                    <a:pt x="0" y="266827"/>
                  </a:moveTo>
                  <a:cubicBezTo>
                    <a:pt x="0" y="119507"/>
                    <a:pt x="119507" y="0"/>
                    <a:pt x="266827" y="0"/>
                  </a:cubicBezTo>
                  <a:lnTo>
                    <a:pt x="3901948" y="0"/>
                  </a:lnTo>
                  <a:cubicBezTo>
                    <a:pt x="4049268" y="0"/>
                    <a:pt x="4168775" y="119507"/>
                    <a:pt x="4168775" y="266827"/>
                  </a:cubicBezTo>
                  <a:lnTo>
                    <a:pt x="4168775" y="3134741"/>
                  </a:lnTo>
                  <a:cubicBezTo>
                    <a:pt x="4168775" y="3282061"/>
                    <a:pt x="4049268" y="3401568"/>
                    <a:pt x="3901948"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201751" y="5356622"/>
            <a:ext cx="2989412" cy="2414016"/>
            <a:chOff x="0" y="0"/>
            <a:chExt cx="3985882" cy="3218688"/>
          </a:xfrm>
        </p:grpSpPr>
        <p:sp>
          <p:nvSpPr>
            <p:cNvPr name="Freeform 20" id="20" descr="Chest X-ray of a near-complete right pneumothorax with an arrow at the lung edge"/>
            <p:cNvSpPr/>
            <p:nvPr/>
          </p:nvSpPr>
          <p:spPr>
            <a:xfrm flipH="false" flipV="false" rot="0">
              <a:off x="0" y="0"/>
              <a:ext cx="3985895" cy="3218688"/>
            </a:xfrm>
            <a:custGeom>
              <a:avLst/>
              <a:gdLst/>
              <a:ahLst/>
              <a:cxnLst/>
              <a:rect r="r" b="b" t="t" l="l"/>
              <a:pathLst>
                <a:path h="3218688" w="3985895">
                  <a:moveTo>
                    <a:pt x="0" y="0"/>
                  </a:moveTo>
                  <a:lnTo>
                    <a:pt x="3985895" y="0"/>
                  </a:lnTo>
                  <a:lnTo>
                    <a:pt x="3985895" y="3218688"/>
                  </a:lnTo>
                  <a:lnTo>
                    <a:pt x="0" y="3218688"/>
                  </a:lnTo>
                  <a:lnTo>
                    <a:pt x="0" y="0"/>
                  </a:lnTo>
                  <a:close/>
                </a:path>
              </a:pathLst>
            </a:custGeom>
            <a:blipFill>
              <a:blip r:embed="rId4"/>
              <a:stretch>
                <a:fillRect l="0" t="0" r="0" b="0"/>
              </a:stretch>
            </a:blipFill>
          </p:spPr>
        </p:sp>
      </p:grpSp>
      <p:sp>
        <p:nvSpPr>
          <p:cNvPr name="TextBox 21" id="21"/>
          <p:cNvSpPr txBox="true"/>
          <p:nvPr/>
        </p:nvSpPr>
        <p:spPr>
          <a:xfrm rot="0">
            <a:off x="1062990" y="785598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Near-complete right PTX, arrow = lung edge</a:t>
            </a:r>
          </a:p>
        </p:txBody>
      </p:sp>
      <p:grpSp>
        <p:nvGrpSpPr>
          <p:cNvPr name="Group 22" id="22"/>
          <p:cNvGrpSpPr/>
          <p:nvPr/>
        </p:nvGrpSpPr>
        <p:grpSpPr>
          <a:xfrm rot="0">
            <a:off x="6438900" y="2270522"/>
            <a:ext cx="10629900" cy="2448525"/>
            <a:chOff x="0" y="0"/>
            <a:chExt cx="14173200" cy="3264700"/>
          </a:xfrm>
        </p:grpSpPr>
        <p:sp>
          <p:nvSpPr>
            <p:cNvPr name="Freeform 23" id="23"/>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24" id="24"/>
          <p:cNvSpPr txBox="true"/>
          <p:nvPr/>
        </p:nvSpPr>
        <p:spPr>
          <a:xfrm rot="0">
            <a:off x="6705600" y="2422922"/>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5" id="25"/>
          <p:cNvSpPr txBox="true"/>
          <p:nvPr/>
        </p:nvSpPr>
        <p:spPr>
          <a:xfrm rot="0">
            <a:off x="6843141" y="2838155"/>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Dyspnea, ↓ breath sounds, crepitus</a:t>
            </a:r>
          </a:p>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Supine AP CXR</a:t>
            </a:r>
            <a:r>
              <a:rPr lang="en-US" sz="1950">
                <a:solidFill>
                  <a:srgbClr val="1F1210"/>
                </a:solidFill>
                <a:latin typeface="DM Sans"/>
                <a:ea typeface="DM Sans"/>
                <a:cs typeface="DM Sans"/>
                <a:sym typeface="DM Sans"/>
              </a:rPr>
              <a:t> can miss anterior PTX; </a:t>
            </a:r>
            <a:r>
              <a:rPr lang="en-US" sz="1950" b="true">
                <a:solidFill>
                  <a:srgbClr val="1F1210"/>
                </a:solidFill>
                <a:latin typeface="DM Sans Bold"/>
                <a:ea typeface="DM Sans Bold"/>
                <a:cs typeface="DM Sans Bold"/>
                <a:sym typeface="DM Sans Bold"/>
              </a:rPr>
              <a:t>subcutaneous air</a:t>
            </a:r>
            <a:r>
              <a:rPr lang="en-US" sz="1950">
                <a:solidFill>
                  <a:srgbClr val="1F1210"/>
                </a:solidFill>
                <a:latin typeface="DM Sans"/>
                <a:ea typeface="DM Sans"/>
                <a:cs typeface="DM Sans"/>
                <a:sym typeface="DM Sans"/>
              </a:rPr>
              <a:t> implies PTX</a:t>
            </a:r>
          </a:p>
          <a:p>
            <a:pPr algn="l" marL="352901" indent="-176451" lvl="1">
              <a:lnSpc>
                <a:spcPts val="2632"/>
              </a:lnSpc>
              <a:buFont typeface="Arial"/>
              <a:buChar char="•"/>
            </a:pPr>
            <a:r>
              <a:rPr lang="en-US" sz="1950" b="true">
                <a:solidFill>
                  <a:srgbClr val="1F1210"/>
                </a:solidFill>
                <a:latin typeface="DM Sans Bold"/>
                <a:ea typeface="DM Sans Bold"/>
                <a:cs typeface="DM Sans Bold"/>
                <a:sym typeface="DM Sans Bold"/>
              </a:rPr>
              <a:t>Occult PTX</a:t>
            </a:r>
            <a:r>
              <a:rPr lang="en-US" sz="1950">
                <a:solidFill>
                  <a:srgbClr val="1F1210"/>
                </a:solidFill>
                <a:latin typeface="DM Sans"/>
                <a:ea typeface="DM Sans"/>
                <a:cs typeface="DM Sans"/>
                <a:sym typeface="DM Sans"/>
              </a:rPr>
              <a:t>: seen only on </a:t>
            </a:r>
            <a:r>
              <a:rPr lang="en-US" sz="1950" b="true">
                <a:solidFill>
                  <a:srgbClr val="1F1210"/>
                </a:solidFill>
                <a:latin typeface="DM Sans Bold"/>
                <a:ea typeface="DM Sans Bold"/>
                <a:cs typeface="DM Sans Bold"/>
                <a:sym typeface="DM Sans Bold"/>
              </a:rPr>
              <a:t>CT scan</a:t>
            </a:r>
          </a:p>
        </p:txBody>
      </p:sp>
      <p:grpSp>
        <p:nvGrpSpPr>
          <p:cNvPr name="Group 26" id="26"/>
          <p:cNvGrpSpPr/>
          <p:nvPr/>
        </p:nvGrpSpPr>
        <p:grpSpPr>
          <a:xfrm rot="0">
            <a:off x="6438900" y="4871437"/>
            <a:ext cx="10629900" cy="2114255"/>
            <a:chOff x="0" y="0"/>
            <a:chExt cx="14173200" cy="2819006"/>
          </a:xfrm>
        </p:grpSpPr>
        <p:sp>
          <p:nvSpPr>
            <p:cNvPr name="Freeform 27" id="27"/>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8" id="28"/>
          <p:cNvSpPr txBox="true"/>
          <p:nvPr/>
        </p:nvSpPr>
        <p:spPr>
          <a:xfrm rot="0">
            <a:off x="6705600" y="5023837"/>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9" id="29"/>
          <p:cNvSpPr txBox="true"/>
          <p:nvPr/>
        </p:nvSpPr>
        <p:spPr>
          <a:xfrm rot="0">
            <a:off x="6843141" y="5439070"/>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Symptomatic or CXR-visible</a:t>
            </a:r>
            <a:r>
              <a:rPr lang="en-US" sz="1950">
                <a:solidFill>
                  <a:srgbClr val="FFFFFF"/>
                </a:solidFill>
                <a:latin typeface="DM Sans"/>
                <a:ea typeface="DM Sans"/>
                <a:cs typeface="DM Sans"/>
                <a:sym typeface="DM Sans"/>
              </a:rPr>
              <a:t> → </a:t>
            </a:r>
            <a:r>
              <a:rPr lang="en-US" sz="1950" b="true">
                <a:solidFill>
                  <a:srgbClr val="FFFFFF"/>
                </a:solidFill>
                <a:latin typeface="DM Sans Bold"/>
                <a:ea typeface="DM Sans Bold"/>
                <a:cs typeface="DM Sans Bold"/>
                <a:sym typeface="DM Sans Bold"/>
              </a:rPr>
              <a:t>14 Fr chest tube</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Asymptomatic &lt; 3.5 cm on CT</a:t>
            </a:r>
            <a:r>
              <a:rPr lang="en-US" sz="1950">
                <a:solidFill>
                  <a:srgbClr val="FFFFFF"/>
                </a:solidFill>
                <a:latin typeface="DM Sans"/>
                <a:ea typeface="DM Sans"/>
                <a:cs typeface="DM Sans"/>
                <a:sym typeface="DM Sans"/>
              </a:rPr>
              <a:t> → may </a:t>
            </a:r>
            <a:r>
              <a:rPr lang="en-US" sz="1950" b="true">
                <a:solidFill>
                  <a:srgbClr val="FFFFFF"/>
                </a:solidFill>
                <a:latin typeface="DM Sans Bold"/>
                <a:ea typeface="DM Sans Bold"/>
                <a:cs typeface="DM Sans Bold"/>
                <a:sym typeface="DM Sans Bold"/>
              </a:rPr>
              <a:t>observe</a:t>
            </a:r>
            <a:r>
              <a:rPr lang="en-US" sz="1950">
                <a:solidFill>
                  <a:srgbClr val="FFFFFF"/>
                </a:solidFill>
                <a:latin typeface="DM Sans"/>
                <a:ea typeface="DM Sans"/>
                <a:cs typeface="DM Sans"/>
                <a:sym typeface="DM Sans"/>
              </a:rPr>
              <a:t> (if no PPV or hemothorax)</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Place chest tube</a:t>
            </a:r>
            <a:r>
              <a:rPr lang="en-US" sz="1950">
                <a:solidFill>
                  <a:srgbClr val="FFFFFF"/>
                </a:solidFill>
                <a:latin typeface="DM Sans"/>
                <a:ea typeface="DM Sans"/>
                <a:cs typeface="DM Sans"/>
                <a:sym typeface="DM Sans"/>
              </a:rPr>
              <a:t> if enlarging, starting </a:t>
            </a:r>
            <a:r>
              <a:rPr lang="en-US" sz="1950" b="true">
                <a:solidFill>
                  <a:srgbClr val="FFFFFF"/>
                </a:solidFill>
                <a:latin typeface="DM Sans Bold"/>
                <a:ea typeface="DM Sans Bold"/>
                <a:cs typeface="DM Sans Bold"/>
                <a:sym typeface="DM Sans Bold"/>
              </a:rPr>
              <a:t>PPV</a:t>
            </a:r>
            <a:r>
              <a:rPr lang="en-US" sz="1950">
                <a:solidFill>
                  <a:srgbClr val="FFFFFF"/>
                </a:solidFill>
                <a:latin typeface="DM Sans"/>
                <a:ea typeface="DM Sans"/>
                <a:cs typeface="DM Sans"/>
                <a:sym typeface="DM Sans"/>
              </a:rPr>
              <a:t>, or before </a:t>
            </a:r>
            <a:r>
              <a:rPr lang="en-US" sz="1950" b="true">
                <a:solidFill>
                  <a:srgbClr val="FFFFFF"/>
                </a:solidFill>
                <a:latin typeface="DM Sans Bold"/>
                <a:ea typeface="DM Sans Bold"/>
                <a:cs typeface="DM Sans Bold"/>
                <a:sym typeface="DM Sans Bold"/>
              </a:rPr>
              <a:t>air transfer</a:t>
            </a:r>
          </a:p>
        </p:txBody>
      </p:sp>
      <p:sp>
        <p:nvSpPr>
          <p:cNvPr id="917" name="Card 917"/>
          <p:cNvSpPr/>
          <p:nvPr/>
        </p:nvSpPr>
        <p:spPr>
          <a:xfrm>
            <a:off x="6437376" y="7178040"/>
            <a:ext cx="10625328" cy="1417320"/>
          </a:xfrm>
          <a:prstGeom prst="roundRect">
            <a:avLst>
              <a:gd name="adj" fmla="val 12000"/>
            </a:avLst>
          </a:prstGeom>
          <a:solidFill>
            <a:srgbClr val="FFE0D9"/>
          </a:solidFill>
          <a:ln>
            <a:noFill/>
          </a:ln>
        </p:spPr>
        <p:txBody>
          <a:bodyPr/>
          <a:lstStyle/>
          <a:p>
            <a:endParaRPr lang="en-US"/>
          </a:p>
        </p:txBody>
      </p:sp>
      <p:sp>
        <p:nvSpPr>
          <p:cNvPr id="918" name="TextBox 918"/>
          <p:cNvSpPr txBox="1"/>
          <p:nvPr/>
        </p:nvSpPr>
        <p:spPr>
          <a:xfrm>
            <a:off x="6437376" y="7178040"/>
            <a:ext cx="10625328" cy="1417320"/>
          </a:xfrm>
          <a:prstGeom prst="rect">
            <a:avLst/>
          </a:prstGeom>
          <a:noFill/>
        </p:spPr>
        <p:txBody>
          <a:bodyPr wrap="square" lIns="228600" tIns="228600" rIns="228600" bIns="228600" anchor="ctr"/>
          <a:lstStyle/>
          <a:p>
            <a:pPr algn="l">
              <a:lnSpc>
                <a:spcPct val="100000"/>
              </a:lnSpc>
              <a:spcAft>
                <a:spcPts val="200"/>
              </a:spcAft>
              <a:buNone/>
            </a:pPr>
            <a:r>
              <a:rPr lang="en-US" sz="2000" b="1">
                <a:solidFill>
                  <a:srgbClr val="C42D29"/>
                </a:solidFill>
                <a:latin typeface="DM Sans Bold"/>
                <a:ea typeface="DM Sans Bold"/>
                <a:cs typeface="DM Sans Bold"/>
                <a:sym typeface="DM Sans Bold"/>
              </a:rPr>
              <a:t xml:space="preserve">⚠ Positive-pressure ventilation</a:t>
            </a:r>
            <a:r>
              <a:rPr lang="en-US" sz="2000">
                <a:solidFill>
                  <a:srgbClr val="C42D29"/>
                </a:solidFill>
                <a:latin typeface="DM Sans"/>
                <a:ea typeface="DM Sans"/>
                <a:cs typeface="DM Sans"/>
                <a:sym typeface="DM Sans"/>
              </a:rPr>
              <a:t xml:space="preserve"> (bagging / ventilator) can rapidly convert </a:t>
            </a:r>
            <a:r>
              <a:rPr lang="en-US" sz="2000" b="1">
                <a:solidFill>
                  <a:srgbClr val="C42D29"/>
                </a:solidFill>
                <a:latin typeface="DM Sans Bold"/>
                <a:ea typeface="DM Sans Bold"/>
                <a:cs typeface="DM Sans Bold"/>
                <a:sym typeface="DM Sans Bold"/>
              </a:rPr>
              <a:t xml:space="preserve">simple → tension PTX</a:t>
            </a:r>
          </a:p>
          <a:p>
            <a:pPr algn="l">
              <a:lnSpc>
                <a:spcPct val="100000"/>
              </a:lnSpc>
              <a:spcAft>
                <a:spcPts val="0"/>
              </a:spcAft>
              <a:buNone/>
            </a:pPr>
            <a:r>
              <a:rPr lang="en-US" sz="1800">
                <a:solidFill>
                  <a:srgbClr val="1F1210"/>
                </a:solidFill>
                <a:latin typeface="DM Sans"/>
                <a:ea typeface="DM Sans"/>
                <a:cs typeface="DM Sans"/>
                <a:sym typeface="DM Sans"/>
              </a:rPr>
              <a:t xml:space="preserve">PTX found in up to </a:t>
            </a:r>
            <a:r>
              <a:rPr lang="en-US" sz="1800" b="1">
                <a:solidFill>
                  <a:srgbClr val="1F1210"/>
                </a:solidFill>
                <a:latin typeface="DM Sans Bold"/>
                <a:ea typeface="DM Sans Bold"/>
                <a:cs typeface="DM Sans Bold"/>
                <a:sym typeface="DM Sans Bold"/>
              </a:rPr>
              <a:t xml:space="preserve">19%</a:t>
            </a:r>
            <a:r>
              <a:rPr lang="en-US" sz="1800">
                <a:solidFill>
                  <a:srgbClr val="1F1210"/>
                </a:solidFill>
                <a:latin typeface="DM Sans"/>
                <a:ea typeface="DM Sans"/>
                <a:cs typeface="DM Sans"/>
                <a:sym typeface="DM Sans"/>
              </a:rPr>
              <a:t xml:space="preserve"> of patients who die from blunt trauma</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Figures 5-5 and 5-11. p. 68-75.</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Tension Pneumothorax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One-way valve</a:t>
              </a:r>
              <a:r>
                <a:rPr lang="en-US" sz="2100">
                  <a:solidFill>
                    <a:srgbClr val="E74B2F"/>
                  </a:solidFill>
                  <a:latin typeface="Droid Serif"/>
                  <a:ea typeface="Droid Serif"/>
                  <a:cs typeface="Droid Serif"/>
                  <a:sym typeface="Droid Serif"/>
                </a:rPr>
                <a:t> air trapping → mediastinal shift &amp; </a:t>
              </a:r>
              <a:r>
                <a:rPr lang="en-US" sz="2100" b="true">
                  <a:solidFill>
                    <a:srgbClr val="E74B2F"/>
                  </a:solidFill>
                  <a:latin typeface="Droid Serif Bold"/>
                  <a:ea typeface="Droid Serif Bold"/>
                  <a:cs typeface="Droid Serif Bold"/>
                  <a:sym typeface="Droid Serif Bold"/>
                </a:rPr>
                <a:t>obstructive shock</a:t>
              </a:r>
            </a:p>
          </p:txBody>
        </p:sp>
      </p:grpSp>
      <p:grpSp>
        <p:nvGrpSpPr>
          <p:cNvPr name="Group 12" id="12"/>
          <p:cNvGrpSpPr/>
          <p:nvPr/>
        </p:nvGrpSpPr>
        <p:grpSpPr>
          <a:xfrm rot="0">
            <a:off x="2402700" y="2219325"/>
            <a:ext cx="2587523" cy="2551176"/>
            <a:chOff x="0" y="0"/>
            <a:chExt cx="3450031" cy="3401568"/>
          </a:xfrm>
        </p:grpSpPr>
        <p:sp>
          <p:nvSpPr>
            <p:cNvPr name="Freeform 13" id="13"/>
            <p:cNvSpPr/>
            <p:nvPr/>
          </p:nvSpPr>
          <p:spPr>
            <a:xfrm flipH="false" flipV="false" rot="0">
              <a:off x="0" y="0"/>
              <a:ext cx="3450082" cy="3401568"/>
            </a:xfrm>
            <a:custGeom>
              <a:avLst/>
              <a:gdLst/>
              <a:ahLst/>
              <a:cxnLst/>
              <a:rect r="r" b="b" t="t" l="l"/>
              <a:pathLst>
                <a:path h="3401568" w="3450082">
                  <a:moveTo>
                    <a:pt x="0" y="266827"/>
                  </a:moveTo>
                  <a:cubicBezTo>
                    <a:pt x="0" y="119507"/>
                    <a:pt x="119507" y="0"/>
                    <a:pt x="266827" y="0"/>
                  </a:cubicBezTo>
                  <a:lnTo>
                    <a:pt x="3183255" y="0"/>
                  </a:lnTo>
                  <a:cubicBezTo>
                    <a:pt x="3330575" y="0"/>
                    <a:pt x="3450082" y="119507"/>
                    <a:pt x="3450082" y="266827"/>
                  </a:cubicBezTo>
                  <a:lnTo>
                    <a:pt x="3450082" y="3134741"/>
                  </a:lnTo>
                  <a:cubicBezTo>
                    <a:pt x="3450082" y="3282061"/>
                    <a:pt x="3330575" y="3401568"/>
                    <a:pt x="3183255"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2471280" y="2287905"/>
            <a:ext cx="2450363" cy="2414016"/>
            <a:chOff x="0" y="0"/>
            <a:chExt cx="3267151" cy="3218688"/>
          </a:xfrm>
        </p:grpSpPr>
        <p:sp>
          <p:nvSpPr>
            <p:cNvPr name="Freeform 15" id="15" descr="Chest X-ray of a right tension pneumothorax with the trachea pushed to the left"/>
            <p:cNvSpPr/>
            <p:nvPr/>
          </p:nvSpPr>
          <p:spPr>
            <a:xfrm flipH="false" flipV="false" rot="0">
              <a:off x="0" y="0"/>
              <a:ext cx="3267202" cy="3218688"/>
            </a:xfrm>
            <a:custGeom>
              <a:avLst/>
              <a:gdLst/>
              <a:ahLst/>
              <a:cxnLst/>
              <a:rect r="r" b="b" t="t" l="l"/>
              <a:pathLst>
                <a:path h="3218688" w="3267202">
                  <a:moveTo>
                    <a:pt x="0" y="0"/>
                  </a:moveTo>
                  <a:lnTo>
                    <a:pt x="3267202" y="0"/>
                  </a:lnTo>
                  <a:lnTo>
                    <a:pt x="3267202" y="3218688"/>
                  </a:lnTo>
                  <a:lnTo>
                    <a:pt x="0" y="3218688"/>
                  </a:lnTo>
                  <a:lnTo>
                    <a:pt x="0" y="0"/>
                  </a:lnTo>
                  <a:close/>
                </a:path>
              </a:pathLst>
            </a:custGeom>
            <a:blipFill>
              <a:blip r:embed="rId3"/>
              <a:stretch>
                <a:fillRect l="0" t="0" r="1" b="0"/>
              </a:stretch>
            </a:blipFill>
          </p:spPr>
        </p:sp>
      </p:grpSp>
      <p:sp>
        <p:nvSpPr>
          <p:cNvPr name="TextBox 16" id="16"/>
          <p:cNvSpPr txBox="true"/>
          <p:nvPr/>
        </p:nvSpPr>
        <p:spPr>
          <a:xfrm rot="0">
            <a:off x="1062990" y="4787265"/>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Right tension PTX, trachea pushed left (Fig 5-5B)</a:t>
            </a:r>
          </a:p>
        </p:txBody>
      </p:sp>
      <p:grpSp>
        <p:nvGrpSpPr>
          <p:cNvPr name="Group 17" id="17"/>
          <p:cNvGrpSpPr/>
          <p:nvPr/>
        </p:nvGrpSpPr>
        <p:grpSpPr>
          <a:xfrm rot="0">
            <a:off x="2170157" y="5236845"/>
            <a:ext cx="3052610" cy="2551176"/>
            <a:chOff x="0" y="0"/>
            <a:chExt cx="4070147" cy="3401568"/>
          </a:xfrm>
        </p:grpSpPr>
        <p:sp>
          <p:nvSpPr>
            <p:cNvPr name="Freeform 18" id="18"/>
            <p:cNvSpPr/>
            <p:nvPr/>
          </p:nvSpPr>
          <p:spPr>
            <a:xfrm flipH="false" flipV="false" rot="0">
              <a:off x="0" y="0"/>
              <a:ext cx="4070223" cy="3401568"/>
            </a:xfrm>
            <a:custGeom>
              <a:avLst/>
              <a:gdLst/>
              <a:ahLst/>
              <a:cxnLst/>
              <a:rect r="r" b="b" t="t" l="l"/>
              <a:pathLst>
                <a:path h="3401568" w="4070223">
                  <a:moveTo>
                    <a:pt x="0" y="266827"/>
                  </a:moveTo>
                  <a:cubicBezTo>
                    <a:pt x="0" y="119507"/>
                    <a:pt x="119507" y="0"/>
                    <a:pt x="266827" y="0"/>
                  </a:cubicBezTo>
                  <a:lnTo>
                    <a:pt x="3803396" y="0"/>
                  </a:lnTo>
                  <a:cubicBezTo>
                    <a:pt x="3950716" y="0"/>
                    <a:pt x="4070223" y="119507"/>
                    <a:pt x="4070223" y="266827"/>
                  </a:cubicBezTo>
                  <a:lnTo>
                    <a:pt x="4070223" y="3134741"/>
                  </a:lnTo>
                  <a:cubicBezTo>
                    <a:pt x="4070223" y="3282061"/>
                    <a:pt x="3950716" y="3401568"/>
                    <a:pt x="3803396"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238737" y="5305425"/>
            <a:ext cx="2915450" cy="2414016"/>
            <a:chOff x="0" y="0"/>
            <a:chExt cx="3887267" cy="3218688"/>
          </a:xfrm>
        </p:grpSpPr>
        <p:sp>
          <p:nvSpPr>
            <p:cNvPr name="Freeform 20" id="20" descr="Two needle decompression sites: 2nd ICS midclavicular line and 5th ICS between anterior and mid-axillary lines"/>
            <p:cNvSpPr/>
            <p:nvPr/>
          </p:nvSpPr>
          <p:spPr>
            <a:xfrm flipH="false" flipV="false" rot="0">
              <a:off x="0" y="0"/>
              <a:ext cx="3887216" cy="3218688"/>
            </a:xfrm>
            <a:custGeom>
              <a:avLst/>
              <a:gdLst/>
              <a:ahLst/>
              <a:cxnLst/>
              <a:rect r="r" b="b" t="t" l="l"/>
              <a:pathLst>
                <a:path h="3218688" w="3887216">
                  <a:moveTo>
                    <a:pt x="0" y="0"/>
                  </a:moveTo>
                  <a:lnTo>
                    <a:pt x="3887216" y="0"/>
                  </a:lnTo>
                  <a:lnTo>
                    <a:pt x="3887216" y="3218688"/>
                  </a:lnTo>
                  <a:lnTo>
                    <a:pt x="0" y="3218688"/>
                  </a:lnTo>
                  <a:lnTo>
                    <a:pt x="0" y="0"/>
                  </a:lnTo>
                  <a:close/>
                </a:path>
              </a:pathLst>
            </a:custGeom>
            <a:blipFill>
              <a:blip r:embed="rId4"/>
              <a:stretch>
                <a:fillRect l="0" t="0" r="-1" b="0"/>
              </a:stretch>
            </a:blipFill>
          </p:spPr>
        </p:sp>
      </p:grpSp>
      <p:sp>
        <p:nvSpPr>
          <p:cNvPr name="TextBox 21" id="21"/>
          <p:cNvSpPr txBox="true"/>
          <p:nvPr/>
        </p:nvSpPr>
        <p:spPr>
          <a:xfrm rot="0">
            <a:off x="1062990" y="7795260"/>
            <a:ext cx="5266944" cy="486537"/>
          </a:xfrm>
          <a:prstGeom prst="rect">
            <a:avLst/>
          </a:prstGeom>
        </p:spPr>
        <p:txBody>
          <a:bodyPr anchor="t" rtlCol="false" tIns="0" lIns="0" bIns="0" rIns="0">
            <a:spAutoFit/>
          </a:bodyPr>
          <a:lstStyle/>
          <a:p>
            <a:pPr algn="ctr">
              <a:lnSpc>
                <a:spcPts val="2520"/>
              </a:lnSpc>
            </a:pPr>
            <a:r>
              <a:rPr lang="en-US" sz="1800">
                <a:solidFill>
                  <a:srgbClr val="6E3B33"/>
                </a:solidFill>
                <a:latin typeface="Lato"/>
                <a:ea typeface="Lato"/>
                <a:cs typeface="Lato"/>
                <a:sym typeface="Lato"/>
              </a:rPr>
              <a:t>★ Needle decompression sites (Fig 5-11)</a:t>
            </a:r>
          </a:p>
        </p:txBody>
      </p:sp>
      <p:grpSp>
        <p:nvGrpSpPr>
          <p:cNvPr name="Group 22" id="22"/>
          <p:cNvGrpSpPr/>
          <p:nvPr/>
        </p:nvGrpSpPr>
        <p:grpSpPr>
          <a:xfrm rot="0">
            <a:off x="6438900" y="2219325"/>
            <a:ext cx="10629900" cy="2448525"/>
            <a:chOff x="0" y="0"/>
            <a:chExt cx="14173200" cy="3264700"/>
          </a:xfrm>
        </p:grpSpPr>
        <p:sp>
          <p:nvSpPr>
            <p:cNvPr name="Freeform 23" id="23"/>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24" id="24"/>
          <p:cNvSpPr txBox="true"/>
          <p:nvPr/>
        </p:nvSpPr>
        <p:spPr>
          <a:xfrm rot="0">
            <a:off x="6705600" y="2371725"/>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 — clinical, do not wait for CXR or US</a:t>
            </a:r>
          </a:p>
        </p:txBody>
      </p:sp>
      <p:sp>
        <p:nvSpPr>
          <p:cNvPr name="TextBox 25" id="25"/>
          <p:cNvSpPr txBox="true"/>
          <p:nvPr/>
        </p:nvSpPr>
        <p:spPr>
          <a:xfrm rot="0">
            <a:off x="6843141" y="2786958"/>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Mechanism + </a:t>
            </a:r>
            <a:r>
              <a:rPr lang="en-US" sz="1950" b="true">
                <a:solidFill>
                  <a:srgbClr val="1F1210"/>
                </a:solidFill>
                <a:latin typeface="DM Sans Bold"/>
                <a:ea typeface="DM Sans Bold"/>
                <a:cs typeface="DM Sans Bold"/>
                <a:sym typeface="DM Sans Bold"/>
              </a:rPr>
              <a:t>absent breath sounds</a:t>
            </a:r>
            <a:r>
              <a:rPr lang="en-US" sz="1950">
                <a:solidFill>
                  <a:srgbClr val="1F1210"/>
                </a:solidFill>
                <a:latin typeface="DM Sans"/>
                <a:ea typeface="DM Sans"/>
                <a:cs typeface="DM Sans"/>
                <a:sym typeface="DM Sans"/>
              </a:rPr>
              <a:t> + </a:t>
            </a:r>
            <a:r>
              <a:rPr lang="en-US" sz="1950" b="true">
                <a:solidFill>
                  <a:srgbClr val="1F1210"/>
                </a:solidFill>
                <a:latin typeface="DM Sans Bold"/>
                <a:ea typeface="DM Sans Bold"/>
                <a:cs typeface="DM Sans Bold"/>
                <a:sym typeface="DM Sans Bold"/>
              </a:rPr>
              <a:t>hypotension</a:t>
            </a:r>
          </a:p>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Distended neck veins</a:t>
            </a:r>
            <a:r>
              <a:rPr lang="en-US" sz="1950">
                <a:solidFill>
                  <a:srgbClr val="1F1210"/>
                </a:solidFill>
                <a:latin typeface="DM Sans"/>
                <a:ea typeface="DM Sans"/>
                <a:cs typeface="DM Sans"/>
                <a:sym typeface="DM Sans"/>
              </a:rPr>
              <a:t> (may be absent in concurrent shock)</a:t>
            </a:r>
          </a:p>
          <a:p>
            <a:pPr algn="l" marL="352901" indent="-176451" lvl="1">
              <a:lnSpc>
                <a:spcPts val="2632"/>
              </a:lnSpc>
              <a:buFont typeface="Arial"/>
              <a:buChar char="•"/>
            </a:pPr>
            <a:r>
              <a:rPr lang="en-US" sz="1950" b="true">
                <a:solidFill>
                  <a:srgbClr val="1F1210"/>
                </a:solidFill>
                <a:latin typeface="DM Sans Bold"/>
                <a:ea typeface="DM Sans Bold"/>
                <a:cs typeface="DM Sans Bold"/>
                <a:sym typeface="DM Sans Bold"/>
              </a:rPr>
              <a:t>Tracheal shift away</a:t>
            </a:r>
            <a:r>
              <a:rPr lang="en-US" sz="1950">
                <a:solidFill>
                  <a:srgbClr val="1F1210"/>
                </a:solidFill>
                <a:latin typeface="DM Sans"/>
                <a:ea typeface="DM Sans"/>
                <a:cs typeface="DM Sans"/>
                <a:sym typeface="DM Sans"/>
              </a:rPr>
              <a:t> (subtle or late sign)</a:t>
            </a:r>
          </a:p>
        </p:txBody>
      </p:sp>
      <p:grpSp>
        <p:nvGrpSpPr>
          <p:cNvPr name="Group 26" id="26"/>
          <p:cNvGrpSpPr/>
          <p:nvPr/>
        </p:nvGrpSpPr>
        <p:grpSpPr>
          <a:xfrm rot="0">
            <a:off x="6438900" y="4820250"/>
            <a:ext cx="10629900" cy="3117056"/>
            <a:chOff x="0" y="0"/>
            <a:chExt cx="14173200" cy="4156075"/>
          </a:xfrm>
        </p:grpSpPr>
        <p:sp>
          <p:nvSpPr>
            <p:cNvPr name="Freeform 27" id="27"/>
            <p:cNvSpPr/>
            <p:nvPr/>
          </p:nvSpPr>
          <p:spPr>
            <a:xfrm flipH="false" flipV="false" rot="0">
              <a:off x="0" y="0"/>
              <a:ext cx="14173200" cy="4156075"/>
            </a:xfrm>
            <a:custGeom>
              <a:avLst/>
              <a:gdLst/>
              <a:ahLst/>
              <a:cxnLst/>
              <a:rect r="r" b="b" t="t" l="l"/>
              <a:pathLst>
                <a:path h="4156075" w="14173200">
                  <a:moveTo>
                    <a:pt x="0" y="304800"/>
                  </a:moveTo>
                  <a:cubicBezTo>
                    <a:pt x="0" y="136525"/>
                    <a:pt x="136525" y="0"/>
                    <a:pt x="304800" y="0"/>
                  </a:cubicBezTo>
                  <a:lnTo>
                    <a:pt x="13868400" y="0"/>
                  </a:lnTo>
                  <a:cubicBezTo>
                    <a:pt x="14036802" y="0"/>
                    <a:pt x="14173200" y="136525"/>
                    <a:pt x="14173200" y="304800"/>
                  </a:cubicBezTo>
                  <a:lnTo>
                    <a:pt x="14173200" y="3851275"/>
                  </a:lnTo>
                  <a:cubicBezTo>
                    <a:pt x="14173200" y="4019677"/>
                    <a:pt x="14036675" y="4156075"/>
                    <a:pt x="13868400" y="4156075"/>
                  </a:cubicBezTo>
                  <a:lnTo>
                    <a:pt x="304800" y="4156075"/>
                  </a:lnTo>
                  <a:cubicBezTo>
                    <a:pt x="136398" y="4156075"/>
                    <a:pt x="0" y="4019550"/>
                    <a:pt x="0" y="3851275"/>
                  </a:cubicBezTo>
                  <a:close/>
                </a:path>
              </a:pathLst>
            </a:custGeom>
            <a:solidFill>
              <a:srgbClr val="C42D29"/>
            </a:solidFill>
          </p:spPr>
        </p:sp>
      </p:grpSp>
      <p:sp>
        <p:nvSpPr>
          <p:cNvPr name="TextBox 28" id="28"/>
          <p:cNvSpPr txBox="true"/>
          <p:nvPr/>
        </p:nvSpPr>
        <p:spPr>
          <a:xfrm rot="0">
            <a:off x="6705600" y="4972650"/>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 — decompress now</a:t>
            </a:r>
          </a:p>
        </p:txBody>
      </p:sp>
      <p:sp>
        <p:nvSpPr>
          <p:cNvPr name="TextBox 29" id="29"/>
          <p:cNvSpPr txBox="true"/>
          <p:nvPr/>
        </p:nvSpPr>
        <p:spPr>
          <a:xfrm rot="0">
            <a:off x="6843141" y="5387873"/>
            <a:ext cx="10250424" cy="239702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Supplemental O₂</a:t>
            </a:r>
            <a:r>
              <a:rPr lang="en-US" sz="1950">
                <a:solidFill>
                  <a:srgbClr val="FFFFFF"/>
                </a:solidFill>
                <a:latin typeface="DM Sans"/>
                <a:ea typeface="DM Sans"/>
                <a:cs typeface="DM Sans"/>
                <a:sym typeface="DM Sans"/>
              </a:rPr>
              <a:t> &amp; immediate decompression</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Needle (≥ 14 G)</a:t>
            </a:r>
            <a:r>
              <a:rPr lang="en-US" sz="1950">
                <a:solidFill>
                  <a:srgbClr val="FFFFFF"/>
                </a:solidFill>
                <a:latin typeface="DM Sans"/>
                <a:ea typeface="DM Sans"/>
                <a:cs typeface="DM Sans"/>
                <a:sym typeface="DM Sans"/>
              </a:rPr>
              <a:t>: </a:t>
            </a:r>
            <a:r>
              <a:rPr lang="en-US" sz="1950" b="true">
                <a:solidFill>
                  <a:srgbClr val="FFFFFF"/>
                </a:solidFill>
                <a:latin typeface="DM Sans Bold"/>
                <a:ea typeface="DM Sans Bold"/>
                <a:cs typeface="DM Sans Bold"/>
                <a:sym typeface="DM Sans Bold"/>
              </a:rPr>
              <a:t>5th ICS AAL–MAL (IMF)</a:t>
            </a:r>
            <a:r>
              <a:rPr lang="en-US" sz="1950">
                <a:solidFill>
                  <a:srgbClr val="FFFFFF"/>
                </a:solidFill>
                <a:latin typeface="DM Sans"/>
                <a:ea typeface="DM Sans"/>
                <a:cs typeface="DM Sans"/>
                <a:sym typeface="DM Sans"/>
              </a:rPr>
              <a:t> or </a:t>
            </a:r>
            <a:r>
              <a:rPr lang="en-US" sz="1950" b="true">
                <a:solidFill>
                  <a:srgbClr val="FFFFFF"/>
                </a:solidFill>
                <a:latin typeface="DM Sans Bold"/>
                <a:ea typeface="DM Sans Bold"/>
                <a:cs typeface="DM Sans Bold"/>
                <a:sym typeface="DM Sans Bold"/>
              </a:rPr>
              <a:t>2nd ICS MCL</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Finger thoracostomy</a:t>
            </a:r>
            <a:r>
              <a:rPr lang="en-US" sz="1950">
                <a:solidFill>
                  <a:srgbClr val="FFFFFF"/>
                </a:solidFill>
                <a:latin typeface="DM Sans"/>
                <a:ea typeface="DM Sans"/>
                <a:cs typeface="DM Sans"/>
                <a:sym typeface="DM Sans"/>
              </a:rPr>
              <a:t>: 5th ICS AAL–MAL (if obese / thick chest wall)</a:t>
            </a:r>
          </a:p>
          <a:p>
            <a:pPr algn="l" marL="352901" indent="-176451" lvl="1">
              <a:lnSpc>
                <a:spcPts val="2632"/>
              </a:lnSpc>
              <a:buFont typeface="Arial"/>
              <a:buChar char="•"/>
            </a:pPr>
            <a:r>
              <a:rPr lang="en-US" sz="1950">
                <a:solidFill>
                  <a:srgbClr val="FFFFFF"/>
                </a:solidFill>
                <a:latin typeface="DM Sans"/>
                <a:ea typeface="DM Sans"/>
                <a:cs typeface="DM Sans"/>
                <a:sym typeface="DM Sans"/>
              </a:rPr>
              <a:t>Definitive: </a:t>
            </a:r>
            <a:r>
              <a:rPr lang="en-US" sz="1950" b="true">
                <a:solidFill>
                  <a:srgbClr val="FFFFFF"/>
                </a:solidFill>
                <a:latin typeface="DM Sans Bold"/>
                <a:ea typeface="DM Sans Bold"/>
                <a:cs typeface="DM Sans Bold"/>
                <a:sym typeface="DM Sans Bold"/>
              </a:rPr>
              <a:t>tube thoracostomy (14 Fr)</a:t>
            </a:r>
            <a:r>
              <a:rPr lang="en-US" sz="1950">
                <a:solidFill>
                  <a:srgbClr val="FFFFFF"/>
                </a:solidFill>
                <a:latin typeface="DM Sans"/>
                <a:ea typeface="DM Sans"/>
                <a:cs typeface="DM Sans"/>
                <a:sym typeface="DM Sans"/>
              </a:rPr>
              <a:t> — tension can recur</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Figures 5-6 and 5-12. p. 69-76.</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Open Pneumothorax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Sucking chest wound</a:t>
              </a:r>
              <a:r>
                <a:rPr lang="en-US" sz="2100">
                  <a:solidFill>
                    <a:srgbClr val="E74B2F"/>
                  </a:solidFill>
                  <a:latin typeface="Droid Serif"/>
                  <a:ea typeface="Droid Serif"/>
                  <a:cs typeface="Droid Serif"/>
                  <a:sym typeface="Droid Serif"/>
                </a:rPr>
                <a:t> (defect ≥ 2/3 tracheal diameter) → impaired ventilation</a:t>
              </a:r>
            </a:p>
          </p:txBody>
        </p:sp>
      </p:grpSp>
      <p:grpSp>
        <p:nvGrpSpPr>
          <p:cNvPr name="Group 12" id="12"/>
          <p:cNvGrpSpPr/>
          <p:nvPr/>
        </p:nvGrpSpPr>
        <p:grpSpPr>
          <a:xfrm rot="0">
            <a:off x="2173281" y="1947672"/>
            <a:ext cx="3046362" cy="2551176"/>
            <a:chOff x="0" y="0"/>
            <a:chExt cx="4061816" cy="3401568"/>
          </a:xfrm>
        </p:grpSpPr>
        <p:sp>
          <p:nvSpPr>
            <p:cNvPr name="Freeform 13" id="13"/>
            <p:cNvSpPr/>
            <p:nvPr/>
          </p:nvSpPr>
          <p:spPr>
            <a:xfrm flipH="false" flipV="false" rot="0">
              <a:off x="0" y="0"/>
              <a:ext cx="4061841" cy="3401568"/>
            </a:xfrm>
            <a:custGeom>
              <a:avLst/>
              <a:gdLst/>
              <a:ahLst/>
              <a:cxnLst/>
              <a:rect r="r" b="b" t="t" l="l"/>
              <a:pathLst>
                <a:path h="3401568" w="4061841">
                  <a:moveTo>
                    <a:pt x="0" y="266827"/>
                  </a:moveTo>
                  <a:cubicBezTo>
                    <a:pt x="0" y="119507"/>
                    <a:pt x="119507" y="0"/>
                    <a:pt x="266827" y="0"/>
                  </a:cubicBezTo>
                  <a:lnTo>
                    <a:pt x="3795014" y="0"/>
                  </a:lnTo>
                  <a:cubicBezTo>
                    <a:pt x="3942334" y="0"/>
                    <a:pt x="4061841" y="119507"/>
                    <a:pt x="4061841" y="266827"/>
                  </a:cubicBezTo>
                  <a:lnTo>
                    <a:pt x="4061841" y="3134741"/>
                  </a:lnTo>
                  <a:cubicBezTo>
                    <a:pt x="4061841" y="3282061"/>
                    <a:pt x="3942334" y="3401568"/>
                    <a:pt x="3795014"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2241861" y="2016252"/>
            <a:ext cx="2909202" cy="2414016"/>
            <a:chOff x="0" y="0"/>
            <a:chExt cx="3878936" cy="3218688"/>
          </a:xfrm>
        </p:grpSpPr>
        <p:sp>
          <p:nvSpPr>
            <p:cNvPr name="Freeform 15" id="15" descr="Diagram of an open pneumothorax with air entering through a chest wall wound and the lung collapsed"/>
            <p:cNvSpPr/>
            <p:nvPr/>
          </p:nvSpPr>
          <p:spPr>
            <a:xfrm flipH="false" flipV="false" rot="0">
              <a:off x="0" y="0"/>
              <a:ext cx="3878961" cy="3218688"/>
            </a:xfrm>
            <a:custGeom>
              <a:avLst/>
              <a:gdLst/>
              <a:ahLst/>
              <a:cxnLst/>
              <a:rect r="r" b="b" t="t" l="l"/>
              <a:pathLst>
                <a:path h="3218688" w="3878961">
                  <a:moveTo>
                    <a:pt x="0" y="0"/>
                  </a:moveTo>
                  <a:lnTo>
                    <a:pt x="3878961" y="0"/>
                  </a:lnTo>
                  <a:lnTo>
                    <a:pt x="3878961" y="3218688"/>
                  </a:lnTo>
                  <a:lnTo>
                    <a:pt x="0" y="3218688"/>
                  </a:lnTo>
                  <a:lnTo>
                    <a:pt x="0" y="0"/>
                  </a:lnTo>
                  <a:close/>
                </a:path>
              </a:pathLst>
            </a:custGeom>
            <a:blipFill>
              <a:blip r:embed="rId3"/>
              <a:stretch>
                <a:fillRect l="0" t="0" r="0" b="0"/>
              </a:stretch>
            </a:blipFill>
          </p:spPr>
        </p:sp>
      </p:grpSp>
      <p:sp>
        <p:nvSpPr>
          <p:cNvPr name="TextBox 16" id="16"/>
          <p:cNvSpPr txBox="true"/>
          <p:nvPr/>
        </p:nvSpPr>
        <p:spPr>
          <a:xfrm rot="0">
            <a:off x="1062990" y="451561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Air enters through the wound (Fig 5-6)</a:t>
            </a:r>
          </a:p>
        </p:txBody>
      </p:sp>
      <p:grpSp>
        <p:nvGrpSpPr>
          <p:cNvPr name="Group 17" id="17"/>
          <p:cNvGrpSpPr/>
          <p:nvPr/>
        </p:nvGrpSpPr>
        <p:grpSpPr>
          <a:xfrm rot="0">
            <a:off x="1886798" y="5033772"/>
            <a:ext cx="3619329" cy="2414016"/>
            <a:chOff x="0" y="0"/>
            <a:chExt cx="4825771" cy="3218688"/>
          </a:xfrm>
        </p:grpSpPr>
        <p:sp>
          <p:nvSpPr>
            <p:cNvPr name="Freeform 18" id="18" descr="Occlusive dressing taped on three sides over a chest wound"/>
            <p:cNvSpPr/>
            <p:nvPr/>
          </p:nvSpPr>
          <p:spPr>
            <a:xfrm flipH="false" flipV="false" rot="0">
              <a:off x="0" y="0"/>
              <a:ext cx="4825746" cy="3218688"/>
            </a:xfrm>
            <a:custGeom>
              <a:avLst/>
              <a:gdLst/>
              <a:ahLst/>
              <a:cxnLst/>
              <a:rect r="r" b="b" t="t" l="l"/>
              <a:pathLst>
                <a:path h="3218688" w="4825746">
                  <a:moveTo>
                    <a:pt x="0" y="0"/>
                  </a:moveTo>
                  <a:lnTo>
                    <a:pt x="4825746" y="0"/>
                  </a:lnTo>
                  <a:lnTo>
                    <a:pt x="4825746" y="3218688"/>
                  </a:lnTo>
                  <a:lnTo>
                    <a:pt x="0" y="3218688"/>
                  </a:lnTo>
                  <a:lnTo>
                    <a:pt x="0" y="0"/>
                  </a:lnTo>
                  <a:close/>
                </a:path>
              </a:pathLst>
            </a:custGeom>
            <a:blipFill>
              <a:blip r:embed="rId4"/>
              <a:stretch>
                <a:fillRect l="0" t="0" r="0" b="0"/>
              </a:stretch>
            </a:blipFill>
          </p:spPr>
        </p:sp>
      </p:grpSp>
      <p:sp>
        <p:nvSpPr>
          <p:cNvPr name="TextBox 19" id="19"/>
          <p:cNvSpPr txBox="true"/>
          <p:nvPr/>
        </p:nvSpPr>
        <p:spPr>
          <a:xfrm rot="0">
            <a:off x="1062990" y="753313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Dressing taped on 3 sides (Fig 5-12A)</a:t>
            </a:r>
          </a:p>
        </p:txBody>
      </p:sp>
      <p:grpSp>
        <p:nvGrpSpPr>
          <p:cNvPr name="Group 20" id="20"/>
          <p:cNvGrpSpPr/>
          <p:nvPr/>
        </p:nvGrpSpPr>
        <p:grpSpPr>
          <a:xfrm rot="0">
            <a:off x="6438900" y="1882083"/>
            <a:ext cx="10629900" cy="2114255"/>
            <a:chOff x="0" y="0"/>
            <a:chExt cx="14173200" cy="2819006"/>
          </a:xfrm>
        </p:grpSpPr>
        <p:sp>
          <p:nvSpPr>
            <p:cNvPr name="Freeform 21" id="21"/>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FFF4F1"/>
            </a:solidFill>
          </p:spPr>
        </p:sp>
      </p:grpSp>
      <p:sp>
        <p:nvSpPr>
          <p:cNvPr name="TextBox 22" id="22"/>
          <p:cNvSpPr txBox="true"/>
          <p:nvPr/>
        </p:nvSpPr>
        <p:spPr>
          <a:xfrm rot="0">
            <a:off x="6705600" y="2034483"/>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 — clinical</a:t>
            </a:r>
          </a:p>
        </p:txBody>
      </p:sp>
      <p:sp>
        <p:nvSpPr>
          <p:cNvPr name="TextBox 23" id="23"/>
          <p:cNvSpPr txBox="true"/>
          <p:nvPr/>
        </p:nvSpPr>
        <p:spPr>
          <a:xfrm rot="0">
            <a:off x="6843141" y="2449716"/>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Chest wall defect </a:t>
            </a:r>
            <a:r>
              <a:rPr lang="en-US" sz="1950" b="true">
                <a:solidFill>
                  <a:srgbClr val="1F1210"/>
                </a:solidFill>
                <a:latin typeface="DM Sans Bold"/>
                <a:ea typeface="DM Sans Bold"/>
                <a:cs typeface="DM Sans Bold"/>
                <a:sym typeface="DM Sans Bold"/>
              </a:rPr>
              <a:t>≥ 2/3 tracheal diameter</a:t>
            </a:r>
          </a:p>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Sucking sound</a:t>
            </a:r>
            <a:r>
              <a:rPr lang="en-US" sz="1950">
                <a:solidFill>
                  <a:srgbClr val="1F1210"/>
                </a:solidFill>
                <a:latin typeface="DM Sans"/>
                <a:ea typeface="DM Sans"/>
                <a:cs typeface="DM Sans"/>
                <a:sym typeface="DM Sans"/>
              </a:rPr>
              <a:t> on inspiration &amp; </a:t>
            </a:r>
            <a:r>
              <a:rPr lang="en-US" sz="1950" b="true">
                <a:solidFill>
                  <a:srgbClr val="1F1210"/>
                </a:solidFill>
                <a:latin typeface="DM Sans Bold"/>
                <a:ea typeface="DM Sans Bold"/>
                <a:cs typeface="DM Sans Bold"/>
                <a:sym typeface="DM Sans Bold"/>
              </a:rPr>
              <a:t>↓ breath sounds</a:t>
            </a:r>
          </a:p>
          <a:p>
            <a:pPr algn="l" marL="352901" indent="-176451" lvl="1">
              <a:lnSpc>
                <a:spcPts val="2632"/>
              </a:lnSpc>
              <a:buFont typeface="Arial"/>
              <a:buChar char="•"/>
            </a:pPr>
            <a:r>
              <a:rPr lang="en-US" sz="1950">
                <a:solidFill>
                  <a:srgbClr val="1F1210"/>
                </a:solidFill>
                <a:latin typeface="DM Sans"/>
                <a:ea typeface="DM Sans"/>
                <a:cs typeface="DM Sans"/>
                <a:sym typeface="DM Sans"/>
              </a:rPr>
              <a:t>Pain, tachypnea &amp; respiratory distress</a:t>
            </a:r>
          </a:p>
        </p:txBody>
      </p:sp>
      <p:grpSp>
        <p:nvGrpSpPr>
          <p:cNvPr name="Group 24" id="24"/>
          <p:cNvGrpSpPr/>
          <p:nvPr/>
        </p:nvGrpSpPr>
        <p:grpSpPr>
          <a:xfrm rot="0">
            <a:off x="6438900" y="4148738"/>
            <a:ext cx="10629900" cy="2782786"/>
            <a:chOff x="0" y="0"/>
            <a:chExt cx="14173200" cy="3710381"/>
          </a:xfrm>
        </p:grpSpPr>
        <p:sp>
          <p:nvSpPr>
            <p:cNvPr name="Freeform 25" id="25"/>
            <p:cNvSpPr/>
            <p:nvPr/>
          </p:nvSpPr>
          <p:spPr>
            <a:xfrm flipH="false" flipV="false" rot="0">
              <a:off x="0" y="0"/>
              <a:ext cx="14173200" cy="3710432"/>
            </a:xfrm>
            <a:custGeom>
              <a:avLst/>
              <a:gdLst/>
              <a:ahLst/>
              <a:cxnLst/>
              <a:rect r="r" b="b" t="t" l="l"/>
              <a:pathLst>
                <a:path h="3710432" w="14173200">
                  <a:moveTo>
                    <a:pt x="0" y="304800"/>
                  </a:moveTo>
                  <a:cubicBezTo>
                    <a:pt x="0" y="136525"/>
                    <a:pt x="136525" y="0"/>
                    <a:pt x="304800" y="0"/>
                  </a:cubicBezTo>
                  <a:lnTo>
                    <a:pt x="13868400" y="0"/>
                  </a:lnTo>
                  <a:cubicBezTo>
                    <a:pt x="14036802" y="0"/>
                    <a:pt x="14173200" y="136525"/>
                    <a:pt x="14173200" y="304800"/>
                  </a:cubicBezTo>
                  <a:lnTo>
                    <a:pt x="14173200" y="3405632"/>
                  </a:lnTo>
                  <a:cubicBezTo>
                    <a:pt x="14173200" y="3574034"/>
                    <a:pt x="14036675" y="3710432"/>
                    <a:pt x="13868400" y="3710432"/>
                  </a:cubicBezTo>
                  <a:lnTo>
                    <a:pt x="304800" y="3710432"/>
                  </a:lnTo>
                  <a:cubicBezTo>
                    <a:pt x="136398" y="3710432"/>
                    <a:pt x="0" y="3573907"/>
                    <a:pt x="0" y="3405632"/>
                  </a:cubicBezTo>
                  <a:close/>
                </a:path>
              </a:pathLst>
            </a:custGeom>
            <a:solidFill>
              <a:srgbClr val="C42D29"/>
            </a:solidFill>
          </p:spPr>
        </p:sp>
      </p:grpSp>
      <p:sp>
        <p:nvSpPr>
          <p:cNvPr name="TextBox 26" id="26"/>
          <p:cNvSpPr txBox="true"/>
          <p:nvPr/>
        </p:nvSpPr>
        <p:spPr>
          <a:xfrm rot="0">
            <a:off x="6705600" y="4301138"/>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7" id="27"/>
          <p:cNvSpPr txBox="true"/>
          <p:nvPr/>
        </p:nvSpPr>
        <p:spPr>
          <a:xfrm rot="0">
            <a:off x="6843141" y="4716361"/>
            <a:ext cx="10250424" cy="206276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Supplemental O₂</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Sterile occlusive dressing</a:t>
            </a:r>
            <a:r>
              <a:rPr lang="en-US" sz="1950">
                <a:solidFill>
                  <a:srgbClr val="FFFFFF"/>
                </a:solidFill>
                <a:latin typeface="DM Sans"/>
                <a:ea typeface="DM Sans"/>
                <a:cs typeface="DM Sans"/>
                <a:sym typeface="DM Sans"/>
              </a:rPr>
              <a:t> taped on </a:t>
            </a:r>
            <a:r>
              <a:rPr lang="en-US" sz="1950" b="true">
                <a:solidFill>
                  <a:srgbClr val="FFFFFF"/>
                </a:solidFill>
                <a:latin typeface="DM Sans Bold"/>
                <a:ea typeface="DM Sans Bold"/>
                <a:cs typeface="DM Sans Bold"/>
                <a:sym typeface="DM Sans Bold"/>
              </a:rPr>
              <a:t>3 sides</a:t>
            </a:r>
            <a:r>
              <a:rPr lang="en-US" sz="1950">
                <a:solidFill>
                  <a:srgbClr val="FFFFFF"/>
                </a:solidFill>
                <a:latin typeface="DM Sans"/>
                <a:ea typeface="DM Sans"/>
                <a:cs typeface="DM Sans"/>
                <a:sym typeface="DM Sans"/>
              </a:rPr>
              <a:t> (or vented chest seal)</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Tube thoracostomy</a:t>
            </a:r>
            <a:r>
              <a:rPr lang="en-US" sz="1950">
                <a:solidFill>
                  <a:srgbClr val="FFFFFF"/>
                </a:solidFill>
                <a:latin typeface="DM Sans"/>
                <a:ea typeface="DM Sans"/>
                <a:cs typeface="DM Sans"/>
                <a:sym typeface="DM Sans"/>
              </a:rPr>
              <a:t> via a </a:t>
            </a:r>
            <a:r>
              <a:rPr lang="en-US" sz="1950" b="true">
                <a:solidFill>
                  <a:srgbClr val="FFFFFF"/>
                </a:solidFill>
                <a:latin typeface="DM Sans Bold"/>
                <a:ea typeface="DM Sans Bold"/>
                <a:cs typeface="DM Sans Bold"/>
                <a:sym typeface="DM Sans Bold"/>
              </a:rPr>
              <a:t>separate incision</a:t>
            </a:r>
          </a:p>
          <a:p>
            <a:pPr algn="l" marL="352901" indent="-176451" lvl="1">
              <a:lnSpc>
                <a:spcPts val="2632"/>
              </a:lnSpc>
              <a:buFont typeface="Arial"/>
              <a:buChar char="•"/>
            </a:pPr>
            <a:r>
              <a:rPr lang="en-US" sz="1950">
                <a:solidFill>
                  <a:srgbClr val="FFFFFF"/>
                </a:solidFill>
                <a:latin typeface="DM Sans"/>
                <a:ea typeface="DM Sans"/>
                <a:cs typeface="DM Sans"/>
                <a:sym typeface="DM Sans"/>
              </a:rPr>
              <a:t>Definitive: </a:t>
            </a:r>
            <a:r>
              <a:rPr lang="en-US" sz="1950" b="true">
                <a:solidFill>
                  <a:srgbClr val="FFFFFF"/>
                </a:solidFill>
                <a:latin typeface="DM Sans Bold"/>
                <a:ea typeface="DM Sans Bold"/>
                <a:cs typeface="DM Sans Bold"/>
                <a:sym typeface="DM Sans Bold"/>
              </a:rPr>
              <a:t>operative closure</a:t>
            </a:r>
            <a:r>
              <a:rPr lang="en-US" sz="1950">
                <a:solidFill>
                  <a:srgbClr val="FFFFFF"/>
                </a:solidFill>
                <a:latin typeface="DM Sans"/>
                <a:ea typeface="DM Sans"/>
                <a:cs typeface="DM Sans"/>
                <a:sym typeface="DM Sans"/>
              </a:rPr>
              <a:t> of chest wall defect</a:t>
            </a:r>
          </a:p>
        </p:txBody>
      </p:sp>
      <p:grpSp>
        <p:nvGrpSpPr>
          <p:cNvPr name="Group 28" id="28"/>
          <p:cNvGrpSpPr/>
          <p:nvPr/>
        </p:nvGrpSpPr>
        <p:grpSpPr>
          <a:xfrm rot="0">
            <a:off x="0" y="164592"/>
            <a:ext cx="754380" cy="384048"/>
            <a:chOff x="0" y="0"/>
            <a:chExt cx="1005840" cy="512064"/>
          </a:xfrm>
        </p:grpSpPr>
        <p:sp>
          <p:nvSpPr>
            <p:cNvPr name="Freeform 29" id="29"/>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0" id="30"/>
          <p:cNvGrpSpPr/>
          <p:nvPr/>
        </p:nvGrpSpPr>
        <p:grpSpPr>
          <a:xfrm rot="0">
            <a:off x="932688" y="288036"/>
            <a:ext cx="137160" cy="137160"/>
            <a:chOff x="0" y="0"/>
            <a:chExt cx="182880" cy="182880"/>
          </a:xfrm>
        </p:grpSpPr>
        <p:sp>
          <p:nvSpPr>
            <p:cNvPr name="Freeform 31" id="3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2" id="32"/>
          <p:cNvGrpSpPr/>
          <p:nvPr/>
        </p:nvGrpSpPr>
        <p:grpSpPr>
          <a:xfrm rot="0">
            <a:off x="1193292"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453896"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714500"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975104"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2235708"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496312"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p. 69-76; Chapter 6 p. 89-93, Figure 6-3.</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Massive Hemothorax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Rapid blood accumulation</a:t>
              </a:r>
              <a:r>
                <a:rPr lang="en-US" sz="2100">
                  <a:solidFill>
                    <a:srgbClr val="E74B2F"/>
                  </a:solidFill>
                  <a:latin typeface="Droid Serif"/>
                  <a:ea typeface="Droid Serif"/>
                  <a:cs typeface="Droid Serif"/>
                  <a:sym typeface="Droid Serif"/>
                </a:rPr>
                <a:t> in pleural space → </a:t>
              </a:r>
              <a:r>
                <a:rPr lang="en-US" sz="2100" b="true">
                  <a:solidFill>
                    <a:srgbClr val="E74B2F"/>
                  </a:solidFill>
                  <a:latin typeface="Droid Serif Bold"/>
                  <a:ea typeface="Droid Serif Bold"/>
                  <a:cs typeface="Droid Serif Bold"/>
                  <a:sym typeface="Droid Serif Bold"/>
                </a:rPr>
                <a:t>hemorrhagic &amp; obstructive shock</a:t>
              </a:r>
            </a:p>
          </p:txBody>
        </p:sp>
      </p:grpSp>
      <p:grpSp>
        <p:nvGrpSpPr>
          <p:cNvPr name="Group 12" id="12"/>
          <p:cNvGrpSpPr/>
          <p:nvPr/>
        </p:nvGrpSpPr>
        <p:grpSpPr>
          <a:xfrm rot="0">
            <a:off x="1248156" y="1947672"/>
            <a:ext cx="4896612" cy="3668582"/>
            <a:chOff x="0" y="0"/>
            <a:chExt cx="6528816" cy="4891443"/>
          </a:xfrm>
        </p:grpSpPr>
        <p:sp>
          <p:nvSpPr>
            <p:cNvPr name="Freeform 13" id="13"/>
            <p:cNvSpPr/>
            <p:nvPr/>
          </p:nvSpPr>
          <p:spPr>
            <a:xfrm flipH="false" flipV="false" rot="0">
              <a:off x="0" y="0"/>
              <a:ext cx="6528816" cy="4891532"/>
            </a:xfrm>
            <a:custGeom>
              <a:avLst/>
              <a:gdLst/>
              <a:ahLst/>
              <a:cxnLst/>
              <a:rect r="r" b="b" t="t" l="l"/>
              <a:pathLst>
                <a:path h="4891532" w="6528816">
                  <a:moveTo>
                    <a:pt x="0" y="222377"/>
                  </a:moveTo>
                  <a:cubicBezTo>
                    <a:pt x="0" y="99568"/>
                    <a:pt x="99568" y="0"/>
                    <a:pt x="222377" y="0"/>
                  </a:cubicBezTo>
                  <a:lnTo>
                    <a:pt x="6306439" y="0"/>
                  </a:lnTo>
                  <a:cubicBezTo>
                    <a:pt x="6429248" y="0"/>
                    <a:pt x="6528816" y="99568"/>
                    <a:pt x="6528816" y="222377"/>
                  </a:cubicBezTo>
                  <a:lnTo>
                    <a:pt x="6528816" y="4669155"/>
                  </a:lnTo>
                  <a:cubicBezTo>
                    <a:pt x="6528816" y="4791964"/>
                    <a:pt x="6429248" y="4891532"/>
                    <a:pt x="6306439" y="4891532"/>
                  </a:cubicBezTo>
                  <a:lnTo>
                    <a:pt x="222377" y="4891532"/>
                  </a:lnTo>
                  <a:cubicBezTo>
                    <a:pt x="99568" y="4891405"/>
                    <a:pt x="0" y="4791964"/>
                    <a:pt x="0" y="4669155"/>
                  </a:cubicBezTo>
                  <a:close/>
                </a:path>
              </a:pathLst>
            </a:custGeom>
            <a:solidFill>
              <a:srgbClr val="FFFFFF"/>
            </a:solidFill>
          </p:spPr>
        </p:sp>
      </p:grpSp>
      <p:grpSp>
        <p:nvGrpSpPr>
          <p:cNvPr name="Group 14" id="14"/>
          <p:cNvGrpSpPr/>
          <p:nvPr/>
        </p:nvGrpSpPr>
        <p:grpSpPr>
          <a:xfrm rot="0">
            <a:off x="1330452" y="2029968"/>
            <a:ext cx="4732020" cy="3503990"/>
            <a:chOff x="0" y="0"/>
            <a:chExt cx="6309360" cy="4671987"/>
          </a:xfrm>
        </p:grpSpPr>
        <p:sp>
          <p:nvSpPr>
            <p:cNvPr name="Freeform 15" id="15" descr="Chest X-ray with a massive left hemothorax opacifying the hemithorax"/>
            <p:cNvSpPr/>
            <p:nvPr/>
          </p:nvSpPr>
          <p:spPr>
            <a:xfrm flipH="false" flipV="false" rot="0">
              <a:off x="0" y="0"/>
              <a:ext cx="6309360" cy="4671949"/>
            </a:xfrm>
            <a:custGeom>
              <a:avLst/>
              <a:gdLst/>
              <a:ahLst/>
              <a:cxnLst/>
              <a:rect r="r" b="b" t="t" l="l"/>
              <a:pathLst>
                <a:path h="4671949" w="6309360">
                  <a:moveTo>
                    <a:pt x="0" y="0"/>
                  </a:moveTo>
                  <a:lnTo>
                    <a:pt x="6309360" y="0"/>
                  </a:lnTo>
                  <a:lnTo>
                    <a:pt x="6309360" y="4671949"/>
                  </a:lnTo>
                  <a:lnTo>
                    <a:pt x="0" y="4671949"/>
                  </a:lnTo>
                  <a:lnTo>
                    <a:pt x="0" y="0"/>
                  </a:lnTo>
                  <a:close/>
                </a:path>
              </a:pathLst>
            </a:custGeom>
            <a:blipFill>
              <a:blip r:embed="rId3"/>
              <a:stretch>
                <a:fillRect l="0" t="0" r="0" b="0"/>
              </a:stretch>
            </a:blipFill>
          </p:spPr>
        </p:sp>
      </p:grpSp>
      <p:sp>
        <p:nvSpPr>
          <p:cNvPr name="TextBox 16" id="16"/>
          <p:cNvSpPr txBox="true"/>
          <p:nvPr/>
        </p:nvSpPr>
        <p:spPr>
          <a:xfrm rot="0">
            <a:off x="1062990" y="5660450"/>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CXR with massive hemothorax (Fig 6-3)</a:t>
            </a:r>
          </a:p>
        </p:txBody>
      </p:sp>
      <p:grpSp>
        <p:nvGrpSpPr>
          <p:cNvPr name="Group 17" id="17"/>
          <p:cNvGrpSpPr/>
          <p:nvPr/>
        </p:nvGrpSpPr>
        <p:grpSpPr>
          <a:xfrm rot="0">
            <a:off x="6438900" y="1882083"/>
            <a:ext cx="10629900" cy="2114255"/>
            <a:chOff x="0" y="0"/>
            <a:chExt cx="14173200" cy="2819006"/>
          </a:xfrm>
        </p:grpSpPr>
        <p:sp>
          <p:nvSpPr>
            <p:cNvPr name="Freeform 18" id="18"/>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FFF4F1"/>
            </a:solidFill>
          </p:spPr>
        </p:sp>
      </p:grpSp>
      <p:sp>
        <p:nvSpPr>
          <p:cNvPr name="TextBox 19" id="19"/>
          <p:cNvSpPr txBox="true"/>
          <p:nvPr/>
        </p:nvSpPr>
        <p:spPr>
          <a:xfrm rot="0">
            <a:off x="6705600" y="2034483"/>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0" id="20"/>
          <p:cNvSpPr txBox="true"/>
          <p:nvPr/>
        </p:nvSpPr>
        <p:spPr>
          <a:xfrm rot="0">
            <a:off x="6843141" y="2449716"/>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 Breath sounds</a:t>
            </a:r>
            <a:r>
              <a:rPr lang="en-US" sz="1950">
                <a:solidFill>
                  <a:srgbClr val="1F1210"/>
                </a:solidFill>
                <a:latin typeface="DM Sans"/>
                <a:ea typeface="DM Sans"/>
                <a:cs typeface="DM Sans"/>
                <a:sym typeface="DM Sans"/>
              </a:rPr>
              <a:t> + </a:t>
            </a:r>
            <a:r>
              <a:rPr lang="en-US" sz="1950" b="true">
                <a:solidFill>
                  <a:srgbClr val="1F1210"/>
                </a:solidFill>
                <a:latin typeface="DM Sans Bold"/>
                <a:ea typeface="DM Sans Bold"/>
                <a:cs typeface="DM Sans Bold"/>
                <a:sym typeface="DM Sans Bold"/>
              </a:rPr>
              <a:t>hemorrhagic shock</a:t>
            </a:r>
          </a:p>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Flat neck veins</a:t>
            </a:r>
            <a:r>
              <a:rPr lang="en-US" sz="1950">
                <a:solidFill>
                  <a:srgbClr val="1F1210"/>
                </a:solidFill>
                <a:latin typeface="DM Sans"/>
                <a:ea typeface="DM Sans"/>
                <a:cs typeface="DM Sans"/>
                <a:sym typeface="DM Sans"/>
              </a:rPr>
              <a:t> (distended if tension physiology)</a:t>
            </a:r>
          </a:p>
          <a:p>
            <a:pPr algn="l" marL="352901" indent="-176451" lvl="1">
              <a:lnSpc>
                <a:spcPts val="2632"/>
              </a:lnSpc>
              <a:buFont typeface="Arial"/>
              <a:buChar char="•"/>
            </a:pPr>
            <a:r>
              <a:rPr lang="en-US" sz="1950">
                <a:solidFill>
                  <a:srgbClr val="1F1210"/>
                </a:solidFill>
                <a:latin typeface="DM Sans"/>
                <a:ea typeface="DM Sans"/>
                <a:cs typeface="DM Sans"/>
                <a:sym typeface="DM Sans"/>
              </a:rPr>
              <a:t>Confirmed on </a:t>
            </a:r>
            <a:r>
              <a:rPr lang="en-US" sz="1950" b="true">
                <a:solidFill>
                  <a:srgbClr val="1F1210"/>
                </a:solidFill>
                <a:latin typeface="DM Sans Bold"/>
                <a:ea typeface="DM Sans Bold"/>
                <a:cs typeface="DM Sans Bold"/>
                <a:sym typeface="DM Sans Bold"/>
              </a:rPr>
              <a:t>CXR, eFAST</a:t>
            </a:r>
            <a:r>
              <a:rPr lang="en-US" sz="1950">
                <a:solidFill>
                  <a:srgbClr val="1F1210"/>
                </a:solidFill>
                <a:latin typeface="DM Sans"/>
                <a:ea typeface="DM Sans"/>
                <a:cs typeface="DM Sans"/>
                <a:sym typeface="DM Sans"/>
              </a:rPr>
              <a:t> or </a:t>
            </a:r>
            <a:r>
              <a:rPr lang="en-US" sz="1950" b="true">
                <a:solidFill>
                  <a:srgbClr val="1F1210"/>
                </a:solidFill>
                <a:latin typeface="DM Sans Bold"/>
                <a:ea typeface="DM Sans Bold"/>
                <a:cs typeface="DM Sans Bold"/>
                <a:sym typeface="DM Sans Bold"/>
              </a:rPr>
              <a:t>chest tube drainage</a:t>
            </a:r>
          </a:p>
        </p:txBody>
      </p:sp>
      <p:grpSp>
        <p:nvGrpSpPr>
          <p:cNvPr name="Group 21" id="21"/>
          <p:cNvGrpSpPr/>
          <p:nvPr/>
        </p:nvGrpSpPr>
        <p:grpSpPr>
          <a:xfrm rot="0">
            <a:off x="6438900" y="4148738"/>
            <a:ext cx="10629900" cy="2782786"/>
            <a:chOff x="0" y="0"/>
            <a:chExt cx="14173200" cy="3710381"/>
          </a:xfrm>
        </p:grpSpPr>
        <p:sp>
          <p:nvSpPr>
            <p:cNvPr name="Freeform 22" id="22"/>
            <p:cNvSpPr/>
            <p:nvPr/>
          </p:nvSpPr>
          <p:spPr>
            <a:xfrm flipH="false" flipV="false" rot="0">
              <a:off x="0" y="0"/>
              <a:ext cx="14173200" cy="3710432"/>
            </a:xfrm>
            <a:custGeom>
              <a:avLst/>
              <a:gdLst/>
              <a:ahLst/>
              <a:cxnLst/>
              <a:rect r="r" b="b" t="t" l="l"/>
              <a:pathLst>
                <a:path h="3710432" w="14173200">
                  <a:moveTo>
                    <a:pt x="0" y="304800"/>
                  </a:moveTo>
                  <a:cubicBezTo>
                    <a:pt x="0" y="136525"/>
                    <a:pt x="136525" y="0"/>
                    <a:pt x="304800" y="0"/>
                  </a:cubicBezTo>
                  <a:lnTo>
                    <a:pt x="13868400" y="0"/>
                  </a:lnTo>
                  <a:cubicBezTo>
                    <a:pt x="14036802" y="0"/>
                    <a:pt x="14173200" y="136525"/>
                    <a:pt x="14173200" y="304800"/>
                  </a:cubicBezTo>
                  <a:lnTo>
                    <a:pt x="14173200" y="3405632"/>
                  </a:lnTo>
                  <a:cubicBezTo>
                    <a:pt x="14173200" y="3574034"/>
                    <a:pt x="14036675" y="3710432"/>
                    <a:pt x="13868400" y="3710432"/>
                  </a:cubicBezTo>
                  <a:lnTo>
                    <a:pt x="304800" y="3710432"/>
                  </a:lnTo>
                  <a:cubicBezTo>
                    <a:pt x="136398" y="3710432"/>
                    <a:pt x="0" y="3573907"/>
                    <a:pt x="0" y="3405632"/>
                  </a:cubicBezTo>
                  <a:close/>
                </a:path>
              </a:pathLst>
            </a:custGeom>
            <a:solidFill>
              <a:srgbClr val="C42D29"/>
            </a:solidFill>
          </p:spPr>
        </p:sp>
      </p:grpSp>
      <p:sp>
        <p:nvSpPr>
          <p:cNvPr name="TextBox 23" id="23"/>
          <p:cNvSpPr txBox="true"/>
          <p:nvPr/>
        </p:nvSpPr>
        <p:spPr>
          <a:xfrm rot="0">
            <a:off x="6705600" y="4301138"/>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 — drain + replace blood</a:t>
            </a:r>
          </a:p>
        </p:txBody>
      </p:sp>
      <p:sp>
        <p:nvSpPr>
          <p:cNvPr name="TextBox 24" id="24"/>
          <p:cNvSpPr txBox="true"/>
          <p:nvPr/>
        </p:nvSpPr>
        <p:spPr>
          <a:xfrm rot="0">
            <a:off x="6843141" y="4716361"/>
            <a:ext cx="10250424" cy="206276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Supplemental O₂</a:t>
            </a:r>
            <a:r>
              <a:rPr lang="en-US" sz="1950">
                <a:solidFill>
                  <a:srgbClr val="FFFFFF"/>
                </a:solidFill>
                <a:latin typeface="DM Sans"/>
                <a:ea typeface="DM Sans"/>
                <a:cs typeface="DM Sans"/>
                <a:sym typeface="DM Sans"/>
              </a:rPr>
              <a:t> &amp; </a:t>
            </a:r>
            <a:r>
              <a:rPr lang="en-US" sz="1950" b="true">
                <a:solidFill>
                  <a:srgbClr val="FFFFFF"/>
                </a:solidFill>
                <a:latin typeface="DM Sans Bold"/>
                <a:ea typeface="DM Sans Bold"/>
                <a:cs typeface="DM Sans Bold"/>
                <a:sym typeface="DM Sans Bold"/>
              </a:rPr>
              <a:t>emergency blood transfusion</a:t>
            </a:r>
          </a:p>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Decompress: </a:t>
            </a:r>
            <a:r>
              <a:rPr lang="en-US" sz="1950" b="true">
                <a:solidFill>
                  <a:srgbClr val="FFFFFF"/>
                </a:solidFill>
                <a:latin typeface="DM Sans Bold"/>
                <a:ea typeface="DM Sans Bold"/>
                <a:cs typeface="DM Sans Bold"/>
                <a:sym typeface="DM Sans Bold"/>
              </a:rPr>
              <a:t>finger → chest tube ≥ 24 Fr</a:t>
            </a:r>
            <a:r>
              <a:rPr lang="en-US" sz="1950">
                <a:solidFill>
                  <a:srgbClr val="FFFFFF"/>
                </a:solidFill>
                <a:latin typeface="DM Sans"/>
                <a:ea typeface="DM Sans"/>
                <a:cs typeface="DM Sans"/>
                <a:sym typeface="DM Sans"/>
              </a:rPr>
              <a:t> (14 Fr for non-massive)</a:t>
            </a:r>
          </a:p>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Evacuate any hemothorax </a:t>
            </a:r>
            <a:r>
              <a:rPr lang="en-US" sz="1950" b="true">
                <a:solidFill>
                  <a:srgbClr val="FFFFFF"/>
                </a:solidFill>
                <a:latin typeface="DM Sans Bold"/>
                <a:ea typeface="DM Sans Bold"/>
                <a:cs typeface="DM Sans Bold"/>
                <a:sym typeface="DM Sans Bold"/>
              </a:rPr>
              <a:t>&gt; 300 mL</a:t>
            </a:r>
            <a:r>
              <a:rPr lang="en-US" sz="1950">
                <a:solidFill>
                  <a:srgbClr val="FFFFFF"/>
                </a:solidFill>
                <a:latin typeface="DM Sans"/>
                <a:ea typeface="DM Sans"/>
                <a:cs typeface="DM Sans"/>
                <a:sym typeface="DM Sans"/>
              </a:rPr>
              <a:t> to prevent trapped lung</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Thoracotomy</a:t>
            </a:r>
            <a:r>
              <a:rPr lang="en-US" sz="1950">
                <a:solidFill>
                  <a:srgbClr val="FFFFFF"/>
                </a:solidFill>
                <a:latin typeface="DM Sans"/>
                <a:ea typeface="DM Sans"/>
                <a:cs typeface="DM Sans"/>
                <a:sym typeface="DM Sans"/>
              </a:rPr>
              <a:t> guided by </a:t>
            </a:r>
            <a:r>
              <a:rPr lang="en-US" sz="1950" b="true">
                <a:solidFill>
                  <a:srgbClr val="FFFFFF"/>
                </a:solidFill>
                <a:latin typeface="DM Sans Bold"/>
                <a:ea typeface="DM Sans Bold"/>
                <a:cs typeface="DM Sans Bold"/>
                <a:sym typeface="DM Sans Bold"/>
              </a:rPr>
              <a:t>physiologic status (shock)</a:t>
            </a:r>
            <a:r>
              <a:rPr lang="en-US" sz="1950">
                <a:solidFill>
                  <a:srgbClr val="FFFFFF"/>
                </a:solidFill>
                <a:latin typeface="DM Sans"/>
                <a:ea typeface="DM Sans"/>
                <a:cs typeface="DM Sans"/>
                <a:sym typeface="DM Sans"/>
              </a:rPr>
              <a:t> &amp; </a:t>
            </a:r>
            <a:r>
              <a:rPr lang="en-US" sz="1950" b="true">
                <a:solidFill>
                  <a:srgbClr val="FFFFFF"/>
                </a:solidFill>
                <a:latin typeface="DM Sans Bold"/>
                <a:ea typeface="DM Sans Bold"/>
                <a:cs typeface="DM Sans Bold"/>
                <a:sym typeface="DM Sans Bold"/>
              </a:rPr>
              <a:t>ongoing bleeding</a:t>
            </a:r>
          </a:p>
        </p:txBody>
      </p:sp>
      <p:grpSp>
        <p:nvGrpSpPr>
          <p:cNvPr name="Group 25" id="25"/>
          <p:cNvGrpSpPr/>
          <p:nvPr/>
        </p:nvGrpSpPr>
        <p:grpSpPr>
          <a:xfrm rot="0">
            <a:off x="0" y="164592"/>
            <a:ext cx="754380" cy="384048"/>
            <a:chOff x="0" y="0"/>
            <a:chExt cx="1005840" cy="512064"/>
          </a:xfrm>
        </p:grpSpPr>
        <p:sp>
          <p:nvSpPr>
            <p:cNvPr name="Freeform 26" id="26"/>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27" id="27"/>
          <p:cNvGrpSpPr/>
          <p:nvPr/>
        </p:nvGrpSpPr>
        <p:grpSpPr>
          <a:xfrm rot="0">
            <a:off x="932688" y="288036"/>
            <a:ext cx="137160" cy="137160"/>
            <a:chOff x="0" y="0"/>
            <a:chExt cx="182880" cy="182880"/>
          </a:xfrm>
        </p:grpSpPr>
        <p:sp>
          <p:nvSpPr>
            <p:cNvPr name="Freeform 28" id="2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9" id="29"/>
          <p:cNvGrpSpPr/>
          <p:nvPr/>
        </p:nvGrpSpPr>
        <p:grpSpPr>
          <a:xfrm rot="0">
            <a:off x="1193292" y="288036"/>
            <a:ext cx="137160" cy="137160"/>
            <a:chOff x="0" y="0"/>
            <a:chExt cx="182880" cy="182880"/>
          </a:xfrm>
        </p:grpSpPr>
        <p:sp>
          <p:nvSpPr>
            <p:cNvPr name="Freeform 30" id="3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1" id="31"/>
          <p:cNvGrpSpPr/>
          <p:nvPr/>
        </p:nvGrpSpPr>
        <p:grpSpPr>
          <a:xfrm rot="0">
            <a:off x="1453896" y="288036"/>
            <a:ext cx="137160" cy="137160"/>
            <a:chOff x="0" y="0"/>
            <a:chExt cx="182880" cy="182880"/>
          </a:xfrm>
        </p:grpSpPr>
        <p:sp>
          <p:nvSpPr>
            <p:cNvPr name="Freeform 32" id="3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3" id="33"/>
          <p:cNvGrpSpPr/>
          <p:nvPr/>
        </p:nvGrpSpPr>
        <p:grpSpPr>
          <a:xfrm rot="0">
            <a:off x="1714500"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5" id="35"/>
          <p:cNvGrpSpPr/>
          <p:nvPr/>
        </p:nvGrpSpPr>
        <p:grpSpPr>
          <a:xfrm rot="0">
            <a:off x="1975104" y="288036"/>
            <a:ext cx="137160" cy="137160"/>
            <a:chOff x="0" y="0"/>
            <a:chExt cx="182880" cy="182880"/>
          </a:xfrm>
        </p:grpSpPr>
        <p:sp>
          <p:nvSpPr>
            <p:cNvPr name="Freeform 36" id="3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7" id="37"/>
          <p:cNvGrpSpPr/>
          <p:nvPr/>
        </p:nvGrpSpPr>
        <p:grpSpPr>
          <a:xfrm rot="0">
            <a:off x="2235708" y="288036"/>
            <a:ext cx="137160" cy="137160"/>
            <a:chOff x="0" y="0"/>
            <a:chExt cx="182880" cy="182880"/>
          </a:xfrm>
        </p:grpSpPr>
        <p:sp>
          <p:nvSpPr>
            <p:cNvPr name="Freeform 38" id="3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9" id="39"/>
          <p:cNvGrpSpPr/>
          <p:nvPr/>
        </p:nvGrpSpPr>
        <p:grpSpPr>
          <a:xfrm rot="0">
            <a:off x="2496312" y="288036"/>
            <a:ext cx="137160" cy="137160"/>
            <a:chOff x="0" y="0"/>
            <a:chExt cx="182880" cy="182880"/>
          </a:xfrm>
        </p:grpSpPr>
        <p:sp>
          <p:nvSpPr>
            <p:cNvPr name="Freeform 40" id="4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5-7. p. 70-76.</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47625"/>
              <a:ext cx="6858000" cy="1364361"/>
            </a:xfrm>
            <a:prstGeom prst="rect">
              <a:avLst/>
            </a:prstGeom>
          </p:spPr>
          <p:txBody>
            <a:bodyPr anchor="ctr" rtlCol="false" tIns="50800" lIns="50800" bIns="50800" rIns="50800"/>
            <a:lstStyle/>
            <a:p>
              <a:pPr algn="ctr">
                <a:lnSpc>
                  <a:spcPts val="3239"/>
                </a:lnSpc>
              </a:pPr>
              <a:r>
                <a:rPr lang="en-US" sz="2475" b="true">
                  <a:solidFill>
                    <a:srgbClr val="FFFFFF"/>
                  </a:solidFill>
                  <a:latin typeface="Droid Serif Bold"/>
                  <a:ea typeface="Droid Serif Bold"/>
                  <a:cs typeface="Droid Serif Bold"/>
                  <a:sym typeface="Droid Serif Bold"/>
                </a:rPr>
                <a:t>Flail Chest &amp; Rib Fractures</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 2 adjacent ribs</a:t>
              </a:r>
              <a:r>
                <a:rPr lang="en-US" sz="2100">
                  <a:solidFill>
                    <a:srgbClr val="E74B2F"/>
                  </a:solidFill>
                  <a:latin typeface="Droid Serif"/>
                  <a:ea typeface="Droid Serif"/>
                  <a:cs typeface="Droid Serif"/>
                  <a:sym typeface="Droid Serif"/>
                </a:rPr>
                <a:t> broken in </a:t>
              </a:r>
              <a:r>
                <a:rPr lang="en-US" sz="2100" b="true">
                  <a:solidFill>
                    <a:srgbClr val="E74B2F"/>
                  </a:solidFill>
                  <a:latin typeface="Droid Serif Bold"/>
                  <a:ea typeface="Droid Serif Bold"/>
                  <a:cs typeface="Droid Serif Bold"/>
                  <a:sym typeface="Droid Serif Bold"/>
                </a:rPr>
                <a:t>≥ 2 places</a:t>
              </a:r>
              <a:r>
                <a:rPr lang="en-US" sz="2100">
                  <a:solidFill>
                    <a:srgbClr val="E74B2F"/>
                  </a:solidFill>
                  <a:latin typeface="Droid Serif"/>
                  <a:ea typeface="Droid Serif"/>
                  <a:cs typeface="Droid Serif"/>
                  <a:sym typeface="Droid Serif"/>
                </a:rPr>
                <a:t> → </a:t>
              </a:r>
              <a:r>
                <a:rPr lang="en-US" sz="2100" b="true">
                  <a:solidFill>
                    <a:srgbClr val="E74B2F"/>
                  </a:solidFill>
                  <a:latin typeface="Droid Serif Bold"/>
                  <a:ea typeface="Droid Serif Bold"/>
                  <a:cs typeface="Droid Serif Bold"/>
                  <a:sym typeface="Droid Serif Bold"/>
                </a:rPr>
                <a:t>paradoxical movement</a:t>
              </a:r>
            </a:p>
          </p:txBody>
        </p:sp>
      </p:grpSp>
      <p:grpSp>
        <p:nvGrpSpPr>
          <p:cNvPr name="Group 12" id="12"/>
          <p:cNvGrpSpPr/>
          <p:nvPr/>
        </p:nvGrpSpPr>
        <p:grpSpPr>
          <a:xfrm rot="0">
            <a:off x="1346473" y="1947672"/>
            <a:ext cx="4699978" cy="2551176"/>
            <a:chOff x="0" y="0"/>
            <a:chExt cx="6266637" cy="3401568"/>
          </a:xfrm>
        </p:grpSpPr>
        <p:sp>
          <p:nvSpPr>
            <p:cNvPr name="Freeform 13" id="13"/>
            <p:cNvSpPr/>
            <p:nvPr/>
          </p:nvSpPr>
          <p:spPr>
            <a:xfrm flipH="false" flipV="false" rot="0">
              <a:off x="0" y="0"/>
              <a:ext cx="6266688" cy="3401568"/>
            </a:xfrm>
            <a:custGeom>
              <a:avLst/>
              <a:gdLst/>
              <a:ahLst/>
              <a:cxnLst/>
              <a:rect r="r" b="b" t="t" l="l"/>
              <a:pathLst>
                <a:path h="3401568" w="6266688">
                  <a:moveTo>
                    <a:pt x="0" y="266827"/>
                  </a:moveTo>
                  <a:cubicBezTo>
                    <a:pt x="0" y="119507"/>
                    <a:pt x="119507" y="0"/>
                    <a:pt x="266827" y="0"/>
                  </a:cubicBezTo>
                  <a:lnTo>
                    <a:pt x="5999861" y="0"/>
                  </a:lnTo>
                  <a:cubicBezTo>
                    <a:pt x="6147181" y="0"/>
                    <a:pt x="6266688" y="119507"/>
                    <a:pt x="6266688" y="266827"/>
                  </a:cubicBezTo>
                  <a:lnTo>
                    <a:pt x="6266688" y="3134741"/>
                  </a:lnTo>
                  <a:cubicBezTo>
                    <a:pt x="6266688" y="3282061"/>
                    <a:pt x="6147181" y="3401568"/>
                    <a:pt x="5999861"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1415053" y="2016252"/>
            <a:ext cx="4562818" cy="2414016"/>
            <a:chOff x="0" y="0"/>
            <a:chExt cx="6083757" cy="3218688"/>
          </a:xfrm>
        </p:grpSpPr>
        <p:sp>
          <p:nvSpPr>
            <p:cNvPr name="Freeform 15" id="15" descr="Flail segment moving inward on inspiration and outward on expiration"/>
            <p:cNvSpPr/>
            <p:nvPr/>
          </p:nvSpPr>
          <p:spPr>
            <a:xfrm flipH="false" flipV="false" rot="0">
              <a:off x="0" y="0"/>
              <a:ext cx="6083808" cy="3218688"/>
            </a:xfrm>
            <a:custGeom>
              <a:avLst/>
              <a:gdLst/>
              <a:ahLst/>
              <a:cxnLst/>
              <a:rect r="r" b="b" t="t" l="l"/>
              <a:pathLst>
                <a:path h="3218688" w="6083808">
                  <a:moveTo>
                    <a:pt x="0" y="0"/>
                  </a:moveTo>
                  <a:lnTo>
                    <a:pt x="6083808" y="0"/>
                  </a:lnTo>
                  <a:lnTo>
                    <a:pt x="6083808" y="3218688"/>
                  </a:lnTo>
                  <a:lnTo>
                    <a:pt x="0" y="3218688"/>
                  </a:lnTo>
                  <a:lnTo>
                    <a:pt x="0" y="0"/>
                  </a:lnTo>
                  <a:close/>
                </a:path>
              </a:pathLst>
            </a:custGeom>
            <a:blipFill>
              <a:blip r:embed="rId3"/>
              <a:stretch>
                <a:fillRect l="0" t="0" r="0" b="0"/>
              </a:stretch>
            </a:blipFill>
          </p:spPr>
        </p:sp>
      </p:grpSp>
      <p:sp>
        <p:nvSpPr>
          <p:cNvPr name="TextBox 16" id="16"/>
          <p:cNvSpPr txBox="true"/>
          <p:nvPr/>
        </p:nvSpPr>
        <p:spPr>
          <a:xfrm rot="0">
            <a:off x="1062990" y="451561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Paradoxical movement (Fig 5-7A)</a:t>
            </a:r>
          </a:p>
        </p:txBody>
      </p:sp>
      <p:grpSp>
        <p:nvGrpSpPr>
          <p:cNvPr name="Group 17" id="17"/>
          <p:cNvGrpSpPr/>
          <p:nvPr/>
        </p:nvGrpSpPr>
        <p:grpSpPr>
          <a:xfrm rot="0">
            <a:off x="2175139" y="4965192"/>
            <a:ext cx="3042647" cy="2551176"/>
            <a:chOff x="0" y="0"/>
            <a:chExt cx="4056863" cy="3401568"/>
          </a:xfrm>
        </p:grpSpPr>
        <p:sp>
          <p:nvSpPr>
            <p:cNvPr name="Freeform 18" id="18"/>
            <p:cNvSpPr/>
            <p:nvPr/>
          </p:nvSpPr>
          <p:spPr>
            <a:xfrm flipH="false" flipV="false" rot="0">
              <a:off x="0" y="0"/>
              <a:ext cx="4056888" cy="3401568"/>
            </a:xfrm>
            <a:custGeom>
              <a:avLst/>
              <a:gdLst/>
              <a:ahLst/>
              <a:cxnLst/>
              <a:rect r="r" b="b" t="t" l="l"/>
              <a:pathLst>
                <a:path h="3401568" w="4056888">
                  <a:moveTo>
                    <a:pt x="0" y="266827"/>
                  </a:moveTo>
                  <a:cubicBezTo>
                    <a:pt x="0" y="119507"/>
                    <a:pt x="119507" y="0"/>
                    <a:pt x="266827" y="0"/>
                  </a:cubicBezTo>
                  <a:lnTo>
                    <a:pt x="3790061" y="0"/>
                  </a:lnTo>
                  <a:cubicBezTo>
                    <a:pt x="3937381" y="0"/>
                    <a:pt x="4056888" y="119507"/>
                    <a:pt x="4056888" y="266827"/>
                  </a:cubicBezTo>
                  <a:lnTo>
                    <a:pt x="4056888" y="3134741"/>
                  </a:lnTo>
                  <a:cubicBezTo>
                    <a:pt x="4056888" y="3282061"/>
                    <a:pt x="3937381" y="3401568"/>
                    <a:pt x="3790061"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243719" y="5033772"/>
            <a:ext cx="2905487" cy="2414016"/>
            <a:chOff x="0" y="0"/>
            <a:chExt cx="3873983" cy="3218688"/>
          </a:xfrm>
        </p:grpSpPr>
        <p:sp>
          <p:nvSpPr>
            <p:cNvPr name="Freeform 20" id="20" descr="Chest X-ray with multiple rib fractures and pulmonary contusion"/>
            <p:cNvSpPr/>
            <p:nvPr/>
          </p:nvSpPr>
          <p:spPr>
            <a:xfrm flipH="false" flipV="false" rot="0">
              <a:off x="0" y="0"/>
              <a:ext cx="3874008" cy="3218688"/>
            </a:xfrm>
            <a:custGeom>
              <a:avLst/>
              <a:gdLst/>
              <a:ahLst/>
              <a:cxnLst/>
              <a:rect r="r" b="b" t="t" l="l"/>
              <a:pathLst>
                <a:path h="3218688" w="3874008">
                  <a:moveTo>
                    <a:pt x="0" y="0"/>
                  </a:moveTo>
                  <a:lnTo>
                    <a:pt x="3874008" y="0"/>
                  </a:lnTo>
                  <a:lnTo>
                    <a:pt x="3874008" y="3218688"/>
                  </a:lnTo>
                  <a:lnTo>
                    <a:pt x="0" y="3218688"/>
                  </a:lnTo>
                  <a:lnTo>
                    <a:pt x="0" y="0"/>
                  </a:lnTo>
                  <a:close/>
                </a:path>
              </a:pathLst>
            </a:custGeom>
            <a:blipFill>
              <a:blip r:embed="rId4"/>
              <a:stretch>
                <a:fillRect l="0" t="0" r="0" b="0"/>
              </a:stretch>
            </a:blipFill>
          </p:spPr>
        </p:sp>
      </p:grpSp>
      <p:sp>
        <p:nvSpPr>
          <p:cNvPr name="TextBox 21" id="21"/>
          <p:cNvSpPr txBox="true"/>
          <p:nvPr/>
        </p:nvSpPr>
        <p:spPr>
          <a:xfrm rot="0">
            <a:off x="1062990" y="753313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Multiple rib fx + contusion (Fig 5-7C)</a:t>
            </a:r>
          </a:p>
        </p:txBody>
      </p:sp>
      <p:grpSp>
        <p:nvGrpSpPr>
          <p:cNvPr name="Group 22" id="22"/>
          <p:cNvGrpSpPr/>
          <p:nvPr/>
        </p:nvGrpSpPr>
        <p:grpSpPr>
          <a:xfrm rot="0">
            <a:off x="6438900" y="1859166"/>
            <a:ext cx="10629900" cy="2114255"/>
            <a:chOff x="0" y="0"/>
            <a:chExt cx="14173200" cy="2819006"/>
          </a:xfrm>
        </p:grpSpPr>
        <p:sp>
          <p:nvSpPr>
            <p:cNvPr name="Freeform 23" id="23"/>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FFF4F1"/>
            </a:solidFill>
          </p:spPr>
        </p:sp>
      </p:grpSp>
      <p:sp>
        <p:nvSpPr>
          <p:cNvPr name="TextBox 24" id="24"/>
          <p:cNvSpPr txBox="true"/>
          <p:nvPr/>
        </p:nvSpPr>
        <p:spPr>
          <a:xfrm rot="0">
            <a:off x="6705600" y="2011566"/>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5" id="25"/>
          <p:cNvSpPr txBox="true"/>
          <p:nvPr/>
        </p:nvSpPr>
        <p:spPr>
          <a:xfrm rot="0">
            <a:off x="6843141" y="2426789"/>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Severe pain, splinting &amp; </a:t>
            </a:r>
            <a:r>
              <a:rPr lang="en-US" sz="1950" b="true">
                <a:solidFill>
                  <a:srgbClr val="1F1210"/>
                </a:solidFill>
                <a:latin typeface="DM Sans Bold"/>
                <a:ea typeface="DM Sans Bold"/>
                <a:cs typeface="DM Sans Bold"/>
                <a:sym typeface="DM Sans Bold"/>
              </a:rPr>
              <a:t>paradoxical chest movement</a:t>
            </a:r>
            <a:r>
              <a:rPr lang="en-US" sz="1950">
                <a:solidFill>
                  <a:srgbClr val="1F1210"/>
                </a:solidFill>
                <a:latin typeface="DM Sans"/>
                <a:ea typeface="DM Sans"/>
                <a:cs typeface="DM Sans"/>
                <a:sym typeface="DM Sans"/>
              </a:rPr>
              <a:t> (clinical flail)</a:t>
            </a:r>
          </a:p>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Severe hypoxemia driven by underlying </a:t>
            </a:r>
            <a:r>
              <a:rPr lang="en-US" sz="1950" b="true">
                <a:solidFill>
                  <a:srgbClr val="1F1210"/>
                </a:solidFill>
                <a:latin typeface="DM Sans Bold"/>
                <a:ea typeface="DM Sans Bold"/>
                <a:cs typeface="DM Sans Bold"/>
                <a:sym typeface="DM Sans Bold"/>
              </a:rPr>
              <a:t>pulmonary contusion</a:t>
            </a:r>
          </a:p>
          <a:p>
            <a:pPr algn="l" marL="352901" indent="-176451" lvl="1">
              <a:lnSpc>
                <a:spcPts val="2632"/>
              </a:lnSpc>
              <a:buFont typeface="Arial"/>
              <a:buChar char="•"/>
            </a:pPr>
            <a:r>
              <a:rPr lang="en-US" sz="1950" b="true">
                <a:solidFill>
                  <a:srgbClr val="1F1210"/>
                </a:solidFill>
                <a:latin typeface="DM Sans Bold"/>
                <a:ea typeface="DM Sans Bold"/>
                <a:cs typeface="DM Sans Bold"/>
                <a:sym typeface="DM Sans Bold"/>
              </a:rPr>
              <a:t>CT scan</a:t>
            </a:r>
            <a:r>
              <a:rPr lang="en-US" sz="1950">
                <a:solidFill>
                  <a:srgbClr val="1F1210"/>
                </a:solidFill>
                <a:latin typeface="DM Sans"/>
                <a:ea typeface="DM Sans"/>
                <a:cs typeface="DM Sans"/>
                <a:sym typeface="DM Sans"/>
              </a:rPr>
              <a:t> best defines fracture segments &amp; lung injury</a:t>
            </a:r>
          </a:p>
        </p:txBody>
      </p:sp>
      <p:grpSp>
        <p:nvGrpSpPr>
          <p:cNvPr name="Group 26" id="26"/>
          <p:cNvGrpSpPr/>
          <p:nvPr/>
        </p:nvGrpSpPr>
        <p:grpSpPr>
          <a:xfrm rot="0">
            <a:off x="6438900" y="4125811"/>
            <a:ext cx="10629900" cy="2782786"/>
            <a:chOff x="0" y="0"/>
            <a:chExt cx="14173200" cy="3710381"/>
          </a:xfrm>
        </p:grpSpPr>
        <p:sp>
          <p:nvSpPr>
            <p:cNvPr name="Freeform 27" id="27"/>
            <p:cNvSpPr/>
            <p:nvPr/>
          </p:nvSpPr>
          <p:spPr>
            <a:xfrm flipH="false" flipV="false" rot="0">
              <a:off x="0" y="0"/>
              <a:ext cx="14173200" cy="3710432"/>
            </a:xfrm>
            <a:custGeom>
              <a:avLst/>
              <a:gdLst/>
              <a:ahLst/>
              <a:cxnLst/>
              <a:rect r="r" b="b" t="t" l="l"/>
              <a:pathLst>
                <a:path h="3710432" w="14173200">
                  <a:moveTo>
                    <a:pt x="0" y="304800"/>
                  </a:moveTo>
                  <a:cubicBezTo>
                    <a:pt x="0" y="136525"/>
                    <a:pt x="136525" y="0"/>
                    <a:pt x="304800" y="0"/>
                  </a:cubicBezTo>
                  <a:lnTo>
                    <a:pt x="13868400" y="0"/>
                  </a:lnTo>
                  <a:cubicBezTo>
                    <a:pt x="14036802" y="0"/>
                    <a:pt x="14173200" y="136525"/>
                    <a:pt x="14173200" y="304800"/>
                  </a:cubicBezTo>
                  <a:lnTo>
                    <a:pt x="14173200" y="3405632"/>
                  </a:lnTo>
                  <a:cubicBezTo>
                    <a:pt x="14173200" y="3574034"/>
                    <a:pt x="14036675" y="3710432"/>
                    <a:pt x="13868400" y="3710432"/>
                  </a:cubicBezTo>
                  <a:lnTo>
                    <a:pt x="304800" y="3710432"/>
                  </a:lnTo>
                  <a:cubicBezTo>
                    <a:pt x="136398" y="3710432"/>
                    <a:pt x="0" y="3573907"/>
                    <a:pt x="0" y="3405632"/>
                  </a:cubicBezTo>
                  <a:close/>
                </a:path>
              </a:pathLst>
            </a:custGeom>
            <a:solidFill>
              <a:srgbClr val="C42D29"/>
            </a:solidFill>
          </p:spPr>
        </p:sp>
      </p:grpSp>
      <p:sp>
        <p:nvSpPr>
          <p:cNvPr name="TextBox 28" id="28"/>
          <p:cNvSpPr txBox="true"/>
          <p:nvPr/>
        </p:nvSpPr>
        <p:spPr>
          <a:xfrm rot="0">
            <a:off x="6705600" y="4278211"/>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 — analgesia is the treatment</a:t>
            </a:r>
          </a:p>
        </p:txBody>
      </p:sp>
      <p:sp>
        <p:nvSpPr>
          <p:cNvPr name="TextBox 29" id="29"/>
          <p:cNvSpPr txBox="true"/>
          <p:nvPr/>
        </p:nvSpPr>
        <p:spPr>
          <a:xfrm rot="0">
            <a:off x="6843141" y="4693444"/>
            <a:ext cx="10250424" cy="206276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Core treatment: </a:t>
            </a:r>
            <a:r>
              <a:rPr lang="en-US" sz="1950" b="true">
                <a:solidFill>
                  <a:srgbClr val="FFFFFF"/>
                </a:solidFill>
                <a:latin typeface="DM Sans Bold"/>
                <a:ea typeface="DM Sans Bold"/>
                <a:cs typeface="DM Sans Bold"/>
                <a:sym typeface="DM Sans Bold"/>
              </a:rPr>
              <a:t>pain control</a:t>
            </a:r>
            <a:r>
              <a:rPr lang="en-US" sz="1950">
                <a:solidFill>
                  <a:srgbClr val="FFFFFF"/>
                </a:solidFill>
                <a:latin typeface="DM Sans"/>
                <a:ea typeface="DM Sans"/>
                <a:cs typeface="DM Sans"/>
                <a:sym typeface="DM Sans"/>
              </a:rPr>
              <a:t> &amp; </a:t>
            </a:r>
            <a:r>
              <a:rPr lang="en-US" sz="1950" b="true">
                <a:solidFill>
                  <a:srgbClr val="FFFFFF"/>
                </a:solidFill>
                <a:latin typeface="DM Sans Bold"/>
                <a:ea typeface="DM Sans Bold"/>
                <a:cs typeface="DM Sans Bold"/>
                <a:sym typeface="DM Sans Bold"/>
              </a:rPr>
              <a:t>pulmonary hygiene</a:t>
            </a:r>
            <a:r>
              <a:rPr lang="en-US" sz="1950">
                <a:solidFill>
                  <a:srgbClr val="FFFFFF"/>
                </a:solidFill>
                <a:latin typeface="DM Sans"/>
                <a:ea typeface="DM Sans"/>
                <a:cs typeface="DM Sans"/>
                <a:sym typeface="DM Sans"/>
              </a:rPr>
              <a:t> (prevents pneumonia)</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Multimodal non-opioid analgesia</a:t>
            </a:r>
            <a:r>
              <a:rPr lang="en-US" sz="1950">
                <a:solidFill>
                  <a:srgbClr val="FFFFFF"/>
                </a:solidFill>
                <a:latin typeface="DM Sans"/>
                <a:ea typeface="DM Sans"/>
                <a:cs typeface="DM Sans"/>
                <a:sym typeface="DM Sans"/>
              </a:rPr>
              <a:t> + </a:t>
            </a:r>
            <a:r>
              <a:rPr lang="en-US" sz="1950" b="true">
                <a:solidFill>
                  <a:srgbClr val="FFFFFF"/>
                </a:solidFill>
                <a:latin typeface="DM Sans Bold"/>
                <a:ea typeface="DM Sans Bold"/>
                <a:cs typeface="DM Sans Bold"/>
                <a:sym typeface="DM Sans Bold"/>
              </a:rPr>
              <a:t>regional blocks</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Intubate</a:t>
            </a:r>
            <a:r>
              <a:rPr lang="en-US" sz="1950">
                <a:solidFill>
                  <a:srgbClr val="FFFFFF"/>
                </a:solidFill>
                <a:latin typeface="DM Sans"/>
                <a:ea typeface="DM Sans"/>
                <a:cs typeface="DM Sans"/>
                <a:sym typeface="DM Sans"/>
              </a:rPr>
              <a:t> for respiratory failure or severe hypoxemia</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Surgical stabilization (SSRF)</a:t>
            </a:r>
            <a:r>
              <a:rPr lang="en-US" sz="1950">
                <a:solidFill>
                  <a:srgbClr val="FFFFFF"/>
                </a:solidFill>
                <a:latin typeface="DM Sans"/>
                <a:ea typeface="DM Sans"/>
                <a:cs typeface="DM Sans"/>
                <a:sym typeface="DM Sans"/>
              </a:rPr>
              <a:t> for select flail chest</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5903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4 p. 60; Chapter 5, Figure 5-9. p. 68-75.</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Pulmonary Contusion</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Alveolar hemorrhage &amp; edema</a:t>
              </a:r>
              <a:r>
                <a:rPr lang="en-US" sz="2100">
                  <a:solidFill>
                    <a:srgbClr val="E74B2F"/>
                  </a:solidFill>
                  <a:latin typeface="Droid Serif"/>
                  <a:ea typeface="Droid Serif"/>
                  <a:cs typeface="Droid Serif"/>
                  <a:sym typeface="Droid Serif"/>
                </a:rPr>
                <a:t> without lung tear — </a:t>
              </a:r>
              <a:r>
                <a:rPr lang="en-US" sz="2100" b="true">
                  <a:solidFill>
                    <a:srgbClr val="E74B2F"/>
                  </a:solidFill>
                  <a:latin typeface="Droid Serif Bold"/>
                  <a:ea typeface="Droid Serif Bold"/>
                  <a:cs typeface="Droid Serif Bold"/>
                  <a:sym typeface="Droid Serif Bold"/>
                </a:rPr>
                <a:t>most common</a:t>
              </a:r>
              <a:r>
                <a:rPr lang="en-US" sz="2100">
                  <a:solidFill>
                    <a:srgbClr val="E74B2F"/>
                  </a:solidFill>
                  <a:latin typeface="Droid Serif"/>
                  <a:ea typeface="Droid Serif"/>
                  <a:cs typeface="Droid Serif"/>
                  <a:sym typeface="Droid Serif"/>
                </a:rPr>
                <a:t> chest injury</a:t>
              </a:r>
            </a:p>
          </p:txBody>
        </p:sp>
      </p:grpSp>
      <p:grpSp>
        <p:nvGrpSpPr>
          <p:cNvPr name="Group 12" id="12"/>
          <p:cNvGrpSpPr/>
          <p:nvPr/>
        </p:nvGrpSpPr>
        <p:grpSpPr>
          <a:xfrm rot="0">
            <a:off x="1330452" y="2434076"/>
            <a:ext cx="4732020" cy="3640274"/>
            <a:chOff x="0" y="0"/>
            <a:chExt cx="6309360" cy="4853699"/>
          </a:xfrm>
        </p:grpSpPr>
        <p:sp>
          <p:nvSpPr>
            <p:cNvPr name="Freeform 13" id="13" descr="Chest X-ray showing pulmonary contusion, subcutaneous emphysema and a chest tube"/>
            <p:cNvSpPr/>
            <p:nvPr/>
          </p:nvSpPr>
          <p:spPr>
            <a:xfrm flipH="false" flipV="false" rot="0">
              <a:off x="0" y="0"/>
              <a:ext cx="6309360" cy="4853686"/>
            </a:xfrm>
            <a:custGeom>
              <a:avLst/>
              <a:gdLst/>
              <a:ahLst/>
              <a:cxnLst/>
              <a:rect r="r" b="b" t="t" l="l"/>
              <a:pathLst>
                <a:path h="4853686" w="6309360">
                  <a:moveTo>
                    <a:pt x="0" y="0"/>
                  </a:moveTo>
                  <a:lnTo>
                    <a:pt x="6309360" y="0"/>
                  </a:lnTo>
                  <a:lnTo>
                    <a:pt x="6309360" y="4853686"/>
                  </a:lnTo>
                  <a:lnTo>
                    <a:pt x="0" y="4853686"/>
                  </a:lnTo>
                  <a:lnTo>
                    <a:pt x="0" y="0"/>
                  </a:lnTo>
                  <a:close/>
                </a:path>
              </a:pathLst>
            </a:custGeom>
            <a:blipFill>
              <a:blip r:embed="rId3"/>
              <a:stretch>
                <a:fillRect l="0" t="0" r="0" b="0"/>
              </a:stretch>
            </a:blipFill>
          </p:spPr>
        </p:sp>
      </p:grpSp>
      <p:sp>
        <p:nvSpPr>
          <p:cNvPr name="TextBox 14" id="14"/>
          <p:cNvSpPr txBox="true"/>
          <p:nvPr/>
        </p:nvSpPr>
        <p:spPr>
          <a:xfrm rot="0">
            <a:off x="1062990" y="620084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CXR: contusion, subcut. air (Fig 5-9A)</a:t>
            </a:r>
          </a:p>
        </p:txBody>
      </p:sp>
      <p:grpSp>
        <p:nvGrpSpPr>
          <p:cNvPr name="Group 15" id="15"/>
          <p:cNvGrpSpPr/>
          <p:nvPr/>
        </p:nvGrpSpPr>
        <p:grpSpPr>
          <a:xfrm rot="0">
            <a:off x="6438900" y="2351780"/>
            <a:ext cx="10629900" cy="2448525"/>
            <a:chOff x="0" y="0"/>
            <a:chExt cx="14173200" cy="3264700"/>
          </a:xfrm>
        </p:grpSpPr>
        <p:sp>
          <p:nvSpPr>
            <p:cNvPr name="Freeform 16" id="16"/>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17" id="17"/>
          <p:cNvSpPr txBox="true"/>
          <p:nvPr/>
        </p:nvSpPr>
        <p:spPr>
          <a:xfrm rot="0">
            <a:off x="6705600" y="2504180"/>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18" id="18"/>
          <p:cNvSpPr txBox="true"/>
          <p:nvPr/>
        </p:nvSpPr>
        <p:spPr>
          <a:xfrm rot="0">
            <a:off x="6843141" y="2919412"/>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Often </a:t>
            </a:r>
            <a:r>
              <a:rPr lang="en-US" sz="1950" b="true">
                <a:solidFill>
                  <a:srgbClr val="1F1210"/>
                </a:solidFill>
                <a:latin typeface="DM Sans Bold"/>
                <a:ea typeface="DM Sans Bold"/>
                <a:cs typeface="DM Sans Bold"/>
                <a:sym typeface="DM Sans Bold"/>
              </a:rPr>
              <a:t>asymptomatic initially</a:t>
            </a:r>
            <a:r>
              <a:rPr lang="en-US" sz="1950">
                <a:solidFill>
                  <a:srgbClr val="1F1210"/>
                </a:solidFill>
                <a:latin typeface="DM Sans"/>
                <a:ea typeface="DM Sans"/>
                <a:cs typeface="DM Sans"/>
                <a:sym typeface="DM Sans"/>
              </a:rPr>
              <a:t> → worsens over </a:t>
            </a:r>
            <a:r>
              <a:rPr lang="en-US" sz="1950" b="true">
                <a:solidFill>
                  <a:srgbClr val="1F1210"/>
                </a:solidFill>
                <a:latin typeface="DM Sans Bold"/>
                <a:ea typeface="DM Sans Bold"/>
                <a:cs typeface="DM Sans Bold"/>
                <a:sym typeface="DM Sans Bold"/>
              </a:rPr>
              <a:t>24–72 h</a:t>
            </a:r>
          </a:p>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CXR</a:t>
            </a:r>
            <a:r>
              <a:rPr lang="en-US" sz="1950">
                <a:solidFill>
                  <a:srgbClr val="1F1210"/>
                </a:solidFill>
                <a:latin typeface="DM Sans"/>
                <a:ea typeface="DM Sans"/>
                <a:cs typeface="DM Sans"/>
                <a:sym typeface="DM Sans"/>
              </a:rPr>
              <a:t>: nonsegmental infiltrate (delayed </a:t>
            </a:r>
            <a:r>
              <a:rPr lang="en-US" sz="1950" b="true">
                <a:solidFill>
                  <a:srgbClr val="1F1210"/>
                </a:solidFill>
                <a:latin typeface="DM Sans Bold"/>
                <a:ea typeface="DM Sans Bold"/>
                <a:cs typeface="DM Sans Bold"/>
                <a:sym typeface="DM Sans Bold"/>
              </a:rPr>
              <a:t>~6–48 h</a:t>
            </a:r>
            <a:r>
              <a:rPr lang="en-US" sz="1950">
                <a:solidFill>
                  <a:srgbClr val="1F1210"/>
                </a:solidFill>
                <a:latin typeface="DM Sans"/>
                <a:ea typeface="DM Sans"/>
                <a:cs typeface="DM Sans"/>
                <a:sym typeface="DM Sans"/>
              </a:rPr>
              <a:t>)</a:t>
            </a:r>
          </a:p>
          <a:p>
            <a:pPr algn="l" marL="352901" indent="-176451" lvl="1">
              <a:lnSpc>
                <a:spcPts val="2632"/>
              </a:lnSpc>
              <a:buFont typeface="Arial"/>
              <a:buChar char="•"/>
            </a:pPr>
            <a:r>
              <a:rPr lang="en-US" sz="1950" b="true">
                <a:solidFill>
                  <a:srgbClr val="1F1210"/>
                </a:solidFill>
                <a:latin typeface="DM Sans Bold"/>
                <a:ea typeface="DM Sans Bold"/>
                <a:cs typeface="DM Sans Bold"/>
                <a:sym typeface="DM Sans Bold"/>
              </a:rPr>
              <a:t>CT scan</a:t>
            </a:r>
            <a:r>
              <a:rPr lang="en-US" sz="1950">
                <a:solidFill>
                  <a:srgbClr val="1F1210"/>
                </a:solidFill>
                <a:latin typeface="DM Sans"/>
                <a:ea typeface="DM Sans"/>
                <a:cs typeface="DM Sans"/>
                <a:sym typeface="DM Sans"/>
              </a:rPr>
              <a:t>: immediate detection; volume correlates with outcome</a:t>
            </a:r>
          </a:p>
        </p:txBody>
      </p:sp>
      <p:grpSp>
        <p:nvGrpSpPr>
          <p:cNvPr name="Group 19" id="19"/>
          <p:cNvGrpSpPr/>
          <p:nvPr/>
        </p:nvGrpSpPr>
        <p:grpSpPr>
          <a:xfrm rot="0">
            <a:off x="6438900" y="4952705"/>
            <a:ext cx="10629900" cy="2114255"/>
            <a:chOff x="0" y="0"/>
            <a:chExt cx="14173200" cy="2819006"/>
          </a:xfrm>
        </p:grpSpPr>
        <p:sp>
          <p:nvSpPr>
            <p:cNvPr name="Freeform 20" id="20"/>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1" id="21"/>
          <p:cNvSpPr txBox="true"/>
          <p:nvPr/>
        </p:nvSpPr>
        <p:spPr>
          <a:xfrm rot="0">
            <a:off x="6705600" y="5105105"/>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2" id="22"/>
          <p:cNvSpPr txBox="true"/>
          <p:nvPr/>
        </p:nvSpPr>
        <p:spPr>
          <a:xfrm rot="0">
            <a:off x="6843141" y="5520338"/>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Supplemental O₂</a:t>
            </a:r>
            <a:r>
              <a:rPr lang="en-US" sz="1950">
                <a:solidFill>
                  <a:srgbClr val="FFFFFF"/>
                </a:solidFill>
                <a:latin typeface="DM Sans"/>
                <a:ea typeface="DM Sans"/>
                <a:cs typeface="DM Sans"/>
                <a:sym typeface="DM Sans"/>
              </a:rPr>
              <a:t> ± </a:t>
            </a:r>
            <a:r>
              <a:rPr lang="en-US" sz="1950" b="true">
                <a:solidFill>
                  <a:srgbClr val="FFFFFF"/>
                </a:solidFill>
                <a:latin typeface="DM Sans Bold"/>
                <a:ea typeface="DM Sans Bold"/>
                <a:cs typeface="DM Sans Bold"/>
                <a:sym typeface="DM Sans Bold"/>
              </a:rPr>
              <a:t>mechanical ventilation</a:t>
            </a:r>
            <a:r>
              <a:rPr lang="en-US" sz="1950">
                <a:solidFill>
                  <a:srgbClr val="FFFFFF"/>
                </a:solidFill>
                <a:latin typeface="DM Sans"/>
                <a:ea typeface="DM Sans"/>
                <a:cs typeface="DM Sans"/>
                <a:sym typeface="DM Sans"/>
              </a:rPr>
              <a:t> to maintain SpO₂</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Avoid volume overload</a:t>
            </a:r>
            <a:r>
              <a:rPr lang="en-US" sz="1950">
                <a:solidFill>
                  <a:srgbClr val="FFFFFF"/>
                </a:solidFill>
                <a:latin typeface="DM Sans"/>
                <a:ea typeface="DM Sans"/>
                <a:cs typeface="DM Sans"/>
                <a:sym typeface="DM Sans"/>
              </a:rPr>
              <a:t> while supporting circulation</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Pain control &amp; pulmonary hygiene</a:t>
            </a:r>
            <a:r>
              <a:rPr lang="en-US" sz="1950">
                <a:solidFill>
                  <a:srgbClr val="FFFFFF"/>
                </a:solidFill>
                <a:latin typeface="DM Sans"/>
                <a:ea typeface="DM Sans"/>
                <a:cs typeface="DM Sans"/>
                <a:sym typeface="DM Sans"/>
              </a:rPr>
              <a:t> (~20% develop pneumonia)</a:t>
            </a:r>
          </a:p>
        </p:txBody>
      </p:sp>
      <p:grpSp>
        <p:nvGrpSpPr>
          <p:cNvPr name="Group 23" id="23"/>
          <p:cNvGrpSpPr/>
          <p:nvPr/>
        </p:nvGrpSpPr>
        <p:grpSpPr>
          <a:xfrm rot="0">
            <a:off x="0" y="164592"/>
            <a:ext cx="754380" cy="384048"/>
            <a:chOff x="0" y="0"/>
            <a:chExt cx="1005840" cy="512064"/>
          </a:xfrm>
        </p:grpSpPr>
        <p:sp>
          <p:nvSpPr>
            <p:cNvPr name="Freeform 24" id="24"/>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25" id="25"/>
          <p:cNvGrpSpPr/>
          <p:nvPr/>
        </p:nvGrpSpPr>
        <p:grpSpPr>
          <a:xfrm rot="0">
            <a:off x="932688" y="288036"/>
            <a:ext cx="137160" cy="137160"/>
            <a:chOff x="0" y="0"/>
            <a:chExt cx="182880" cy="182880"/>
          </a:xfrm>
        </p:grpSpPr>
        <p:sp>
          <p:nvSpPr>
            <p:cNvPr name="Freeform 26" id="2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7" id="27"/>
          <p:cNvGrpSpPr/>
          <p:nvPr/>
        </p:nvGrpSpPr>
        <p:grpSpPr>
          <a:xfrm rot="0">
            <a:off x="1193292" y="288036"/>
            <a:ext cx="137160" cy="137160"/>
            <a:chOff x="0" y="0"/>
            <a:chExt cx="182880" cy="182880"/>
          </a:xfrm>
        </p:grpSpPr>
        <p:sp>
          <p:nvSpPr>
            <p:cNvPr name="Freeform 28" id="2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9" id="29"/>
          <p:cNvGrpSpPr/>
          <p:nvPr/>
        </p:nvGrpSpPr>
        <p:grpSpPr>
          <a:xfrm rot="0">
            <a:off x="1453896" y="288036"/>
            <a:ext cx="137160" cy="137160"/>
            <a:chOff x="0" y="0"/>
            <a:chExt cx="182880" cy="182880"/>
          </a:xfrm>
        </p:grpSpPr>
        <p:sp>
          <p:nvSpPr>
            <p:cNvPr name="Freeform 30" id="3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1" id="31"/>
          <p:cNvGrpSpPr/>
          <p:nvPr/>
        </p:nvGrpSpPr>
        <p:grpSpPr>
          <a:xfrm rot="0">
            <a:off x="1714500" y="288036"/>
            <a:ext cx="137160" cy="137160"/>
            <a:chOff x="0" y="0"/>
            <a:chExt cx="182880" cy="182880"/>
          </a:xfrm>
        </p:grpSpPr>
        <p:sp>
          <p:nvSpPr>
            <p:cNvPr name="Freeform 32" id="3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3" id="33"/>
          <p:cNvGrpSpPr/>
          <p:nvPr/>
        </p:nvGrpSpPr>
        <p:grpSpPr>
          <a:xfrm rot="0">
            <a:off x="1975104"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5" id="35"/>
          <p:cNvGrpSpPr/>
          <p:nvPr/>
        </p:nvGrpSpPr>
        <p:grpSpPr>
          <a:xfrm rot="0">
            <a:off x="2235708" y="288036"/>
            <a:ext cx="137160" cy="137160"/>
            <a:chOff x="0" y="0"/>
            <a:chExt cx="182880" cy="182880"/>
          </a:xfrm>
        </p:grpSpPr>
        <p:sp>
          <p:nvSpPr>
            <p:cNvPr name="Freeform 36" id="3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7" id="37"/>
          <p:cNvGrpSpPr/>
          <p:nvPr/>
        </p:nvGrpSpPr>
        <p:grpSpPr>
          <a:xfrm rot="0">
            <a:off x="2496312" y="288036"/>
            <a:ext cx="137160" cy="137160"/>
            <a:chOff x="0" y="0"/>
            <a:chExt cx="182880" cy="182880"/>
          </a:xfrm>
        </p:grpSpPr>
        <p:sp>
          <p:nvSpPr>
            <p:cNvPr name="Freeform 38" id="3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5-10. p. 71-77.</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47625"/>
              <a:ext cx="6858000" cy="1364361"/>
            </a:xfrm>
            <a:prstGeom prst="rect">
              <a:avLst/>
            </a:prstGeom>
          </p:spPr>
          <p:txBody>
            <a:bodyPr anchor="ctr" rtlCol="false" tIns="50800" lIns="50800" bIns="50800" rIns="50800"/>
            <a:lstStyle/>
            <a:p>
              <a:pPr algn="ctr">
                <a:lnSpc>
                  <a:spcPts val="3239"/>
                </a:lnSpc>
              </a:pPr>
              <a:r>
                <a:rPr lang="en-US" sz="2475" b="true">
                  <a:solidFill>
                    <a:srgbClr val="FFFFFF"/>
                  </a:solidFill>
                  <a:latin typeface="Droid Serif Bold"/>
                  <a:ea typeface="Droid Serif Bold"/>
                  <a:cs typeface="Droid Serif Bold"/>
                  <a:sym typeface="Droid Serif Bold"/>
                </a:rPr>
                <a:t>Tracheobronchial Injury</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a:solidFill>
                    <a:srgbClr val="E74B2F"/>
                  </a:solidFill>
                  <a:latin typeface="Droid Serif"/>
                  <a:ea typeface="Droid Serif"/>
                  <a:cs typeface="Droid Serif"/>
                  <a:sym typeface="Droid Serif"/>
                </a:rPr>
                <a:t>Tear of </a:t>
              </a:r>
              <a:r>
                <a:rPr lang="en-US" sz="2100" b="true">
                  <a:solidFill>
                    <a:srgbClr val="E74B2F"/>
                  </a:solidFill>
                  <a:latin typeface="Droid Serif Bold"/>
                  <a:ea typeface="Droid Serif Bold"/>
                  <a:cs typeface="Droid Serif Bold"/>
                  <a:sym typeface="Droid Serif Bold"/>
                </a:rPr>
                <a:t>trachea or main bronchus</a:t>
              </a:r>
              <a:r>
                <a:rPr lang="en-US" sz="2100">
                  <a:solidFill>
                    <a:srgbClr val="E74B2F"/>
                  </a:solidFill>
                  <a:latin typeface="Droid Serif"/>
                  <a:ea typeface="Droid Serif"/>
                  <a:cs typeface="Droid Serif"/>
                  <a:sym typeface="Droid Serif"/>
                </a:rPr>
                <a:t> (most within </a:t>
              </a:r>
              <a:r>
                <a:rPr lang="en-US" sz="2100" b="true">
                  <a:solidFill>
                    <a:srgbClr val="E74B2F"/>
                  </a:solidFill>
                  <a:latin typeface="Droid Serif Bold"/>
                  <a:ea typeface="Droid Serif Bold"/>
                  <a:cs typeface="Droid Serif Bold"/>
                  <a:sym typeface="Droid Serif Bold"/>
                </a:rPr>
                <a:t>1 inch of carina</a:t>
              </a:r>
              <a:r>
                <a:rPr lang="en-US" sz="2100">
                  <a:solidFill>
                    <a:srgbClr val="E74B2F"/>
                  </a:solidFill>
                  <a:latin typeface="Droid Serif"/>
                  <a:ea typeface="Droid Serif"/>
                  <a:cs typeface="Droid Serif"/>
                  <a:sym typeface="Droid Serif"/>
                </a:rPr>
                <a:t>)</a:t>
              </a:r>
            </a:p>
          </p:txBody>
        </p:sp>
      </p:grpSp>
      <p:grpSp>
        <p:nvGrpSpPr>
          <p:cNvPr name="Group 12" id="12"/>
          <p:cNvGrpSpPr/>
          <p:nvPr/>
        </p:nvGrpSpPr>
        <p:grpSpPr>
          <a:xfrm rot="0">
            <a:off x="1248156" y="1947672"/>
            <a:ext cx="4896612" cy="4062441"/>
            <a:chOff x="0" y="0"/>
            <a:chExt cx="6528816" cy="5416588"/>
          </a:xfrm>
        </p:grpSpPr>
        <p:sp>
          <p:nvSpPr>
            <p:cNvPr name="Freeform 13" id="13"/>
            <p:cNvSpPr/>
            <p:nvPr/>
          </p:nvSpPr>
          <p:spPr>
            <a:xfrm flipH="false" flipV="false" rot="0">
              <a:off x="0" y="0"/>
              <a:ext cx="6528816" cy="5416550"/>
            </a:xfrm>
            <a:custGeom>
              <a:avLst/>
              <a:gdLst/>
              <a:ahLst/>
              <a:cxnLst/>
              <a:rect r="r" b="b" t="t" l="l"/>
              <a:pathLst>
                <a:path h="5416550" w="6528816">
                  <a:moveTo>
                    <a:pt x="0" y="246126"/>
                  </a:moveTo>
                  <a:cubicBezTo>
                    <a:pt x="0" y="110236"/>
                    <a:pt x="110236" y="0"/>
                    <a:pt x="246126" y="0"/>
                  </a:cubicBezTo>
                  <a:lnTo>
                    <a:pt x="6282690" y="0"/>
                  </a:lnTo>
                  <a:cubicBezTo>
                    <a:pt x="6418707" y="0"/>
                    <a:pt x="6528816" y="110236"/>
                    <a:pt x="6528816" y="246126"/>
                  </a:cubicBezTo>
                  <a:lnTo>
                    <a:pt x="6528816" y="5170424"/>
                  </a:lnTo>
                  <a:cubicBezTo>
                    <a:pt x="6528816" y="5306441"/>
                    <a:pt x="6418580" y="5416550"/>
                    <a:pt x="6282690" y="5416550"/>
                  </a:cubicBezTo>
                  <a:lnTo>
                    <a:pt x="246126" y="5416550"/>
                  </a:lnTo>
                  <a:cubicBezTo>
                    <a:pt x="110236" y="5416550"/>
                    <a:pt x="0" y="5306314"/>
                    <a:pt x="0" y="5170424"/>
                  </a:cubicBezTo>
                  <a:close/>
                </a:path>
              </a:pathLst>
            </a:custGeom>
            <a:solidFill>
              <a:srgbClr val="FFFFFF"/>
            </a:solidFill>
          </p:spPr>
        </p:sp>
      </p:grpSp>
      <p:grpSp>
        <p:nvGrpSpPr>
          <p:cNvPr name="Group 14" id="14"/>
          <p:cNvGrpSpPr/>
          <p:nvPr/>
        </p:nvGrpSpPr>
        <p:grpSpPr>
          <a:xfrm rot="0">
            <a:off x="1330452" y="2029968"/>
            <a:ext cx="4732020" cy="3897849"/>
            <a:chOff x="0" y="0"/>
            <a:chExt cx="6309360" cy="5197132"/>
          </a:xfrm>
        </p:grpSpPr>
        <p:sp>
          <p:nvSpPr>
            <p:cNvPr name="Freeform 15" id="15" descr="Chest X-ray with massive subcutaneous emphysema outlining the chest muscles"/>
            <p:cNvSpPr/>
            <p:nvPr/>
          </p:nvSpPr>
          <p:spPr>
            <a:xfrm flipH="false" flipV="false" rot="0">
              <a:off x="0" y="0"/>
              <a:ext cx="6309360" cy="5197094"/>
            </a:xfrm>
            <a:custGeom>
              <a:avLst/>
              <a:gdLst/>
              <a:ahLst/>
              <a:cxnLst/>
              <a:rect r="r" b="b" t="t" l="l"/>
              <a:pathLst>
                <a:path h="5197094" w="6309360">
                  <a:moveTo>
                    <a:pt x="0" y="0"/>
                  </a:moveTo>
                  <a:lnTo>
                    <a:pt x="6309360" y="0"/>
                  </a:lnTo>
                  <a:lnTo>
                    <a:pt x="6309360" y="5197094"/>
                  </a:lnTo>
                  <a:lnTo>
                    <a:pt x="0" y="5197094"/>
                  </a:lnTo>
                  <a:lnTo>
                    <a:pt x="0" y="0"/>
                  </a:lnTo>
                  <a:close/>
                </a:path>
              </a:pathLst>
            </a:custGeom>
            <a:blipFill>
              <a:blip r:embed="rId3"/>
              <a:stretch>
                <a:fillRect l="0" t="0" r="0" b="0"/>
              </a:stretch>
            </a:blipFill>
          </p:spPr>
        </p:sp>
      </p:grpSp>
      <p:sp>
        <p:nvSpPr>
          <p:cNvPr name="TextBox 16" id="16"/>
          <p:cNvSpPr txBox="true"/>
          <p:nvPr/>
        </p:nvSpPr>
        <p:spPr>
          <a:xfrm rot="0">
            <a:off x="1062990" y="6054309"/>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Massive subcutaneous emphysema (Fig 5-10)</a:t>
            </a:r>
          </a:p>
        </p:txBody>
      </p:sp>
      <p:grpSp>
        <p:nvGrpSpPr>
          <p:cNvPr name="Group 17" id="17"/>
          <p:cNvGrpSpPr/>
          <p:nvPr/>
        </p:nvGrpSpPr>
        <p:grpSpPr>
          <a:xfrm rot="0">
            <a:off x="6438900" y="1859166"/>
            <a:ext cx="10629900" cy="2448525"/>
            <a:chOff x="0" y="0"/>
            <a:chExt cx="14173200" cy="3264700"/>
          </a:xfrm>
        </p:grpSpPr>
        <p:sp>
          <p:nvSpPr>
            <p:cNvPr name="Freeform 18" id="18"/>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19" id="19"/>
          <p:cNvSpPr txBox="true"/>
          <p:nvPr/>
        </p:nvSpPr>
        <p:spPr>
          <a:xfrm rot="0">
            <a:off x="6705600" y="2011566"/>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0" id="20"/>
          <p:cNvSpPr txBox="true"/>
          <p:nvPr/>
        </p:nvSpPr>
        <p:spPr>
          <a:xfrm rot="0">
            <a:off x="6843141" y="2426789"/>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Hemoptysis, </a:t>
            </a:r>
            <a:r>
              <a:rPr lang="en-US" sz="1950" b="true">
                <a:solidFill>
                  <a:srgbClr val="1F1210"/>
                </a:solidFill>
                <a:latin typeface="DM Sans Bold"/>
                <a:ea typeface="DM Sans Bold"/>
                <a:cs typeface="DM Sans Bold"/>
                <a:sym typeface="DM Sans Bold"/>
              </a:rPr>
              <a:t>cervical subcutaneous air</a:t>
            </a:r>
            <a:r>
              <a:rPr lang="en-US" sz="1950">
                <a:solidFill>
                  <a:srgbClr val="1F1210"/>
                </a:solidFill>
                <a:latin typeface="DM Sans"/>
                <a:ea typeface="DM Sans"/>
                <a:cs typeface="DM Sans"/>
                <a:sym typeface="DM Sans"/>
              </a:rPr>
              <a:t>, cyanosis, tension PTX</a:t>
            </a:r>
          </a:p>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Incomplete lung expansion</a:t>
            </a:r>
            <a:r>
              <a:rPr lang="en-US" sz="1950">
                <a:solidFill>
                  <a:srgbClr val="1F1210"/>
                </a:solidFill>
                <a:latin typeface="DM Sans"/>
                <a:ea typeface="DM Sans"/>
                <a:cs typeface="DM Sans"/>
                <a:sym typeface="DM Sans"/>
              </a:rPr>
              <a:t> + </a:t>
            </a:r>
            <a:r>
              <a:rPr lang="en-US" sz="1950" b="true">
                <a:solidFill>
                  <a:srgbClr val="1F1210"/>
                </a:solidFill>
                <a:latin typeface="DM Sans Bold"/>
                <a:ea typeface="DM Sans Bold"/>
                <a:cs typeface="DM Sans Bold"/>
                <a:sym typeface="DM Sans Bold"/>
              </a:rPr>
              <a:t>continued large air leak</a:t>
            </a:r>
            <a:r>
              <a:rPr lang="en-US" sz="1950">
                <a:solidFill>
                  <a:srgbClr val="1F1210"/>
                </a:solidFill>
                <a:latin typeface="DM Sans"/>
                <a:ea typeface="DM Sans"/>
                <a:cs typeface="DM Sans"/>
                <a:sym typeface="DM Sans"/>
              </a:rPr>
              <a:t> after chest tube</a:t>
            </a:r>
          </a:p>
          <a:p>
            <a:pPr algn="l" marL="352901" indent="-176451" lvl="1">
              <a:lnSpc>
                <a:spcPts val="2632"/>
              </a:lnSpc>
              <a:buFont typeface="Arial"/>
              <a:buChar char="•"/>
            </a:pPr>
            <a:r>
              <a:rPr lang="en-US" sz="1950" b="true">
                <a:solidFill>
                  <a:srgbClr val="1F1210"/>
                </a:solidFill>
                <a:latin typeface="DM Sans Bold"/>
                <a:ea typeface="DM Sans Bold"/>
                <a:cs typeface="DM Sans Bold"/>
                <a:sym typeface="DM Sans Bold"/>
              </a:rPr>
              <a:t>Bronchoscopy confirms</a:t>
            </a:r>
            <a:r>
              <a:rPr lang="en-US" sz="1950">
                <a:solidFill>
                  <a:srgbClr val="1F1210"/>
                </a:solidFill>
                <a:latin typeface="DM Sans"/>
                <a:ea typeface="DM Sans"/>
                <a:cs typeface="DM Sans"/>
                <a:sym typeface="DM Sans"/>
              </a:rPr>
              <a:t> diagnosis (CT adjunct)</a:t>
            </a:r>
          </a:p>
        </p:txBody>
      </p:sp>
      <p:grpSp>
        <p:nvGrpSpPr>
          <p:cNvPr name="Group 21" id="21"/>
          <p:cNvGrpSpPr/>
          <p:nvPr/>
        </p:nvGrpSpPr>
        <p:grpSpPr>
          <a:xfrm rot="0">
            <a:off x="6438900" y="4460081"/>
            <a:ext cx="10629900" cy="2114255"/>
            <a:chOff x="0" y="0"/>
            <a:chExt cx="14173200" cy="2819006"/>
          </a:xfrm>
        </p:grpSpPr>
        <p:sp>
          <p:nvSpPr>
            <p:cNvPr name="Freeform 22" id="22"/>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3" id="23"/>
          <p:cNvSpPr txBox="true"/>
          <p:nvPr/>
        </p:nvSpPr>
        <p:spPr>
          <a:xfrm rot="0">
            <a:off x="6705600" y="4612481"/>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4" id="24"/>
          <p:cNvSpPr txBox="true"/>
          <p:nvPr/>
        </p:nvSpPr>
        <p:spPr>
          <a:xfrm rot="0">
            <a:off x="6843141" y="5027714"/>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Advanced airway</a:t>
            </a:r>
            <a:r>
              <a:rPr lang="en-US" sz="1950">
                <a:solidFill>
                  <a:srgbClr val="FFFFFF"/>
                </a:solidFill>
                <a:latin typeface="DM Sans"/>
                <a:ea typeface="DM Sans"/>
                <a:cs typeface="DM Sans"/>
                <a:sym typeface="DM Sans"/>
              </a:rPr>
              <a:t>: fiberoptic tube </a:t>
            </a:r>
            <a:r>
              <a:rPr lang="en-US" sz="1950" b="true">
                <a:solidFill>
                  <a:srgbClr val="FFFFFF"/>
                </a:solidFill>
                <a:latin typeface="DM Sans Bold"/>
                <a:ea typeface="DM Sans Bold"/>
                <a:cs typeface="DM Sans Bold"/>
                <a:sym typeface="DM Sans Bold"/>
              </a:rPr>
              <a:t>past tear</a:t>
            </a:r>
            <a:r>
              <a:rPr lang="en-US" sz="1950">
                <a:solidFill>
                  <a:srgbClr val="FFFFFF"/>
                </a:solidFill>
                <a:latin typeface="DM Sans"/>
                <a:ea typeface="DM Sans"/>
                <a:cs typeface="DM Sans"/>
                <a:sym typeface="DM Sans"/>
              </a:rPr>
              <a:t> or into </a:t>
            </a:r>
            <a:r>
              <a:rPr lang="en-US" sz="1950" b="true">
                <a:solidFill>
                  <a:srgbClr val="FFFFFF"/>
                </a:solidFill>
                <a:latin typeface="DM Sans Bold"/>
                <a:ea typeface="DM Sans Bold"/>
                <a:cs typeface="DM Sans Bold"/>
                <a:sym typeface="DM Sans Bold"/>
              </a:rPr>
              <a:t>uninjured bronchus</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Emergent chest tube</a:t>
            </a:r>
            <a:r>
              <a:rPr lang="en-US" sz="1950">
                <a:solidFill>
                  <a:srgbClr val="FFFFFF"/>
                </a:solidFill>
                <a:latin typeface="DM Sans"/>
                <a:ea typeface="DM Sans"/>
                <a:cs typeface="DM Sans"/>
                <a:sym typeface="DM Sans"/>
              </a:rPr>
              <a:t> (additional tubes may be needed for leak)</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Immediate surgical consult</a:t>
            </a:r>
            <a:r>
              <a:rPr lang="en-US" sz="1950">
                <a:solidFill>
                  <a:srgbClr val="FFFFFF"/>
                </a:solidFill>
                <a:latin typeface="DM Sans"/>
                <a:ea typeface="DM Sans"/>
                <a:cs typeface="DM Sans"/>
                <a:sym typeface="DM Sans"/>
              </a:rPr>
              <a:t> (operative repair for large tears)</a:t>
            </a:r>
          </a:p>
        </p:txBody>
      </p:sp>
      <p:grpSp>
        <p:nvGrpSpPr>
          <p:cNvPr name="Group 25" id="25"/>
          <p:cNvGrpSpPr/>
          <p:nvPr/>
        </p:nvGrpSpPr>
        <p:grpSpPr>
          <a:xfrm rot="0">
            <a:off x="0" y="164592"/>
            <a:ext cx="754380" cy="384048"/>
            <a:chOff x="0" y="0"/>
            <a:chExt cx="1005840" cy="512064"/>
          </a:xfrm>
        </p:grpSpPr>
        <p:sp>
          <p:nvSpPr>
            <p:cNvPr name="Freeform 26" id="26"/>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27" id="27"/>
          <p:cNvGrpSpPr/>
          <p:nvPr/>
        </p:nvGrpSpPr>
        <p:grpSpPr>
          <a:xfrm rot="0">
            <a:off x="932688" y="288036"/>
            <a:ext cx="137160" cy="137160"/>
            <a:chOff x="0" y="0"/>
            <a:chExt cx="182880" cy="182880"/>
          </a:xfrm>
        </p:grpSpPr>
        <p:sp>
          <p:nvSpPr>
            <p:cNvPr name="Freeform 28" id="2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9" id="29"/>
          <p:cNvGrpSpPr/>
          <p:nvPr/>
        </p:nvGrpSpPr>
        <p:grpSpPr>
          <a:xfrm rot="0">
            <a:off x="1193292" y="288036"/>
            <a:ext cx="137160" cy="137160"/>
            <a:chOff x="0" y="0"/>
            <a:chExt cx="182880" cy="182880"/>
          </a:xfrm>
        </p:grpSpPr>
        <p:sp>
          <p:nvSpPr>
            <p:cNvPr name="Freeform 30" id="3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1" id="31"/>
          <p:cNvGrpSpPr/>
          <p:nvPr/>
        </p:nvGrpSpPr>
        <p:grpSpPr>
          <a:xfrm rot="0">
            <a:off x="1453896" y="288036"/>
            <a:ext cx="137160" cy="137160"/>
            <a:chOff x="0" y="0"/>
            <a:chExt cx="182880" cy="182880"/>
          </a:xfrm>
        </p:grpSpPr>
        <p:sp>
          <p:nvSpPr>
            <p:cNvPr name="Freeform 32" id="3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3" id="33"/>
          <p:cNvGrpSpPr/>
          <p:nvPr/>
        </p:nvGrpSpPr>
        <p:grpSpPr>
          <a:xfrm rot="0">
            <a:off x="1714500"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5" id="35"/>
          <p:cNvGrpSpPr/>
          <p:nvPr/>
        </p:nvGrpSpPr>
        <p:grpSpPr>
          <a:xfrm rot="0">
            <a:off x="1975104" y="288036"/>
            <a:ext cx="137160" cy="137160"/>
            <a:chOff x="0" y="0"/>
            <a:chExt cx="182880" cy="182880"/>
          </a:xfrm>
        </p:grpSpPr>
        <p:sp>
          <p:nvSpPr>
            <p:cNvPr name="Freeform 36" id="3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7" id="37"/>
          <p:cNvGrpSpPr/>
          <p:nvPr/>
        </p:nvGrpSpPr>
        <p:grpSpPr>
          <a:xfrm rot="0">
            <a:off x="2235708" y="288036"/>
            <a:ext cx="137160" cy="137160"/>
            <a:chOff x="0" y="0"/>
            <a:chExt cx="182880" cy="182880"/>
          </a:xfrm>
        </p:grpSpPr>
        <p:sp>
          <p:nvSpPr>
            <p:cNvPr name="Freeform 38" id="3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9" id="39"/>
          <p:cNvGrpSpPr/>
          <p:nvPr/>
        </p:nvGrpSpPr>
        <p:grpSpPr>
          <a:xfrm rot="0">
            <a:off x="2496312" y="288036"/>
            <a:ext cx="137160" cy="137160"/>
            <a:chOff x="0" y="0"/>
            <a:chExt cx="182880" cy="182880"/>
          </a:xfrm>
        </p:grpSpPr>
        <p:sp>
          <p:nvSpPr>
            <p:cNvPr name="Freeform 40" id="4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5-8. p. 70-77.</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Diaphragm Injury</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Blunt</a:t>
              </a:r>
              <a:r>
                <a:rPr lang="en-US" sz="2100">
                  <a:solidFill>
                    <a:srgbClr val="E74B2F"/>
                  </a:solidFill>
                  <a:latin typeface="Droid Serif"/>
                  <a:ea typeface="Droid Serif"/>
                  <a:cs typeface="Droid Serif"/>
                  <a:sym typeface="Droid Serif"/>
                </a:rPr>
                <a:t> (large radial tear, </a:t>
              </a:r>
              <a:r>
                <a:rPr lang="en-US" sz="2100" b="true">
                  <a:solidFill>
                    <a:srgbClr val="E74B2F"/>
                  </a:solidFill>
                  <a:latin typeface="Droid Serif Bold"/>
                  <a:ea typeface="Droid Serif Bold"/>
                  <a:cs typeface="Droid Serif Bold"/>
                  <a:sym typeface="Droid Serif Bold"/>
                </a:rPr>
                <a:t>left &gt; right</a:t>
              </a:r>
              <a:r>
                <a:rPr lang="en-US" sz="2100">
                  <a:solidFill>
                    <a:srgbClr val="E74B2F"/>
                  </a:solidFill>
                  <a:latin typeface="Droid Serif"/>
                  <a:ea typeface="Droid Serif"/>
                  <a:cs typeface="Droid Serif"/>
                  <a:sym typeface="Droid Serif"/>
                </a:rPr>
                <a:t>) or </a:t>
              </a:r>
              <a:r>
                <a:rPr lang="en-US" sz="2100" b="true">
                  <a:solidFill>
                    <a:srgbClr val="E74B2F"/>
                  </a:solidFill>
                  <a:latin typeface="Droid Serif Bold"/>
                  <a:ea typeface="Droid Serif Bold"/>
                  <a:cs typeface="Droid Serif Bold"/>
                  <a:sym typeface="Droid Serif Bold"/>
                </a:rPr>
                <a:t>penetrating</a:t>
              </a:r>
              <a:r>
                <a:rPr lang="en-US" sz="2100">
                  <a:solidFill>
                    <a:srgbClr val="E74B2F"/>
                  </a:solidFill>
                  <a:latin typeface="Droid Serif"/>
                  <a:ea typeface="Droid Serif"/>
                  <a:cs typeface="Droid Serif"/>
                  <a:sym typeface="Droid Serif"/>
                </a:rPr>
                <a:t> (&lt; 2 cm perforation)</a:t>
              </a:r>
            </a:p>
          </p:txBody>
        </p:sp>
      </p:grpSp>
      <p:grpSp>
        <p:nvGrpSpPr>
          <p:cNvPr name="Group 12" id="12"/>
          <p:cNvGrpSpPr/>
          <p:nvPr/>
        </p:nvGrpSpPr>
        <p:grpSpPr>
          <a:xfrm rot="0">
            <a:off x="1843497" y="1947672"/>
            <a:ext cx="3705930" cy="2551176"/>
            <a:chOff x="0" y="0"/>
            <a:chExt cx="4941240" cy="3401568"/>
          </a:xfrm>
        </p:grpSpPr>
        <p:sp>
          <p:nvSpPr>
            <p:cNvPr name="Freeform 13" id="13"/>
            <p:cNvSpPr/>
            <p:nvPr/>
          </p:nvSpPr>
          <p:spPr>
            <a:xfrm flipH="false" flipV="false" rot="0">
              <a:off x="0" y="0"/>
              <a:ext cx="4941316" cy="3401568"/>
            </a:xfrm>
            <a:custGeom>
              <a:avLst/>
              <a:gdLst/>
              <a:ahLst/>
              <a:cxnLst/>
              <a:rect r="r" b="b" t="t" l="l"/>
              <a:pathLst>
                <a:path h="3401568" w="4941316">
                  <a:moveTo>
                    <a:pt x="0" y="266827"/>
                  </a:moveTo>
                  <a:cubicBezTo>
                    <a:pt x="0" y="119507"/>
                    <a:pt x="119507" y="0"/>
                    <a:pt x="266827" y="0"/>
                  </a:cubicBezTo>
                  <a:lnTo>
                    <a:pt x="4674489" y="0"/>
                  </a:lnTo>
                  <a:cubicBezTo>
                    <a:pt x="4821809" y="0"/>
                    <a:pt x="4941316" y="119507"/>
                    <a:pt x="4941316" y="266827"/>
                  </a:cubicBezTo>
                  <a:lnTo>
                    <a:pt x="4941316" y="3134741"/>
                  </a:lnTo>
                  <a:cubicBezTo>
                    <a:pt x="4941316" y="3282061"/>
                    <a:pt x="4821809" y="3401568"/>
                    <a:pt x="4674489"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1912077" y="2016252"/>
            <a:ext cx="3568770" cy="2414016"/>
            <a:chOff x="0" y="0"/>
            <a:chExt cx="4758360" cy="3218688"/>
          </a:xfrm>
        </p:grpSpPr>
        <p:sp>
          <p:nvSpPr>
            <p:cNvPr name="Freeform 15" id="15" descr="Diagram of a blunt diaphragm tear with abdominal contents herniating into the chest and displacing the mediastinum"/>
            <p:cNvSpPr/>
            <p:nvPr/>
          </p:nvSpPr>
          <p:spPr>
            <a:xfrm flipH="false" flipV="false" rot="0">
              <a:off x="0" y="0"/>
              <a:ext cx="4758309" cy="3218688"/>
            </a:xfrm>
            <a:custGeom>
              <a:avLst/>
              <a:gdLst/>
              <a:ahLst/>
              <a:cxnLst/>
              <a:rect r="r" b="b" t="t" l="l"/>
              <a:pathLst>
                <a:path h="3218688" w="4758309">
                  <a:moveTo>
                    <a:pt x="0" y="0"/>
                  </a:moveTo>
                  <a:lnTo>
                    <a:pt x="4758309" y="0"/>
                  </a:lnTo>
                  <a:lnTo>
                    <a:pt x="4758309" y="3218688"/>
                  </a:lnTo>
                  <a:lnTo>
                    <a:pt x="0" y="3218688"/>
                  </a:lnTo>
                  <a:lnTo>
                    <a:pt x="0" y="0"/>
                  </a:lnTo>
                  <a:close/>
                </a:path>
              </a:pathLst>
            </a:custGeom>
            <a:blipFill>
              <a:blip r:embed="rId3"/>
              <a:stretch>
                <a:fillRect l="0" t="0" r="-1" b="0"/>
              </a:stretch>
            </a:blipFill>
          </p:spPr>
        </p:sp>
      </p:grpSp>
      <p:sp>
        <p:nvSpPr>
          <p:cNvPr name="TextBox 16" id="16"/>
          <p:cNvSpPr txBox="true"/>
          <p:nvPr/>
        </p:nvSpPr>
        <p:spPr>
          <a:xfrm rot="0">
            <a:off x="1062990" y="451561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Herniation through a radial tear (Fig 5-8A)</a:t>
            </a:r>
          </a:p>
        </p:txBody>
      </p:sp>
      <p:grpSp>
        <p:nvGrpSpPr>
          <p:cNvPr name="Group 17" id="17"/>
          <p:cNvGrpSpPr/>
          <p:nvPr/>
        </p:nvGrpSpPr>
        <p:grpSpPr>
          <a:xfrm rot="0">
            <a:off x="2392956" y="4965192"/>
            <a:ext cx="2607002" cy="2551176"/>
            <a:chOff x="0" y="0"/>
            <a:chExt cx="3476003" cy="3401568"/>
          </a:xfrm>
        </p:grpSpPr>
        <p:sp>
          <p:nvSpPr>
            <p:cNvPr name="Freeform 18" id="18"/>
            <p:cNvSpPr/>
            <p:nvPr/>
          </p:nvSpPr>
          <p:spPr>
            <a:xfrm flipH="false" flipV="false" rot="0">
              <a:off x="0" y="0"/>
              <a:ext cx="3475990" cy="3401568"/>
            </a:xfrm>
            <a:custGeom>
              <a:avLst/>
              <a:gdLst/>
              <a:ahLst/>
              <a:cxnLst/>
              <a:rect r="r" b="b" t="t" l="l"/>
              <a:pathLst>
                <a:path h="3401568" w="3475990">
                  <a:moveTo>
                    <a:pt x="0" y="266827"/>
                  </a:moveTo>
                  <a:cubicBezTo>
                    <a:pt x="0" y="119507"/>
                    <a:pt x="119507" y="0"/>
                    <a:pt x="266827" y="0"/>
                  </a:cubicBezTo>
                  <a:lnTo>
                    <a:pt x="3209163" y="0"/>
                  </a:lnTo>
                  <a:cubicBezTo>
                    <a:pt x="3356483" y="0"/>
                    <a:pt x="3475990" y="119507"/>
                    <a:pt x="3475990" y="266827"/>
                  </a:cubicBezTo>
                  <a:lnTo>
                    <a:pt x="3475990" y="3134741"/>
                  </a:lnTo>
                  <a:cubicBezTo>
                    <a:pt x="3475990" y="3282061"/>
                    <a:pt x="3356483" y="3401568"/>
                    <a:pt x="3209163"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461536" y="5033772"/>
            <a:ext cx="2469842" cy="2414016"/>
            <a:chOff x="0" y="0"/>
            <a:chExt cx="3293123" cy="3218688"/>
          </a:xfrm>
        </p:grpSpPr>
        <p:sp>
          <p:nvSpPr>
            <p:cNvPr name="Freeform 20" id="20" descr="Chest X-ray with the nasogastric tube coiled above the left diaphragm"/>
            <p:cNvSpPr/>
            <p:nvPr/>
          </p:nvSpPr>
          <p:spPr>
            <a:xfrm flipH="false" flipV="false" rot="0">
              <a:off x="0" y="0"/>
              <a:ext cx="3293110" cy="3218688"/>
            </a:xfrm>
            <a:custGeom>
              <a:avLst/>
              <a:gdLst/>
              <a:ahLst/>
              <a:cxnLst/>
              <a:rect r="r" b="b" t="t" l="l"/>
              <a:pathLst>
                <a:path h="3218688" w="3293110">
                  <a:moveTo>
                    <a:pt x="0" y="0"/>
                  </a:moveTo>
                  <a:lnTo>
                    <a:pt x="3293110" y="0"/>
                  </a:lnTo>
                  <a:lnTo>
                    <a:pt x="3293110" y="3218688"/>
                  </a:lnTo>
                  <a:lnTo>
                    <a:pt x="0" y="3218688"/>
                  </a:lnTo>
                  <a:lnTo>
                    <a:pt x="0" y="0"/>
                  </a:lnTo>
                  <a:close/>
                </a:path>
              </a:pathLst>
            </a:custGeom>
            <a:blipFill>
              <a:blip r:embed="rId4"/>
              <a:stretch>
                <a:fillRect l="0" t="0" r="0" b="0"/>
              </a:stretch>
            </a:blipFill>
          </p:spPr>
        </p:sp>
      </p:grpSp>
      <p:sp>
        <p:nvSpPr>
          <p:cNvPr name="TextBox 21" id="21"/>
          <p:cNvSpPr txBox="true"/>
          <p:nvPr/>
        </p:nvSpPr>
        <p:spPr>
          <a:xfrm rot="0">
            <a:off x="1062990" y="753313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NG tube above the diaphragm (Fig 5-8B)</a:t>
            </a:r>
          </a:p>
        </p:txBody>
      </p:sp>
      <p:grpSp>
        <p:nvGrpSpPr>
          <p:cNvPr name="Group 22" id="22"/>
          <p:cNvGrpSpPr/>
          <p:nvPr/>
        </p:nvGrpSpPr>
        <p:grpSpPr>
          <a:xfrm rot="0">
            <a:off x="6438900" y="1882083"/>
            <a:ext cx="10629900" cy="2448525"/>
            <a:chOff x="0" y="0"/>
            <a:chExt cx="14173200" cy="3264700"/>
          </a:xfrm>
        </p:grpSpPr>
        <p:sp>
          <p:nvSpPr>
            <p:cNvPr name="Freeform 23" id="23"/>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24" id="24"/>
          <p:cNvSpPr txBox="true"/>
          <p:nvPr/>
        </p:nvSpPr>
        <p:spPr>
          <a:xfrm rot="0">
            <a:off x="6705600" y="2034483"/>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 — high suspicion</a:t>
            </a:r>
          </a:p>
        </p:txBody>
      </p:sp>
      <p:sp>
        <p:nvSpPr>
          <p:cNvPr name="TextBox 25" id="25"/>
          <p:cNvSpPr txBox="true"/>
          <p:nvPr/>
        </p:nvSpPr>
        <p:spPr>
          <a:xfrm rot="0">
            <a:off x="6843141" y="2449716"/>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High suspicion in </a:t>
            </a:r>
            <a:r>
              <a:rPr lang="en-US" sz="1950" b="true">
                <a:solidFill>
                  <a:srgbClr val="1F1210"/>
                </a:solidFill>
                <a:latin typeface="DM Sans Bold"/>
                <a:ea typeface="DM Sans Bold"/>
                <a:cs typeface="DM Sans Bold"/>
                <a:sym typeface="DM Sans Bold"/>
              </a:rPr>
              <a:t>left chest/flank stab</a:t>
            </a:r>
            <a:r>
              <a:rPr lang="en-US" sz="1950">
                <a:solidFill>
                  <a:srgbClr val="1F1210"/>
                </a:solidFill>
                <a:latin typeface="DM Sans"/>
                <a:ea typeface="DM Sans"/>
                <a:cs typeface="DM Sans"/>
                <a:sym typeface="DM Sans"/>
              </a:rPr>
              <a:t> below nipple</a:t>
            </a:r>
          </a:p>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CXR: </a:t>
            </a:r>
            <a:r>
              <a:rPr lang="en-US" sz="1950" b="true">
                <a:solidFill>
                  <a:srgbClr val="1F1210"/>
                </a:solidFill>
                <a:latin typeface="DM Sans Bold"/>
                <a:ea typeface="DM Sans Bold"/>
                <a:cs typeface="DM Sans Bold"/>
                <a:sym typeface="DM Sans Bold"/>
              </a:rPr>
              <a:t>NGT coiled above diaphragm</a:t>
            </a:r>
            <a:r>
              <a:rPr lang="en-US" sz="1950">
                <a:solidFill>
                  <a:srgbClr val="1F1210"/>
                </a:solidFill>
                <a:latin typeface="DM Sans"/>
                <a:ea typeface="DM Sans"/>
                <a:cs typeface="DM Sans"/>
                <a:sym typeface="DM Sans"/>
              </a:rPr>
              <a:t> or elevated hemidiaphragm</a:t>
            </a:r>
          </a:p>
          <a:p>
            <a:pPr algn="l" marL="352901" indent="-176451" lvl="1">
              <a:lnSpc>
                <a:spcPts val="2632"/>
              </a:lnSpc>
              <a:buFont typeface="Arial"/>
              <a:buChar char="•"/>
            </a:pPr>
            <a:r>
              <a:rPr lang="en-US" sz="1950">
                <a:solidFill>
                  <a:srgbClr val="1F1210"/>
                </a:solidFill>
                <a:latin typeface="DM Sans"/>
                <a:ea typeface="DM Sans"/>
                <a:cs typeface="DM Sans"/>
                <a:sym typeface="DM Sans"/>
              </a:rPr>
              <a:t>CT (~80% sensitive) · confirmed by </a:t>
            </a:r>
            <a:r>
              <a:rPr lang="en-US" sz="1950" b="true">
                <a:solidFill>
                  <a:srgbClr val="1F1210"/>
                </a:solidFill>
                <a:latin typeface="DM Sans Bold"/>
                <a:ea typeface="DM Sans Bold"/>
                <a:cs typeface="DM Sans Bold"/>
                <a:sym typeface="DM Sans Bold"/>
              </a:rPr>
              <a:t>laparoscopy / laparotomy</a:t>
            </a:r>
          </a:p>
        </p:txBody>
      </p:sp>
      <p:grpSp>
        <p:nvGrpSpPr>
          <p:cNvPr name="Group 26" id="26"/>
          <p:cNvGrpSpPr/>
          <p:nvPr/>
        </p:nvGrpSpPr>
        <p:grpSpPr>
          <a:xfrm rot="0">
            <a:off x="6438900" y="4482998"/>
            <a:ext cx="10629900" cy="2114255"/>
            <a:chOff x="0" y="0"/>
            <a:chExt cx="14173200" cy="2819006"/>
          </a:xfrm>
        </p:grpSpPr>
        <p:sp>
          <p:nvSpPr>
            <p:cNvPr name="Freeform 27" id="27"/>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8" id="28"/>
          <p:cNvSpPr txBox="true"/>
          <p:nvPr/>
        </p:nvSpPr>
        <p:spPr>
          <a:xfrm rot="0">
            <a:off x="6705600" y="4635398"/>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9" id="29"/>
          <p:cNvSpPr txBox="true"/>
          <p:nvPr/>
        </p:nvSpPr>
        <p:spPr>
          <a:xfrm rot="0">
            <a:off x="6843141" y="5050631"/>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Careful chest tube placement</a:t>
            </a:r>
            <a:r>
              <a:rPr lang="en-US" sz="1950">
                <a:solidFill>
                  <a:srgbClr val="FFFFFF"/>
                </a:solidFill>
                <a:latin typeface="DM Sans"/>
                <a:ea typeface="DM Sans"/>
                <a:cs typeface="DM Sans"/>
                <a:sym typeface="DM Sans"/>
              </a:rPr>
              <a:t> to avoid injuring herniated viscera</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Urgent operative repair</a:t>
            </a:r>
            <a:r>
              <a:rPr lang="en-US" sz="1950">
                <a:solidFill>
                  <a:srgbClr val="FFFFFF"/>
                </a:solidFill>
                <a:latin typeface="DM Sans"/>
                <a:ea typeface="DM Sans"/>
                <a:cs typeface="DM Sans"/>
                <a:sym typeface="DM Sans"/>
              </a:rPr>
              <a:t> for left tears; </a:t>
            </a:r>
            <a:r>
              <a:rPr lang="en-US" sz="1950" b="true">
                <a:solidFill>
                  <a:srgbClr val="FFFFFF"/>
                </a:solidFill>
                <a:latin typeface="DM Sans Bold"/>
                <a:ea typeface="DM Sans Bold"/>
                <a:cs typeface="DM Sans Bold"/>
                <a:sym typeface="DM Sans Bold"/>
              </a:rPr>
              <a:t>immediate</a:t>
            </a:r>
            <a:r>
              <a:rPr lang="en-US" sz="1950">
                <a:solidFill>
                  <a:srgbClr val="FFFFFF"/>
                </a:solidFill>
                <a:latin typeface="DM Sans"/>
                <a:ea typeface="DM Sans"/>
                <a:cs typeface="DM Sans"/>
                <a:sym typeface="DM Sans"/>
              </a:rPr>
              <a:t> if viscera herniated</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Transabdominal approach</a:t>
            </a:r>
            <a:r>
              <a:rPr lang="en-US" sz="1950">
                <a:solidFill>
                  <a:srgbClr val="FFFFFF"/>
                </a:solidFill>
                <a:latin typeface="DM Sans"/>
                <a:ea typeface="DM Sans"/>
                <a:cs typeface="DM Sans"/>
                <a:sym typeface="DM Sans"/>
              </a:rPr>
              <a:t> preferred (select right tears non-op if no liver injury)</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Breathing and Ventilation Assessment and Management. p. 77.</a:t>
            </a:r>
          </a:p>
        </p:txBody>
      </p:sp>
      <p:grpSp>
        <p:nvGrpSpPr>
          <p:cNvPr name="Group 6" id="6"/>
          <p:cNvGrpSpPr/>
          <p:nvPr/>
        </p:nvGrpSpPr>
        <p:grpSpPr>
          <a:xfrm rot="0">
            <a:off x="4786017" y="762000"/>
            <a:ext cx="8715975" cy="885825"/>
            <a:chOff x="0" y="0"/>
            <a:chExt cx="11621300" cy="1181100"/>
          </a:xfrm>
        </p:grpSpPr>
        <p:sp>
          <p:nvSpPr>
            <p:cNvPr name="Freeform 7" id="7"/>
            <p:cNvSpPr/>
            <p:nvPr/>
          </p:nvSpPr>
          <p:spPr>
            <a:xfrm flipH="false" flipV="false" rot="0">
              <a:off x="0" y="0"/>
              <a:ext cx="11621262" cy="1181100"/>
            </a:xfrm>
            <a:custGeom>
              <a:avLst/>
              <a:gdLst/>
              <a:ahLst/>
              <a:cxnLst/>
              <a:rect r="r" b="b" t="t" l="l"/>
              <a:pathLst>
                <a:path h="1181100" w="11621262">
                  <a:moveTo>
                    <a:pt x="0" y="355600"/>
                  </a:moveTo>
                  <a:cubicBezTo>
                    <a:pt x="0" y="159258"/>
                    <a:pt x="159258" y="0"/>
                    <a:pt x="355600" y="0"/>
                  </a:cubicBezTo>
                  <a:lnTo>
                    <a:pt x="11265662" y="0"/>
                  </a:lnTo>
                  <a:cubicBezTo>
                    <a:pt x="11462004" y="0"/>
                    <a:pt x="11621262" y="159258"/>
                    <a:pt x="11621262" y="355600"/>
                  </a:cubicBezTo>
                  <a:lnTo>
                    <a:pt x="11621262" y="825500"/>
                  </a:lnTo>
                  <a:cubicBezTo>
                    <a:pt x="11621262" y="1021842"/>
                    <a:pt x="11462004" y="1181100"/>
                    <a:pt x="11265662" y="1181100"/>
                  </a:cubicBezTo>
                  <a:lnTo>
                    <a:pt x="355600" y="1181100"/>
                  </a:lnTo>
                  <a:cubicBezTo>
                    <a:pt x="159258" y="1181100"/>
                    <a:pt x="0" y="1021842"/>
                    <a:pt x="0" y="825500"/>
                  </a:cubicBezTo>
                  <a:close/>
                </a:path>
              </a:pathLst>
            </a:custGeom>
            <a:solidFill>
              <a:srgbClr val="FFD0C4"/>
            </a:solidFill>
          </p:spPr>
        </p:sp>
      </p:grpSp>
      <p:grpSp>
        <p:nvGrpSpPr>
          <p:cNvPr name="Group 8" id="8"/>
          <p:cNvGrpSpPr/>
          <p:nvPr/>
        </p:nvGrpSpPr>
        <p:grpSpPr>
          <a:xfrm rot="0">
            <a:off x="4786017" y="762000"/>
            <a:ext cx="8715975" cy="885825"/>
            <a:chOff x="0" y="0"/>
            <a:chExt cx="11621300" cy="1181100"/>
          </a:xfrm>
        </p:grpSpPr>
        <p:sp>
          <p:nvSpPr>
            <p:cNvPr name="Freeform 9" id="9"/>
            <p:cNvSpPr/>
            <p:nvPr/>
          </p:nvSpPr>
          <p:spPr>
            <a:xfrm flipH="false" flipV="false" rot="0">
              <a:off x="0" y="0"/>
              <a:ext cx="11621294" cy="1181100"/>
            </a:xfrm>
            <a:custGeom>
              <a:avLst/>
              <a:gdLst/>
              <a:ahLst/>
              <a:cxnLst/>
              <a:rect r="r" b="b" t="t" l="l"/>
              <a:pathLst>
                <a:path h="1181100" w="11621294">
                  <a:moveTo>
                    <a:pt x="0" y="0"/>
                  </a:moveTo>
                  <a:lnTo>
                    <a:pt x="11621294" y="0"/>
                  </a:lnTo>
                  <a:lnTo>
                    <a:pt x="11621294" y="1181100"/>
                  </a:lnTo>
                  <a:lnTo>
                    <a:pt x="0" y="1181100"/>
                  </a:lnTo>
                  <a:close/>
                </a:path>
              </a:pathLst>
            </a:custGeom>
            <a:blipFill>
              <a:blip r:embed="rId3">
                <a:alphaModFix amt="0"/>
              </a:blip>
              <a:stretch>
                <a:fillRect l="0" t="-141720" r="0" b="-141720"/>
              </a:stretch>
            </a:blipFill>
          </p:spPr>
        </p:sp>
        <p:sp>
          <p:nvSpPr>
            <p:cNvPr name="TextBox 10" id="10"/>
            <p:cNvSpPr txBox="true"/>
            <p:nvPr/>
          </p:nvSpPr>
          <p:spPr>
            <a:xfrm>
              <a:off x="0" y="9525"/>
              <a:ext cx="11621300" cy="1171575"/>
            </a:xfrm>
            <a:prstGeom prst="rect">
              <a:avLst/>
            </a:prstGeom>
          </p:spPr>
          <p:txBody>
            <a:bodyPr anchor="ctr" rtlCol="false" tIns="0" lIns="0" bIns="0" rIns="0"/>
            <a:lstStyle/>
            <a:p>
              <a:pPr algn="ctr">
                <a:lnSpc>
                  <a:spcPts val="5174"/>
                </a:lnSpc>
              </a:pPr>
              <a:r>
                <a:rPr lang="en-US" sz="4500" b="true">
                  <a:solidFill>
                    <a:srgbClr val="E74B2F"/>
                  </a:solidFill>
                  <a:latin typeface="Droid Serif Bold"/>
                  <a:ea typeface="Droid Serif Bold"/>
                  <a:cs typeface="Droid Serif Bold"/>
                  <a:sym typeface="Droid Serif Bold"/>
                </a:rPr>
                <a:t>REASSESSMENT &amp; TRANSFER</a:t>
              </a:r>
            </a:p>
          </p:txBody>
        </p:sp>
      </p:grpSp>
      <p:grpSp>
        <p:nvGrpSpPr>
          <p:cNvPr name="Group 11" id="11"/>
          <p:cNvGrpSpPr/>
          <p:nvPr/>
        </p:nvGrpSpPr>
        <p:grpSpPr>
          <a:xfrm rot="0">
            <a:off x="1219200" y="1952625"/>
            <a:ext cx="7772400" cy="3885305"/>
            <a:chOff x="0" y="0"/>
            <a:chExt cx="10363200" cy="5180406"/>
          </a:xfrm>
        </p:grpSpPr>
        <p:sp>
          <p:nvSpPr>
            <p:cNvPr name="Freeform 12" id="12"/>
            <p:cNvSpPr/>
            <p:nvPr/>
          </p:nvSpPr>
          <p:spPr>
            <a:xfrm flipH="false" flipV="false" rot="0">
              <a:off x="0" y="0"/>
              <a:ext cx="10363200" cy="5180457"/>
            </a:xfrm>
            <a:custGeom>
              <a:avLst/>
              <a:gdLst/>
              <a:ahLst/>
              <a:cxnLst/>
              <a:rect r="r" b="b" t="t" l="l"/>
              <a:pathLst>
                <a:path h="5180457" w="10363200">
                  <a:moveTo>
                    <a:pt x="0" y="406400"/>
                  </a:moveTo>
                  <a:cubicBezTo>
                    <a:pt x="0" y="181991"/>
                    <a:pt x="181991" y="0"/>
                    <a:pt x="406400" y="0"/>
                  </a:cubicBezTo>
                  <a:lnTo>
                    <a:pt x="9956800" y="0"/>
                  </a:lnTo>
                  <a:cubicBezTo>
                    <a:pt x="10181209" y="0"/>
                    <a:pt x="10363200" y="181991"/>
                    <a:pt x="10363200" y="406400"/>
                  </a:cubicBezTo>
                  <a:lnTo>
                    <a:pt x="10363200" y="4774057"/>
                  </a:lnTo>
                  <a:cubicBezTo>
                    <a:pt x="10363200" y="4998466"/>
                    <a:pt x="10181209" y="5180457"/>
                    <a:pt x="9956800" y="5180457"/>
                  </a:cubicBezTo>
                  <a:lnTo>
                    <a:pt x="406400" y="5180457"/>
                  </a:lnTo>
                  <a:cubicBezTo>
                    <a:pt x="181991" y="5180457"/>
                    <a:pt x="0" y="4998466"/>
                    <a:pt x="0" y="4774057"/>
                  </a:cubicBezTo>
                  <a:close/>
                </a:path>
              </a:pathLst>
            </a:custGeom>
            <a:solidFill>
              <a:srgbClr val="FFF4F1"/>
            </a:solidFill>
          </p:spPr>
        </p:sp>
      </p:grpSp>
      <p:sp>
        <p:nvSpPr>
          <p:cNvPr name="TextBox 13" id="13"/>
          <p:cNvSpPr txBox="true"/>
          <p:nvPr/>
        </p:nvSpPr>
        <p:spPr>
          <a:xfrm rot="0">
            <a:off x="1600200" y="2247900"/>
            <a:ext cx="7220712" cy="539058"/>
          </a:xfrm>
          <a:prstGeom prst="rect">
            <a:avLst/>
          </a:prstGeom>
        </p:spPr>
        <p:txBody>
          <a:bodyPr anchor="t" rtlCol="false" tIns="0" lIns="0" bIns="0" rIns="0">
            <a:spAutoFit/>
          </a:bodyPr>
          <a:lstStyle/>
          <a:p>
            <a:pPr algn="l">
              <a:lnSpc>
                <a:spcPts val="3569"/>
              </a:lnSpc>
            </a:pPr>
            <a:r>
              <a:rPr lang="en-US" sz="2550" b="true">
                <a:solidFill>
                  <a:srgbClr val="E74B2F"/>
                </a:solidFill>
                <a:latin typeface="DM Sans Bold"/>
                <a:ea typeface="DM Sans Bold"/>
                <a:cs typeface="DM Sans Bold"/>
                <a:sym typeface="DM Sans Bold"/>
              </a:rPr>
              <a:t>Reassessment</a:t>
            </a:r>
          </a:p>
        </p:txBody>
      </p:sp>
      <p:sp>
        <p:nvSpPr>
          <p:cNvPr name="TextBox 14" id="14"/>
          <p:cNvSpPr txBox="true"/>
          <p:nvPr/>
        </p:nvSpPr>
        <p:spPr>
          <a:xfrm rot="0">
            <a:off x="1727073" y="2834583"/>
            <a:ext cx="7082409" cy="1952025"/>
          </a:xfrm>
          <a:prstGeom prst="rect">
            <a:avLst/>
          </a:prstGeom>
        </p:spPr>
        <p:txBody>
          <a:bodyPr anchor="t" rtlCol="false" tIns="0" lIns="0" bIns="0" rIns="0">
            <a:spAutoFit/>
          </a:bodyPr>
          <a:lstStyle/>
          <a:p>
            <a:pPr algn="l" marL="380048" indent="-190024" lvl="1">
              <a:lnSpc>
                <a:spcPts val="2940"/>
              </a:lnSpc>
              <a:spcAft>
                <a:spcPts val="800"/>
              </a:spcAft>
              <a:buFont typeface="Arial"/>
              <a:buChar char="•"/>
            </a:pPr>
            <a:r>
              <a:rPr lang="en-US" sz="2100">
                <a:solidFill>
                  <a:srgbClr val="1F1210"/>
                </a:solidFill>
                <a:latin typeface="DM Sans"/>
                <a:ea typeface="DM Sans"/>
                <a:cs typeface="DM Sans"/>
                <a:sym typeface="DM Sans"/>
              </a:rPr>
              <a:t>Repeat </a:t>
            </a:r>
            <a:r>
              <a:rPr lang="en-US" sz="2100" b="true">
                <a:solidFill>
                  <a:srgbClr val="1F1210"/>
                </a:solidFill>
                <a:latin typeface="DM Sans Bold"/>
                <a:ea typeface="DM Sans Bold"/>
                <a:cs typeface="DM Sans Bold"/>
                <a:sym typeface="DM Sans Bold"/>
              </a:rPr>
              <a:t>Look, Listen, Feel</a:t>
            </a:r>
            <a:r>
              <a:rPr lang="en-US" sz="2100">
                <a:solidFill>
                  <a:srgbClr val="1F1210"/>
                </a:solidFill>
                <a:latin typeface="DM Sans"/>
                <a:ea typeface="DM Sans"/>
                <a:cs typeface="DM Sans"/>
                <a:sym typeface="DM Sans"/>
              </a:rPr>
              <a:t> after every intervention</a:t>
            </a:r>
          </a:p>
          <a:p>
            <a:pPr algn="l" marL="380048" indent="-190024" lvl="1">
              <a:lnSpc>
                <a:spcPts val="2940"/>
              </a:lnSpc>
              <a:spcAft>
                <a:spcPts val="800"/>
              </a:spcAft>
              <a:buFont typeface="Arial"/>
              <a:buChar char="•"/>
            </a:pPr>
            <a:r>
              <a:rPr lang="en-US" sz="2100">
                <a:solidFill>
                  <a:srgbClr val="1F1210"/>
                </a:solidFill>
                <a:latin typeface="DM Sans"/>
                <a:ea typeface="DM Sans"/>
                <a:cs typeface="DM Sans"/>
                <a:sym typeface="DM Sans"/>
              </a:rPr>
              <a:t>Verify </a:t>
            </a:r>
            <a:r>
              <a:rPr lang="en-US" sz="2100" b="true">
                <a:solidFill>
                  <a:srgbClr val="1F1210"/>
                </a:solidFill>
                <a:latin typeface="DM Sans Bold"/>
                <a:ea typeface="DM Sans Bold"/>
                <a:cs typeface="DM Sans Bold"/>
                <a:sym typeface="DM Sans Bold"/>
              </a:rPr>
              <a:t>chest tube function</a:t>
            </a:r>
            <a:r>
              <a:rPr lang="en-US" sz="2100">
                <a:solidFill>
                  <a:srgbClr val="1F1210"/>
                </a:solidFill>
                <a:latin typeface="DM Sans"/>
                <a:ea typeface="DM Sans"/>
                <a:cs typeface="DM Sans"/>
                <a:sym typeface="DM Sans"/>
              </a:rPr>
              <a:t>, </a:t>
            </a:r>
            <a:r>
              <a:rPr lang="en-US" sz="2100" b="true">
                <a:solidFill>
                  <a:srgbClr val="1F1210"/>
                </a:solidFill>
                <a:latin typeface="DM Sans Bold"/>
                <a:ea typeface="DM Sans Bold"/>
                <a:cs typeface="DM Sans Bold"/>
                <a:sym typeface="DM Sans Bold"/>
              </a:rPr>
              <a:t>SpO₂ &amp; ETCO₂</a:t>
            </a:r>
          </a:p>
          <a:p>
            <a:pPr algn="l" marL="380048" indent="-190024" lvl="1">
              <a:lnSpc>
                <a:spcPts val="2940"/>
              </a:lnSpc>
              <a:buFont typeface="Arial"/>
              <a:buChar char="•"/>
            </a:pPr>
            <a:r>
              <a:rPr lang="en-US" sz="2100">
                <a:solidFill>
                  <a:srgbClr val="1F1210"/>
                </a:solidFill>
                <a:latin typeface="DM Sans"/>
                <a:ea typeface="DM Sans"/>
                <a:cs typeface="DM Sans"/>
                <a:sym typeface="DM Sans"/>
              </a:rPr>
              <a:t>Rib fractures: reassess </a:t>
            </a:r>
            <a:r>
              <a:rPr lang="en-US" sz="2100" b="true">
                <a:solidFill>
                  <a:srgbClr val="1F1210"/>
                </a:solidFill>
                <a:latin typeface="DM Sans Bold"/>
                <a:ea typeface="DM Sans Bold"/>
                <a:cs typeface="DM Sans Bold"/>
                <a:sym typeface="DM Sans Bold"/>
              </a:rPr>
              <a:t>pain, cough &amp; deep breathing</a:t>
            </a:r>
            <a:r>
              <a:rPr lang="en-US" sz="2100">
                <a:solidFill>
                  <a:srgbClr val="1F1210"/>
                </a:solidFill>
                <a:latin typeface="DM Sans"/>
                <a:ea typeface="DM Sans"/>
                <a:cs typeface="DM Sans"/>
                <a:sym typeface="DM Sans"/>
              </a:rPr>
              <a:t> frequently</a:t>
            </a:r>
          </a:p>
        </p:txBody>
      </p:sp>
      <p:grpSp>
        <p:nvGrpSpPr>
          <p:cNvPr name="Group 15" id="15"/>
          <p:cNvGrpSpPr/>
          <p:nvPr/>
        </p:nvGrpSpPr>
        <p:grpSpPr>
          <a:xfrm rot="0">
            <a:off x="9296400" y="1952625"/>
            <a:ext cx="7772400" cy="3885305"/>
            <a:chOff x="0" y="0"/>
            <a:chExt cx="10363200" cy="5180406"/>
          </a:xfrm>
        </p:grpSpPr>
        <p:sp>
          <p:nvSpPr>
            <p:cNvPr name="Freeform 16" id="16"/>
            <p:cNvSpPr/>
            <p:nvPr/>
          </p:nvSpPr>
          <p:spPr>
            <a:xfrm flipH="false" flipV="false" rot="0">
              <a:off x="0" y="0"/>
              <a:ext cx="10363200" cy="5180457"/>
            </a:xfrm>
            <a:custGeom>
              <a:avLst/>
              <a:gdLst/>
              <a:ahLst/>
              <a:cxnLst/>
              <a:rect r="r" b="b" t="t" l="l"/>
              <a:pathLst>
                <a:path h="5180457" w="10363200">
                  <a:moveTo>
                    <a:pt x="0" y="406400"/>
                  </a:moveTo>
                  <a:cubicBezTo>
                    <a:pt x="0" y="181991"/>
                    <a:pt x="181991" y="0"/>
                    <a:pt x="406400" y="0"/>
                  </a:cubicBezTo>
                  <a:lnTo>
                    <a:pt x="9956800" y="0"/>
                  </a:lnTo>
                  <a:cubicBezTo>
                    <a:pt x="10181209" y="0"/>
                    <a:pt x="10363200" y="181991"/>
                    <a:pt x="10363200" y="406400"/>
                  </a:cubicBezTo>
                  <a:lnTo>
                    <a:pt x="10363200" y="4774057"/>
                  </a:lnTo>
                  <a:cubicBezTo>
                    <a:pt x="10363200" y="4998466"/>
                    <a:pt x="10181209" y="5180457"/>
                    <a:pt x="9956800" y="5180457"/>
                  </a:cubicBezTo>
                  <a:lnTo>
                    <a:pt x="406400" y="5180457"/>
                  </a:lnTo>
                  <a:cubicBezTo>
                    <a:pt x="181991" y="5180457"/>
                    <a:pt x="0" y="4998466"/>
                    <a:pt x="0" y="4774057"/>
                  </a:cubicBezTo>
                  <a:close/>
                </a:path>
              </a:pathLst>
            </a:custGeom>
            <a:solidFill>
              <a:srgbClr val="FFF4F1"/>
            </a:solidFill>
          </p:spPr>
        </p:sp>
      </p:grpSp>
      <p:sp>
        <p:nvSpPr>
          <p:cNvPr name="TextBox 17" id="17"/>
          <p:cNvSpPr txBox="true"/>
          <p:nvPr/>
        </p:nvSpPr>
        <p:spPr>
          <a:xfrm rot="0">
            <a:off x="9677400" y="2247900"/>
            <a:ext cx="7220712" cy="539058"/>
          </a:xfrm>
          <a:prstGeom prst="rect">
            <a:avLst/>
          </a:prstGeom>
        </p:spPr>
        <p:txBody>
          <a:bodyPr anchor="t" rtlCol="false" tIns="0" lIns="0" bIns="0" rIns="0">
            <a:spAutoFit/>
          </a:bodyPr>
          <a:lstStyle/>
          <a:p>
            <a:pPr algn="l">
              <a:lnSpc>
                <a:spcPts val="3569"/>
              </a:lnSpc>
            </a:pPr>
            <a:r>
              <a:rPr lang="en-US" sz="2550" b="true">
                <a:solidFill>
                  <a:srgbClr val="E74B2F"/>
                </a:solidFill>
                <a:latin typeface="DM Sans Bold"/>
                <a:ea typeface="DM Sans Bold"/>
                <a:cs typeface="DM Sans Bold"/>
                <a:sym typeface="DM Sans Bold"/>
              </a:rPr>
              <a:t>Transfer</a:t>
            </a:r>
          </a:p>
        </p:txBody>
      </p:sp>
      <p:sp>
        <p:nvSpPr>
          <p:cNvPr name="TextBox 18" id="18"/>
          <p:cNvSpPr txBox="true"/>
          <p:nvPr/>
        </p:nvSpPr>
        <p:spPr>
          <a:xfrm rot="0">
            <a:off x="9804273" y="2834583"/>
            <a:ext cx="7082409" cy="2698547"/>
          </a:xfrm>
          <a:prstGeom prst="rect">
            <a:avLst/>
          </a:prstGeom>
        </p:spPr>
        <p:txBody>
          <a:bodyPr anchor="t" rtlCol="false" tIns="0" lIns="0" bIns="0" rIns="0">
            <a:spAutoFit/>
          </a:bodyPr>
          <a:lstStyle/>
          <a:p>
            <a:pPr algn="l" marL="380048" indent="-190024" lvl="1">
              <a:lnSpc>
                <a:spcPts val="2940"/>
              </a:lnSpc>
              <a:spcAft>
                <a:spcPts val="800"/>
              </a:spcAft>
              <a:buFont typeface="Arial"/>
              <a:buChar char="•"/>
            </a:pPr>
            <a:r>
              <a:rPr lang="en-US" sz="2100">
                <a:solidFill>
                  <a:srgbClr val="1F1210"/>
                </a:solidFill>
                <a:latin typeface="DM Sans"/>
                <a:ea typeface="DM Sans"/>
                <a:cs typeface="DM Sans"/>
                <a:sym typeface="DM Sans"/>
              </a:rPr>
              <a:t>Transfer </a:t>
            </a:r>
            <a:r>
              <a:rPr lang="en-US" sz="2100" b="true">
                <a:solidFill>
                  <a:srgbClr val="1F1210"/>
                </a:solidFill>
                <a:latin typeface="DM Sans Bold"/>
                <a:ea typeface="DM Sans Bold"/>
                <a:cs typeface="DM Sans Bold"/>
                <a:sym typeface="DM Sans Bold"/>
              </a:rPr>
              <a:t>moderate–severe thoracic trauma</a:t>
            </a:r>
            <a:r>
              <a:rPr lang="en-US" sz="2100">
                <a:solidFill>
                  <a:srgbClr val="1F1210"/>
                </a:solidFill>
                <a:latin typeface="DM Sans"/>
                <a:ea typeface="DM Sans"/>
                <a:cs typeface="DM Sans"/>
                <a:sym typeface="DM Sans"/>
              </a:rPr>
              <a:t> &amp; </a:t>
            </a:r>
            <a:r>
              <a:rPr lang="en-US" sz="2100" b="true">
                <a:solidFill>
                  <a:srgbClr val="1F1210"/>
                </a:solidFill>
                <a:latin typeface="DM Sans Bold"/>
                <a:ea typeface="DM Sans Bold"/>
                <a:cs typeface="DM Sans Bold"/>
                <a:sym typeface="DM Sans Bold"/>
              </a:rPr>
              <a:t>frail/older patients</a:t>
            </a:r>
            <a:r>
              <a:rPr lang="en-US" sz="2100">
                <a:solidFill>
                  <a:srgbClr val="1F1210"/>
                </a:solidFill>
                <a:latin typeface="DM Sans"/>
                <a:ea typeface="DM Sans"/>
                <a:cs typeface="DM Sans"/>
                <a:sym typeface="DM Sans"/>
              </a:rPr>
              <a:t> to trauma center</a:t>
            </a:r>
          </a:p>
          <a:p>
            <a:pPr algn="l" marL="380048" indent="-190024" lvl="1">
              <a:lnSpc>
                <a:spcPts val="2940"/>
              </a:lnSpc>
              <a:spcAft>
                <a:spcPts val="800"/>
              </a:spcAft>
              <a:buFont typeface="Arial"/>
              <a:buChar char="•"/>
            </a:pPr>
            <a:r>
              <a:rPr lang="en-US" sz="2100">
                <a:solidFill>
                  <a:srgbClr val="1F1210"/>
                </a:solidFill>
                <a:latin typeface="DM Sans"/>
                <a:ea typeface="DM Sans"/>
                <a:cs typeface="DM Sans"/>
                <a:sym typeface="DM Sans"/>
              </a:rPr>
              <a:t>Place </a:t>
            </a:r>
            <a:r>
              <a:rPr lang="en-US" sz="2100" b="true">
                <a:solidFill>
                  <a:srgbClr val="1F1210"/>
                </a:solidFill>
                <a:latin typeface="DM Sans Bold"/>
                <a:ea typeface="DM Sans Bold"/>
                <a:cs typeface="DM Sans Bold"/>
                <a:sym typeface="DM Sans Bold"/>
              </a:rPr>
              <a:t>chest tube BEFORE transfer</a:t>
            </a:r>
            <a:r>
              <a:rPr lang="en-US" sz="2100">
                <a:solidFill>
                  <a:srgbClr val="1F1210"/>
                </a:solidFill>
                <a:latin typeface="DM Sans"/>
                <a:ea typeface="DM Sans"/>
                <a:cs typeface="DM Sans"/>
                <a:sym typeface="DM Sans"/>
              </a:rPr>
              <a:t> (especially </a:t>
            </a:r>
            <a:r>
              <a:rPr lang="en-US" sz="2100" b="true">
                <a:solidFill>
                  <a:srgbClr val="1F1210"/>
                </a:solidFill>
                <a:latin typeface="DM Sans Bold"/>
                <a:ea typeface="DM Sans Bold"/>
                <a:cs typeface="DM Sans Bold"/>
                <a:sym typeface="DM Sans Bold"/>
              </a:rPr>
              <a:t>air transport</a:t>
            </a:r>
            <a:r>
              <a:rPr lang="en-US" sz="2100">
                <a:solidFill>
                  <a:srgbClr val="1F1210"/>
                </a:solidFill>
                <a:latin typeface="DM Sans"/>
                <a:ea typeface="DM Sans"/>
                <a:cs typeface="DM Sans"/>
                <a:sym typeface="DM Sans"/>
              </a:rPr>
              <a:t>)</a:t>
            </a:r>
          </a:p>
          <a:p>
            <a:pPr algn="l" marL="380048" indent="-190024" lvl="1">
              <a:lnSpc>
                <a:spcPts val="2940"/>
              </a:lnSpc>
              <a:buFont typeface="Arial"/>
              <a:buChar char="•"/>
            </a:pPr>
            <a:r>
              <a:rPr lang="en-US" sz="2100">
                <a:solidFill>
                  <a:srgbClr val="1F1210"/>
                </a:solidFill>
                <a:latin typeface="DM Sans"/>
                <a:ea typeface="DM Sans"/>
                <a:cs typeface="DM Sans"/>
                <a:sym typeface="DM Sans"/>
              </a:rPr>
              <a:t>Maintain chest tube at </a:t>
            </a:r>
            <a:r>
              <a:rPr lang="en-US" sz="2100" b="true">
                <a:solidFill>
                  <a:srgbClr val="1F1210"/>
                </a:solidFill>
                <a:latin typeface="DM Sans Bold"/>
                <a:ea typeface="DM Sans Bold"/>
                <a:cs typeface="DM Sans Bold"/>
                <a:sym typeface="DM Sans Bold"/>
              </a:rPr>
              <a:t>−20 cmH₂O suction</a:t>
            </a:r>
            <a:r>
              <a:rPr lang="en-US" sz="2100">
                <a:solidFill>
                  <a:srgbClr val="1F1210"/>
                </a:solidFill>
                <a:latin typeface="DM Sans"/>
                <a:ea typeface="DM Sans"/>
                <a:cs typeface="DM Sans"/>
                <a:sym typeface="DM Sans"/>
              </a:rPr>
              <a:t> during transport</a:t>
            </a:r>
          </a:p>
        </p:txBody>
      </p:sp>
      <p:grpSp>
        <p:nvGrpSpPr>
          <p:cNvPr name="Group 19" id="19"/>
          <p:cNvGrpSpPr/>
          <p:nvPr/>
        </p:nvGrpSpPr>
        <p:grpSpPr>
          <a:xfrm rot="0">
            <a:off x="0" y="164592"/>
            <a:ext cx="754380" cy="384048"/>
            <a:chOff x="0" y="0"/>
            <a:chExt cx="1005840" cy="512064"/>
          </a:xfrm>
        </p:grpSpPr>
        <p:sp>
          <p:nvSpPr>
            <p:cNvPr name="Freeform 20" id="20"/>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21" id="21"/>
          <p:cNvGrpSpPr/>
          <p:nvPr/>
        </p:nvGrpSpPr>
        <p:grpSpPr>
          <a:xfrm rot="0">
            <a:off x="932688" y="288036"/>
            <a:ext cx="137160" cy="137160"/>
            <a:chOff x="0" y="0"/>
            <a:chExt cx="182880" cy="182880"/>
          </a:xfrm>
        </p:grpSpPr>
        <p:sp>
          <p:nvSpPr>
            <p:cNvPr name="Freeform 22" id="2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3" id="23"/>
          <p:cNvGrpSpPr/>
          <p:nvPr/>
        </p:nvGrpSpPr>
        <p:grpSpPr>
          <a:xfrm rot="0">
            <a:off x="1193292" y="288036"/>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5" id="25"/>
          <p:cNvGrpSpPr/>
          <p:nvPr/>
        </p:nvGrpSpPr>
        <p:grpSpPr>
          <a:xfrm rot="0">
            <a:off x="1453896" y="288036"/>
            <a:ext cx="137160" cy="137160"/>
            <a:chOff x="0" y="0"/>
            <a:chExt cx="182880" cy="182880"/>
          </a:xfrm>
        </p:grpSpPr>
        <p:sp>
          <p:nvSpPr>
            <p:cNvPr name="Freeform 26" id="2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7" id="27"/>
          <p:cNvGrpSpPr/>
          <p:nvPr/>
        </p:nvGrpSpPr>
        <p:grpSpPr>
          <a:xfrm rot="0">
            <a:off x="1714500" y="288036"/>
            <a:ext cx="137160" cy="137160"/>
            <a:chOff x="0" y="0"/>
            <a:chExt cx="182880" cy="182880"/>
          </a:xfrm>
        </p:grpSpPr>
        <p:sp>
          <p:nvSpPr>
            <p:cNvPr name="Freeform 28" id="2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9" id="29"/>
          <p:cNvGrpSpPr/>
          <p:nvPr/>
        </p:nvGrpSpPr>
        <p:grpSpPr>
          <a:xfrm rot="0">
            <a:off x="1975104" y="288036"/>
            <a:ext cx="137160" cy="137160"/>
            <a:chOff x="0" y="0"/>
            <a:chExt cx="182880" cy="182880"/>
          </a:xfrm>
        </p:grpSpPr>
        <p:sp>
          <p:nvSpPr>
            <p:cNvPr name="Freeform 30" id="3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1" id="31"/>
          <p:cNvGrpSpPr/>
          <p:nvPr/>
        </p:nvGrpSpPr>
        <p:grpSpPr>
          <a:xfrm rot="0">
            <a:off x="2235708" y="288036"/>
            <a:ext cx="137160" cy="137160"/>
            <a:chOff x="0" y="0"/>
            <a:chExt cx="182880" cy="182880"/>
          </a:xfrm>
        </p:grpSpPr>
        <p:sp>
          <p:nvSpPr>
            <p:cNvPr name="Freeform 32" id="3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3" id="33"/>
          <p:cNvGrpSpPr/>
          <p:nvPr/>
        </p:nvGrpSpPr>
        <p:grpSpPr>
          <a:xfrm rot="0">
            <a:off x="2496312"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427940" y="8554378"/>
            <a:ext cx="9809105" cy="4191163"/>
          </a:xfrm>
          <a:custGeom>
            <a:avLst/>
            <a:gdLst/>
            <a:ahLst/>
            <a:cxnLst/>
            <a:rect r="r" b="b" t="t" l="l"/>
            <a:pathLst>
              <a:path h="4191163" w="9809105">
                <a:moveTo>
                  <a:pt x="0" y="0"/>
                </a:moveTo>
                <a:lnTo>
                  <a:pt x="9809104" y="0"/>
                </a:lnTo>
                <a:lnTo>
                  <a:pt x="9809104" y="4191163"/>
                </a:lnTo>
                <a:lnTo>
                  <a:pt x="0" y="41911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971018" y="-362959"/>
            <a:ext cx="14683891" cy="11012918"/>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4"/>
              <a:stretch>
                <a:fillRect l="0" t="0" r="0" b="0"/>
              </a:stretch>
            </a:blipFill>
          </p:spPr>
        </p:sp>
      </p:grpSp>
      <p:grpSp>
        <p:nvGrpSpPr>
          <p:cNvPr name="Group 5" id="5"/>
          <p:cNvGrpSpPr/>
          <p:nvPr/>
        </p:nvGrpSpPr>
        <p:grpSpPr>
          <a:xfrm rot="1151897">
            <a:off x="9999393" y="-4945588"/>
            <a:ext cx="1397173" cy="18035737"/>
            <a:chOff x="0" y="0"/>
            <a:chExt cx="367980" cy="4750153"/>
          </a:xfrm>
        </p:grpSpPr>
        <p:sp>
          <p:nvSpPr>
            <p:cNvPr name="Freeform 6" id="6"/>
            <p:cNvSpPr/>
            <p:nvPr/>
          </p:nvSpPr>
          <p:spPr>
            <a:xfrm flipH="false" flipV="false" rot="0">
              <a:off x="0" y="0"/>
              <a:ext cx="367980" cy="4750153"/>
            </a:xfrm>
            <a:custGeom>
              <a:avLst/>
              <a:gdLst/>
              <a:ahLst/>
              <a:cxnLst/>
              <a:rect r="r" b="b" t="t" l="l"/>
              <a:pathLst>
                <a:path h="4750153" w="367980">
                  <a:moveTo>
                    <a:pt x="0" y="0"/>
                  </a:moveTo>
                  <a:lnTo>
                    <a:pt x="367980" y="0"/>
                  </a:lnTo>
                  <a:lnTo>
                    <a:pt x="367980" y="4750153"/>
                  </a:lnTo>
                  <a:lnTo>
                    <a:pt x="0" y="4750153"/>
                  </a:lnTo>
                  <a:close/>
                </a:path>
              </a:pathLst>
            </a:custGeom>
            <a:solidFill>
              <a:srgbClr val="E74B2F"/>
            </a:solidFill>
          </p:spPr>
        </p:sp>
        <p:sp>
          <p:nvSpPr>
            <p:cNvPr name="TextBox 7" id="7"/>
            <p:cNvSpPr txBox="true"/>
            <p:nvPr/>
          </p:nvSpPr>
          <p:spPr>
            <a:xfrm>
              <a:off x="0" y="-9525"/>
              <a:ext cx="367980" cy="4759678"/>
            </a:xfrm>
            <a:prstGeom prst="rect">
              <a:avLst/>
            </a:prstGeom>
          </p:spPr>
          <p:txBody>
            <a:bodyPr anchor="ctr" rtlCol="false" tIns="50800" lIns="50800" bIns="50800" rIns="50800"/>
            <a:lstStyle/>
            <a:p>
              <a:pPr algn="ctr">
                <a:lnSpc>
                  <a:spcPts val="2875"/>
                </a:lnSpc>
              </a:pPr>
            </a:p>
          </p:txBody>
        </p:sp>
      </p:grpSp>
      <p:sp>
        <p:nvSpPr>
          <p:cNvPr name="TextBox 8" id="8"/>
          <p:cNvSpPr txBox="true"/>
          <p:nvPr/>
        </p:nvSpPr>
        <p:spPr>
          <a:xfrm rot="0">
            <a:off x="931137" y="3115361"/>
            <a:ext cx="8212863" cy="4009285"/>
          </a:xfrm>
          <a:prstGeom prst="rect">
            <a:avLst/>
          </a:prstGeom>
        </p:spPr>
        <p:txBody>
          <a:bodyPr anchor="t" rtlCol="false" tIns="0" lIns="0" bIns="0" rIns="0">
            <a:spAutoFit/>
          </a:bodyPr>
          <a:lstStyle/>
          <a:p>
            <a:pPr algn="ctr">
              <a:lnSpc>
                <a:spcPts val="15658"/>
              </a:lnSpc>
            </a:pPr>
            <a:r>
              <a:rPr lang="en-US" sz="14106">
                <a:solidFill>
                  <a:srgbClr val="E74B2F"/>
                </a:solidFill>
                <a:latin typeface="Droid Serif"/>
                <a:ea typeface="Droid Serif"/>
                <a:cs typeface="Droid Serif"/>
                <a:sym typeface="Droid Serif"/>
              </a:rPr>
              <a:t>Thank You</a:t>
            </a:r>
          </a:p>
        </p:txBody>
      </p:sp>
      <p:sp>
        <p:nvSpPr>
          <p:cNvPr name="TextBox 9" id="9"/>
          <p:cNvSpPr txBox="true"/>
          <p:nvPr/>
        </p:nvSpPr>
        <p:spPr>
          <a:xfrm rot="0">
            <a:off x="2758936" y="5329066"/>
            <a:ext cx="4557265" cy="445578"/>
          </a:xfrm>
          <a:prstGeom prst="rect">
            <a:avLst/>
          </a:prstGeom>
        </p:spPr>
        <p:txBody>
          <a:bodyPr anchor="t" rtlCol="false" tIns="0" lIns="0" bIns="0" rIns="0">
            <a:spAutoFit/>
          </a:bodyPr>
          <a:lstStyle/>
          <a:p>
            <a:pPr algn="ctr">
              <a:lnSpc>
                <a:spcPts val="3576"/>
              </a:lnSpc>
            </a:pPr>
            <a:r>
              <a:rPr lang="en-US" sz="2861">
                <a:solidFill>
                  <a:srgbClr val="E74B2F"/>
                </a:solidFill>
                <a:latin typeface="DM Sans"/>
                <a:ea typeface="DM Sans"/>
                <a:cs typeface="DM Sans"/>
                <a:sym typeface="DM Sans"/>
              </a:rPr>
              <a:t>www.reallygreatsite.com</a:t>
            </a:r>
          </a:p>
        </p:txBody>
      </p:sp>
      <p:sp>
        <p:nvSpPr>
          <p:cNvPr name="Freeform 10" id="10"/>
          <p:cNvSpPr/>
          <p:nvPr/>
        </p:nvSpPr>
        <p:spPr>
          <a:xfrm flipH="false" flipV="false" rot="0">
            <a:off x="-4135823" y="-2289620"/>
            <a:ext cx="9809105" cy="4191163"/>
          </a:xfrm>
          <a:custGeom>
            <a:avLst/>
            <a:gdLst/>
            <a:ahLst/>
            <a:cxnLst/>
            <a:rect r="r" b="b" t="t" l="l"/>
            <a:pathLst>
              <a:path h="4191163" w="9809105">
                <a:moveTo>
                  <a:pt x="0" y="0"/>
                </a:moveTo>
                <a:lnTo>
                  <a:pt x="9809105" y="0"/>
                </a:lnTo>
                <a:lnTo>
                  <a:pt x="9809105" y="4191163"/>
                </a:lnTo>
                <a:lnTo>
                  <a:pt x="0" y="41911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DAHYt87fHMk</dc:identifier>
  <dcterms:modified xsi:type="dcterms:W3CDTF">2011-08-01T06:04:30Z</dcterms:modified>
  <cp:revision>1</cp:revision>
  <dc:title>Red and Pink Illustrated Emergency Preparedness Kit Presentation</dc:title>
</cp:coreProperties>
</file>